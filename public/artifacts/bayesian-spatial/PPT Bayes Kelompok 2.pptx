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9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Inter Bold" charset="1" panose="020B0802030000000004"/>
      <p:regular r:id="rId24"/>
    </p:embeddedFont>
    <p:embeddedFont>
      <p:font typeface="Inter" charset="1" panose="020B0502030000000004"/>
      <p:regular r:id="rId25"/>
    </p:embeddedFont>
    <p:embeddedFont>
      <p:font typeface="Poppins Bold" charset="1" panose="00000800000000000000"/>
      <p:regular r:id="rId26"/>
    </p:embeddedFont>
    <p:embeddedFont>
      <p:font typeface="Inter Bold Italics" charset="1" panose="020B0802030000000004"/>
      <p:regular r:id="rId27"/>
    </p:embeddedFont>
    <p:embeddedFont>
      <p:font typeface="Inter Italics" charset="1" panose="020B0502030000000004"/>
      <p:regular r:id="rId28"/>
    </p:embeddedFont>
    <p:embeddedFont>
      <p:font typeface="Poppins" charset="1" panose="00000500000000000000"/>
      <p:regular r:id="rId32"/>
    </p:embeddedFont>
    <p:embeddedFont>
      <p:font typeface="Poppins Bold Italics" charset="1" panose="00000800000000000000"/>
      <p:regular r:id="rId34"/>
    </p:embeddedFont>
    <p:embeddedFont>
      <p:font typeface="Poppins Italics" charset="1" panose="00000500000000000000"/>
      <p:regular r:id="rId35"/>
    </p:embeddedFont>
    <p:embeddedFont>
      <p:font typeface="Canva Sans" charset="1" panose="020B0503030501040103"/>
      <p:regular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notesMasters/notesMaster1.xml" Type="http://schemas.openxmlformats.org/officeDocument/2006/relationships/notesMaster"/><Relationship Id="rId3" Target="viewProps.xml" Type="http://schemas.openxmlformats.org/officeDocument/2006/relationships/viewProps"/><Relationship Id="rId30" Target="theme/theme2.xml" Type="http://schemas.openxmlformats.org/officeDocument/2006/relationships/theme"/><Relationship Id="rId31" Target="notesSlides/notesSlide1.xml" Type="http://schemas.openxmlformats.org/officeDocument/2006/relationships/notesSlide"/><Relationship Id="rId32" Target="fonts/font32.fntdata" Type="http://schemas.openxmlformats.org/officeDocument/2006/relationships/font"/><Relationship Id="rId33" Target="notesSlides/notesSlide2.xml" Type="http://schemas.openxmlformats.org/officeDocument/2006/relationships/notesSlide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notesSlides/notesSlide3.xml" Type="http://schemas.openxmlformats.org/officeDocument/2006/relationships/notesSlide"/><Relationship Id="rId37" Target="notesSlides/notesSlide4.xml" Type="http://schemas.openxmlformats.org/officeDocument/2006/relationships/notesSlide"/><Relationship Id="rId38" Target="fonts/font38.fntdata" Type="http://schemas.openxmlformats.org/officeDocument/2006/relationships/font"/><Relationship Id="rId39" Target="notesSlides/notesSlide5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3.png" Type="http://schemas.openxmlformats.org/officeDocument/2006/relationships/image"/><Relationship Id="rId4" Target="../media/image8.png" Type="http://schemas.openxmlformats.org/officeDocument/2006/relationships/image"/><Relationship Id="rId5" Target="../media/image9.jpeg" Type="http://schemas.openxmlformats.org/officeDocument/2006/relationships/image"/><Relationship Id="rId6" Target="../media/image10.jpeg" Type="http://schemas.openxmlformats.org/officeDocument/2006/relationships/image"/><Relationship Id="rId7" Target="../media/image11.jpeg" Type="http://schemas.openxmlformats.org/officeDocument/2006/relationships/image"/><Relationship Id="rId8" Target="../media/image12.jpeg" Type="http://schemas.openxmlformats.org/officeDocument/2006/relationships/image"/><Relationship Id="rId9" Target="../media/image1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svg" Type="http://schemas.openxmlformats.org/officeDocument/2006/relationships/image"/><Relationship Id="rId11" Target="../media/image24.png" Type="http://schemas.openxmlformats.org/officeDocument/2006/relationships/image"/><Relationship Id="rId12" Target="../media/image25.png" Type="http://schemas.openxmlformats.org/officeDocument/2006/relationships/image"/><Relationship Id="rId13" Target="../media/image26.svg" Type="http://schemas.openxmlformats.org/officeDocument/2006/relationships/image"/><Relationship Id="rId14" Target="../media/image27.png" Type="http://schemas.openxmlformats.org/officeDocument/2006/relationships/image"/><Relationship Id="rId15" Target="../media/image28.svg" Type="http://schemas.openxmlformats.org/officeDocument/2006/relationships/image"/><Relationship Id="rId16" Target="../media/image29.png" Type="http://schemas.openxmlformats.org/officeDocument/2006/relationships/image"/><Relationship Id="rId2" Target="../media/image7.png" Type="http://schemas.openxmlformats.org/officeDocument/2006/relationships/image"/><Relationship Id="rId3" Target="../media/image3.png" Type="http://schemas.openxmlformats.org/officeDocument/2006/relationships/image"/><Relationship Id="rId4" Target="../media/image8.pn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3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3.png" Type="http://schemas.openxmlformats.org/officeDocument/2006/relationships/image"/><Relationship Id="rId4" Target="../media/image8.png" Type="http://schemas.openxmlformats.org/officeDocument/2006/relationships/image"/><Relationship Id="rId5" Target="../media/image30.png" Type="http://schemas.openxmlformats.org/officeDocument/2006/relationships/image"/><Relationship Id="rId6" Target="../media/image31.svg" Type="http://schemas.openxmlformats.org/officeDocument/2006/relationships/image"/><Relationship Id="rId7" Target="../media/image3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7.png" Type="http://schemas.openxmlformats.org/officeDocument/2006/relationships/image"/><Relationship Id="rId4" Target="../media/image3.png" Type="http://schemas.openxmlformats.org/officeDocument/2006/relationships/image"/><Relationship Id="rId5" Target="../media/image8.png" Type="http://schemas.openxmlformats.org/officeDocument/2006/relationships/image"/><Relationship Id="rId6" Target="../media/image33.png" Type="http://schemas.openxmlformats.org/officeDocument/2006/relationships/image"/><Relationship Id="rId7" Target="../embeddings/oleObject1.bin" Type="http://schemas.openxmlformats.org/officeDocument/2006/relationships/oleObject"/><Relationship Id="rId8" Target="../media/image34.png" Type="http://schemas.openxmlformats.org/officeDocument/2006/relationships/image"/><Relationship Id="rId9" Target="../embeddings/oleObject2.bin" Type="http://schemas.openxmlformats.org/officeDocument/2006/relationships/oleObjec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9.png" Type="http://schemas.openxmlformats.org/officeDocument/2006/relationships/image"/><Relationship Id="rId11" Target="../media/image40.svg" Type="http://schemas.openxmlformats.org/officeDocument/2006/relationships/image"/><Relationship Id="rId12" Target="../media/image41.png" Type="http://schemas.openxmlformats.org/officeDocument/2006/relationships/image"/><Relationship Id="rId13" Target="../media/image42.svg" Type="http://schemas.openxmlformats.org/officeDocument/2006/relationships/image"/><Relationship Id="rId14" Target="../media/image43.png" Type="http://schemas.openxmlformats.org/officeDocument/2006/relationships/image"/><Relationship Id="rId15" Target="../media/image44.svg" Type="http://schemas.openxmlformats.org/officeDocument/2006/relationships/image"/><Relationship Id="rId16" Target="../media/image45.png" Type="http://schemas.openxmlformats.org/officeDocument/2006/relationships/image"/><Relationship Id="rId17" Target="../media/image46.sv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7.png" Type="http://schemas.openxmlformats.org/officeDocument/2006/relationships/image"/><Relationship Id="rId4" Target="../media/image3.png" Type="http://schemas.openxmlformats.org/officeDocument/2006/relationships/image"/><Relationship Id="rId5" Target="../media/image8.pn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Relationship Id="rId8" Target="../media/image37.png" Type="http://schemas.openxmlformats.org/officeDocument/2006/relationships/image"/><Relationship Id="rId9" Target="../media/image3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0.pn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7.png" Type="http://schemas.openxmlformats.org/officeDocument/2006/relationships/image"/><Relationship Id="rId4" Target="../media/image3.png" Type="http://schemas.openxmlformats.org/officeDocument/2006/relationships/image"/><Relationship Id="rId5" Target="../media/image8.png" Type="http://schemas.openxmlformats.org/officeDocument/2006/relationships/image"/><Relationship Id="rId6" Target="../media/image47.png" Type="http://schemas.openxmlformats.org/officeDocument/2006/relationships/image"/><Relationship Id="rId7" Target="../embeddings/oleObject3.bin" Type="http://schemas.openxmlformats.org/officeDocument/2006/relationships/oleObject"/><Relationship Id="rId8" Target="../media/image48.png" Type="http://schemas.openxmlformats.org/officeDocument/2006/relationships/image"/><Relationship Id="rId9" Target="../media/image4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7.png" Type="http://schemas.openxmlformats.org/officeDocument/2006/relationships/image"/><Relationship Id="rId4" Target="../media/image3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8.png" Type="http://schemas.openxmlformats.org/officeDocument/2006/relationships/image"/><Relationship Id="rId4" Target="../media/image7.png" Type="http://schemas.openxmlformats.org/officeDocument/2006/relationships/image"/><Relationship Id="rId5" Target="../media/image51.png" Type="http://schemas.openxmlformats.org/officeDocument/2006/relationships/image"/><Relationship Id="rId6" Target="../media/image5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8.svg" Type="http://schemas.openxmlformats.org/officeDocument/2006/relationships/image"/><Relationship Id="rId11" Target="../media/image59.png" Type="http://schemas.openxmlformats.org/officeDocument/2006/relationships/image"/><Relationship Id="rId12" Target="../media/image60.svg" Type="http://schemas.openxmlformats.org/officeDocument/2006/relationships/image"/><Relationship Id="rId13" Target="../media/image61.png" Type="http://schemas.openxmlformats.org/officeDocument/2006/relationships/image"/><Relationship Id="rId14" Target="../media/image62.svg" Type="http://schemas.openxmlformats.org/officeDocument/2006/relationships/image"/><Relationship Id="rId15" Target="../media/image63.png" Type="http://schemas.openxmlformats.org/officeDocument/2006/relationships/image"/><Relationship Id="rId16" Target="../media/image64.svg" Type="http://schemas.openxmlformats.org/officeDocument/2006/relationships/image"/><Relationship Id="rId17" Target="../media/image65.png" Type="http://schemas.openxmlformats.org/officeDocument/2006/relationships/image"/><Relationship Id="rId18" Target="../media/image66.svg" Type="http://schemas.openxmlformats.org/officeDocument/2006/relationships/image"/><Relationship Id="rId19" Target="../media/image67.png" Type="http://schemas.openxmlformats.org/officeDocument/2006/relationships/image"/><Relationship Id="rId2" Target="../media/image7.png" Type="http://schemas.openxmlformats.org/officeDocument/2006/relationships/image"/><Relationship Id="rId20" Target="../media/image68.svg" Type="http://schemas.openxmlformats.org/officeDocument/2006/relationships/image"/><Relationship Id="rId21" Target="../media/image69.png" Type="http://schemas.openxmlformats.org/officeDocument/2006/relationships/image"/><Relationship Id="rId22" Target="../media/image70.svg" Type="http://schemas.openxmlformats.org/officeDocument/2006/relationships/image"/><Relationship Id="rId3" Target="../media/image3.png" Type="http://schemas.openxmlformats.org/officeDocument/2006/relationships/image"/><Relationship Id="rId4" Target="../media/image8.png" Type="http://schemas.openxmlformats.org/officeDocument/2006/relationships/image"/><Relationship Id="rId5" Target="../media/image53.png" Type="http://schemas.openxmlformats.org/officeDocument/2006/relationships/image"/><Relationship Id="rId6" Target="../media/image54.svg" Type="http://schemas.openxmlformats.org/officeDocument/2006/relationships/image"/><Relationship Id="rId7" Target="../media/image55.png" Type="http://schemas.openxmlformats.org/officeDocument/2006/relationships/image"/><Relationship Id="rId8" Target="../media/image56.svg" Type="http://schemas.openxmlformats.org/officeDocument/2006/relationships/image"/><Relationship Id="rId9" Target="../media/image5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3.png" Type="http://schemas.openxmlformats.org/officeDocument/2006/relationships/image"/><Relationship Id="rId4" Target="../media/image8.png" Type="http://schemas.openxmlformats.org/officeDocument/2006/relationships/image"/><Relationship Id="rId5" Target="../media/image71.png" Type="http://schemas.openxmlformats.org/officeDocument/2006/relationships/image"/><Relationship Id="rId6" Target="../media/image72.svg" Type="http://schemas.openxmlformats.org/officeDocument/2006/relationships/image"/><Relationship Id="rId7" Target="../media/image73.png" Type="http://schemas.openxmlformats.org/officeDocument/2006/relationships/image"/><Relationship Id="rId8" Target="../media/image74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5.png" Type="http://schemas.openxmlformats.org/officeDocument/2006/relationships/image"/><Relationship Id="rId3" Target="../media/image76.png" Type="http://schemas.openxmlformats.org/officeDocument/2006/relationships/image"/><Relationship Id="rId4" Target="../media/image77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2.png" Type="http://schemas.openxmlformats.org/officeDocument/2006/relationships/image"/><Relationship Id="rId11" Target="../media/image83.png" Type="http://schemas.openxmlformats.org/officeDocument/2006/relationships/image"/><Relationship Id="rId12" Target="../media/image84.png" Type="http://schemas.openxmlformats.org/officeDocument/2006/relationships/image"/><Relationship Id="rId13" Target="../media/image85.png" Type="http://schemas.openxmlformats.org/officeDocument/2006/relationships/image"/><Relationship Id="rId14" Target="../media/image86.pn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7.png" Type="http://schemas.openxmlformats.org/officeDocument/2006/relationships/image"/><Relationship Id="rId4" Target="../media/image3.png" Type="http://schemas.openxmlformats.org/officeDocument/2006/relationships/image"/><Relationship Id="rId5" Target="../media/image8.png" Type="http://schemas.openxmlformats.org/officeDocument/2006/relationships/image"/><Relationship Id="rId6" Target="../media/image78.png" Type="http://schemas.openxmlformats.org/officeDocument/2006/relationships/image"/><Relationship Id="rId7" Target="../media/image79.png" Type="http://schemas.openxmlformats.org/officeDocument/2006/relationships/image"/><Relationship Id="rId8" Target="../media/image80.png" Type="http://schemas.openxmlformats.org/officeDocument/2006/relationships/image"/><Relationship Id="rId9" Target="../media/image8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8018335" y="-2"/>
            <a:ext cx="13680777" cy="10287000"/>
            <a:chOff x="0" y="0"/>
            <a:chExt cx="18241036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41011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8241011">
                  <a:moveTo>
                    <a:pt x="0" y="0"/>
                  </a:moveTo>
                  <a:lnTo>
                    <a:pt x="18241011" y="0"/>
                  </a:lnTo>
                  <a:lnTo>
                    <a:pt x="18241011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483" t="0" r="-6483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858724" y="0"/>
            <a:ext cx="617265" cy="10286998"/>
            <a:chOff x="0" y="0"/>
            <a:chExt cx="823020" cy="137159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2296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ED80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451403" y="1"/>
            <a:ext cx="1673043" cy="10286998"/>
            <a:chOff x="0" y="0"/>
            <a:chExt cx="2230724" cy="13715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30755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230755">
                  <a:moveTo>
                    <a:pt x="0" y="0"/>
                  </a:moveTo>
                  <a:lnTo>
                    <a:pt x="2230755" y="0"/>
                  </a:lnTo>
                  <a:lnTo>
                    <a:pt x="2230755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63C92"/>
            </a:solid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5475989" y="0"/>
            <a:ext cx="3648456" cy="10287000"/>
            <a:chOff x="0" y="0"/>
            <a:chExt cx="4864608" cy="13716000"/>
          </a:xfrm>
        </p:grpSpPr>
        <p:sp>
          <p:nvSpPr>
            <p:cNvPr name="Freeform 9" id="9" descr="A blue background with a pattern  AI-generated content may be incorrect."/>
            <p:cNvSpPr/>
            <p:nvPr/>
          </p:nvSpPr>
          <p:spPr>
            <a:xfrm flipH="false" flipV="false" rot="0">
              <a:off x="0" y="0"/>
              <a:ext cx="4864608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4864608">
                  <a:moveTo>
                    <a:pt x="0" y="0"/>
                  </a:moveTo>
                  <a:lnTo>
                    <a:pt x="4864608" y="0"/>
                  </a:lnTo>
                  <a:lnTo>
                    <a:pt x="4864608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635619" y="493260"/>
            <a:ext cx="2183244" cy="572066"/>
            <a:chOff x="0" y="0"/>
            <a:chExt cx="2910992" cy="762754"/>
          </a:xfrm>
        </p:grpSpPr>
        <p:sp>
          <p:nvSpPr>
            <p:cNvPr name="Freeform 11" id="11" descr="A blue and black logo  AI-generated content may be incorrect."/>
            <p:cNvSpPr/>
            <p:nvPr/>
          </p:nvSpPr>
          <p:spPr>
            <a:xfrm flipH="false" flipV="false" rot="0">
              <a:off x="0" y="0"/>
              <a:ext cx="2910967" cy="762762"/>
            </a:xfrm>
            <a:custGeom>
              <a:avLst/>
              <a:gdLst/>
              <a:ahLst/>
              <a:cxnLst/>
              <a:rect r="r" b="b" t="t" l="l"/>
              <a:pathLst>
                <a:path h="762762" w="2910967">
                  <a:moveTo>
                    <a:pt x="0" y="0"/>
                  </a:moveTo>
                  <a:lnTo>
                    <a:pt x="2910967" y="0"/>
                  </a:lnTo>
                  <a:lnTo>
                    <a:pt x="2910967" y="762762"/>
                  </a:lnTo>
                  <a:lnTo>
                    <a:pt x="0" y="762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3971606" y="2"/>
            <a:ext cx="13680777" cy="10287000"/>
            <a:chOff x="0" y="0"/>
            <a:chExt cx="18241036" cy="1371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241011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8241011">
                  <a:moveTo>
                    <a:pt x="0" y="0"/>
                  </a:moveTo>
                  <a:lnTo>
                    <a:pt x="18241011" y="0"/>
                  </a:lnTo>
                  <a:lnTo>
                    <a:pt x="18241011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2F4FC">
                    <a:alpha val="0"/>
                  </a:srgbClr>
                </a:gs>
                <a:gs pos="61000">
                  <a:srgbClr val="FFFFFF">
                    <a:alpha val="100000"/>
                  </a:srgbClr>
                </a:gs>
              </a:gsLst>
              <a:lin ang="10800000"/>
            </a:gra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28700" y="6921457"/>
            <a:ext cx="5302746" cy="845001"/>
            <a:chOff x="0" y="0"/>
            <a:chExt cx="7070328" cy="112666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070217" cy="1126679"/>
            </a:xfrm>
            <a:custGeom>
              <a:avLst/>
              <a:gdLst/>
              <a:ahLst/>
              <a:cxnLst/>
              <a:rect r="r" b="b" t="t" l="l"/>
              <a:pathLst>
                <a:path h="1126679" w="7070217">
                  <a:moveTo>
                    <a:pt x="0" y="1126679"/>
                  </a:moveTo>
                  <a:lnTo>
                    <a:pt x="6288532" y="1126679"/>
                  </a:lnTo>
                  <a:cubicBezTo>
                    <a:pt x="6720332" y="1126679"/>
                    <a:pt x="7070217" y="874453"/>
                    <a:pt x="7070217" y="563384"/>
                  </a:cubicBezTo>
                  <a:lnTo>
                    <a:pt x="707021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D80B"/>
            </a:solidFill>
          </p:spPr>
        </p:sp>
      </p:grp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15712649" y="492926"/>
            <a:ext cx="1939734" cy="572400"/>
            <a:chOff x="0" y="0"/>
            <a:chExt cx="2586312" cy="763200"/>
          </a:xfrm>
        </p:grpSpPr>
        <p:sp>
          <p:nvSpPr>
            <p:cNvPr name="Freeform 17" id="17" descr="A black background with white text  AI-generated content may be incorrect."/>
            <p:cNvSpPr/>
            <p:nvPr/>
          </p:nvSpPr>
          <p:spPr>
            <a:xfrm flipH="false" flipV="false" rot="0">
              <a:off x="0" y="0"/>
              <a:ext cx="2586355" cy="763143"/>
            </a:xfrm>
            <a:custGeom>
              <a:avLst/>
              <a:gdLst/>
              <a:ahLst/>
              <a:cxnLst/>
              <a:rect r="r" b="b" t="t" l="l"/>
              <a:pathLst>
                <a:path h="763143" w="2586355">
                  <a:moveTo>
                    <a:pt x="0" y="0"/>
                  </a:moveTo>
                  <a:lnTo>
                    <a:pt x="2586355" y="0"/>
                  </a:lnTo>
                  <a:lnTo>
                    <a:pt x="2586355" y="763143"/>
                  </a:lnTo>
                  <a:lnTo>
                    <a:pt x="0" y="7631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-7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635619" y="9482769"/>
            <a:ext cx="7560002" cy="213351"/>
          </a:xfrm>
          <a:custGeom>
            <a:avLst/>
            <a:gdLst/>
            <a:ahLst/>
            <a:cxnLst/>
            <a:rect r="r" b="b" t="t" l="l"/>
            <a:pathLst>
              <a:path h="213351" w="7560002">
                <a:moveTo>
                  <a:pt x="0" y="0"/>
                </a:moveTo>
                <a:lnTo>
                  <a:pt x="7560002" y="0"/>
                </a:lnTo>
                <a:lnTo>
                  <a:pt x="7560002" y="213351"/>
                </a:lnTo>
                <a:lnTo>
                  <a:pt x="0" y="2133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028700" y="2821102"/>
            <a:ext cx="12802675" cy="3301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6000" b="true">
                <a:solidFill>
                  <a:srgbClr val="263C92"/>
                </a:solidFill>
                <a:latin typeface="Inter Bold"/>
                <a:ea typeface="Inter Bold"/>
                <a:cs typeface="Inter Bold"/>
                <a:sym typeface="Inter Bold"/>
              </a:rPr>
              <a:t>Pemodelan</a:t>
            </a:r>
            <a:r>
              <a:rPr lang="en-US" sz="6000" b="true">
                <a:solidFill>
                  <a:srgbClr val="263C92"/>
                </a:solidFill>
                <a:latin typeface="Inter Bold"/>
                <a:ea typeface="Inter Bold"/>
                <a:cs typeface="Inter Bold"/>
                <a:sym typeface="Inter Bold"/>
              </a:rPr>
              <a:t> Spatio-Temporal PM2.5 di Jakarta Menggunakan Pendekatan Hybrid Gradient Boosting dan Bayesian INLA-SPDE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6322890"/>
            <a:ext cx="8208978" cy="426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3000">
                <a:solidFill>
                  <a:srgbClr val="314CBB"/>
                </a:solidFill>
                <a:latin typeface="Inter"/>
                <a:ea typeface="Inter"/>
                <a:cs typeface="Inter"/>
                <a:sym typeface="Inter"/>
              </a:rPr>
              <a:t>Pengantar Statistika Bayes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89598" y="7144885"/>
            <a:ext cx="3058530" cy="426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3000" b="true">
                <a:solidFill>
                  <a:srgbClr val="263C92"/>
                </a:solidFill>
                <a:latin typeface="Inter Bold"/>
                <a:ea typeface="Inter Bold"/>
                <a:cs typeface="Inter Bold"/>
                <a:sym typeface="Inter Bold"/>
              </a:rPr>
              <a:t>Kelompok 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9779760"/>
            <a:ext cx="18288000" cy="507238"/>
            <a:chOff x="0" y="0"/>
            <a:chExt cx="24384000" cy="6763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676275"/>
            </a:xfrm>
            <a:custGeom>
              <a:avLst/>
              <a:gdLst/>
              <a:ahLst/>
              <a:cxnLst/>
              <a:rect r="r" b="b" t="t" l="l"/>
              <a:pathLst>
                <a:path h="6762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76275"/>
                  </a:lnTo>
                  <a:lnTo>
                    <a:pt x="0" y="676275"/>
                  </a:lnTo>
                  <a:close/>
                </a:path>
              </a:pathLst>
            </a:custGeom>
            <a:solidFill>
              <a:srgbClr val="263C92"/>
            </a:solid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0" y="9779762"/>
            <a:ext cx="18288000" cy="507238"/>
            <a:chOff x="0" y="0"/>
            <a:chExt cx="24384000" cy="6763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676275"/>
            </a:xfrm>
            <a:custGeom>
              <a:avLst/>
              <a:gdLst/>
              <a:ahLst/>
              <a:cxnLst/>
              <a:rect r="r" b="b" t="t" l="l"/>
              <a:pathLst>
                <a:path h="6762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76275"/>
                  </a:lnTo>
                  <a:lnTo>
                    <a:pt x="0" y="6762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9681099"/>
            <a:ext cx="18288000" cy="99327"/>
            <a:chOff x="0" y="0"/>
            <a:chExt cx="24384000" cy="13243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132461"/>
            </a:xfrm>
            <a:custGeom>
              <a:avLst/>
              <a:gdLst/>
              <a:ahLst/>
              <a:cxnLst/>
              <a:rect r="r" b="b" t="t" l="l"/>
              <a:pathLst>
                <a:path h="13246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2461"/>
                  </a:lnTo>
                  <a:lnTo>
                    <a:pt x="0" y="132461"/>
                  </a:lnTo>
                  <a:close/>
                </a:path>
              </a:pathLst>
            </a:custGeom>
            <a:solidFill>
              <a:srgbClr val="FED80B"/>
            </a:solid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635619" y="493260"/>
            <a:ext cx="2183244" cy="572066"/>
            <a:chOff x="0" y="0"/>
            <a:chExt cx="2910992" cy="762754"/>
          </a:xfrm>
        </p:grpSpPr>
        <p:sp>
          <p:nvSpPr>
            <p:cNvPr name="Freeform 9" id="9" descr="A blue and black logo  AI-generated content may be incorrect."/>
            <p:cNvSpPr/>
            <p:nvPr/>
          </p:nvSpPr>
          <p:spPr>
            <a:xfrm flipH="false" flipV="false" rot="0">
              <a:off x="0" y="0"/>
              <a:ext cx="2910967" cy="762762"/>
            </a:xfrm>
            <a:custGeom>
              <a:avLst/>
              <a:gdLst/>
              <a:ahLst/>
              <a:cxnLst/>
              <a:rect r="r" b="b" t="t" l="l"/>
              <a:pathLst>
                <a:path h="762762" w="2910967">
                  <a:moveTo>
                    <a:pt x="0" y="0"/>
                  </a:moveTo>
                  <a:lnTo>
                    <a:pt x="2910967" y="0"/>
                  </a:lnTo>
                  <a:lnTo>
                    <a:pt x="2910967" y="762762"/>
                  </a:lnTo>
                  <a:lnTo>
                    <a:pt x="0" y="762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5712649" y="492926"/>
            <a:ext cx="1939733" cy="572400"/>
            <a:chOff x="0" y="0"/>
            <a:chExt cx="2586310" cy="763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86355" cy="763143"/>
            </a:xfrm>
            <a:custGeom>
              <a:avLst/>
              <a:gdLst/>
              <a:ahLst/>
              <a:cxnLst/>
              <a:rect r="r" b="b" t="t" l="l"/>
              <a:pathLst>
                <a:path h="763143" w="2586355">
                  <a:moveTo>
                    <a:pt x="0" y="0"/>
                  </a:moveTo>
                  <a:lnTo>
                    <a:pt x="2586355" y="0"/>
                  </a:lnTo>
                  <a:lnTo>
                    <a:pt x="2586355" y="763143"/>
                  </a:lnTo>
                  <a:lnTo>
                    <a:pt x="0" y="7631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-7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79347" y="2882581"/>
            <a:ext cx="3215166" cy="4110342"/>
            <a:chOff x="0" y="0"/>
            <a:chExt cx="812800" cy="103910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1039102"/>
            </a:xfrm>
            <a:custGeom>
              <a:avLst/>
              <a:gdLst/>
              <a:ahLst/>
              <a:cxnLst/>
              <a:rect r="r" b="b" t="t" l="l"/>
              <a:pathLst>
                <a:path h="1039102" w="812800">
                  <a:moveTo>
                    <a:pt x="55383" y="0"/>
                  </a:moveTo>
                  <a:lnTo>
                    <a:pt x="757417" y="0"/>
                  </a:lnTo>
                  <a:cubicBezTo>
                    <a:pt x="788004" y="0"/>
                    <a:pt x="812800" y="24796"/>
                    <a:pt x="812800" y="55383"/>
                  </a:cubicBezTo>
                  <a:lnTo>
                    <a:pt x="812800" y="983720"/>
                  </a:lnTo>
                  <a:cubicBezTo>
                    <a:pt x="812800" y="1014307"/>
                    <a:pt x="788004" y="1039102"/>
                    <a:pt x="757417" y="1039102"/>
                  </a:cubicBezTo>
                  <a:lnTo>
                    <a:pt x="55383" y="1039102"/>
                  </a:lnTo>
                  <a:cubicBezTo>
                    <a:pt x="24796" y="1039102"/>
                    <a:pt x="0" y="1014307"/>
                    <a:pt x="0" y="983720"/>
                  </a:cubicBezTo>
                  <a:lnTo>
                    <a:pt x="0" y="55383"/>
                  </a:lnTo>
                  <a:cubicBezTo>
                    <a:pt x="0" y="24796"/>
                    <a:pt x="24796" y="0"/>
                    <a:pt x="55383" y="0"/>
                  </a:cubicBezTo>
                  <a:close/>
                </a:path>
              </a:pathLst>
            </a:custGeom>
            <a:blipFill>
              <a:blip r:embed="rId5"/>
              <a:stretch>
                <a:fillRect l="-88310" t="-155243" r="-119518" b="-66196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107882" y="2882581"/>
            <a:ext cx="3215166" cy="4110342"/>
            <a:chOff x="0" y="0"/>
            <a:chExt cx="812800" cy="103910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1039102"/>
            </a:xfrm>
            <a:custGeom>
              <a:avLst/>
              <a:gdLst/>
              <a:ahLst/>
              <a:cxnLst/>
              <a:rect r="r" b="b" t="t" l="l"/>
              <a:pathLst>
                <a:path h="1039102" w="812800">
                  <a:moveTo>
                    <a:pt x="55383" y="0"/>
                  </a:moveTo>
                  <a:lnTo>
                    <a:pt x="757417" y="0"/>
                  </a:lnTo>
                  <a:cubicBezTo>
                    <a:pt x="788004" y="0"/>
                    <a:pt x="812800" y="24796"/>
                    <a:pt x="812800" y="55383"/>
                  </a:cubicBezTo>
                  <a:lnTo>
                    <a:pt x="812800" y="983720"/>
                  </a:lnTo>
                  <a:cubicBezTo>
                    <a:pt x="812800" y="1014307"/>
                    <a:pt x="788004" y="1039102"/>
                    <a:pt x="757417" y="1039102"/>
                  </a:cubicBezTo>
                  <a:lnTo>
                    <a:pt x="55383" y="1039102"/>
                  </a:lnTo>
                  <a:cubicBezTo>
                    <a:pt x="24796" y="1039102"/>
                    <a:pt x="0" y="1014307"/>
                    <a:pt x="0" y="983720"/>
                  </a:cubicBezTo>
                  <a:lnTo>
                    <a:pt x="0" y="55383"/>
                  </a:lnTo>
                  <a:cubicBezTo>
                    <a:pt x="0" y="24796"/>
                    <a:pt x="24796" y="0"/>
                    <a:pt x="55383" y="0"/>
                  </a:cubicBezTo>
                  <a:close/>
                </a:path>
              </a:pathLst>
            </a:custGeom>
            <a:blipFill>
              <a:blip r:embed="rId6"/>
              <a:stretch>
                <a:fillRect l="-29426" t="-44812" r="-23534" b="-3466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536417" y="2882581"/>
            <a:ext cx="3215166" cy="4110342"/>
            <a:chOff x="0" y="0"/>
            <a:chExt cx="812800" cy="103910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1039102"/>
            </a:xfrm>
            <a:custGeom>
              <a:avLst/>
              <a:gdLst/>
              <a:ahLst/>
              <a:cxnLst/>
              <a:rect r="r" b="b" t="t" l="l"/>
              <a:pathLst>
                <a:path h="1039102" w="812800">
                  <a:moveTo>
                    <a:pt x="55383" y="0"/>
                  </a:moveTo>
                  <a:lnTo>
                    <a:pt x="757417" y="0"/>
                  </a:lnTo>
                  <a:cubicBezTo>
                    <a:pt x="788004" y="0"/>
                    <a:pt x="812800" y="24796"/>
                    <a:pt x="812800" y="55383"/>
                  </a:cubicBezTo>
                  <a:lnTo>
                    <a:pt x="812800" y="983720"/>
                  </a:lnTo>
                  <a:cubicBezTo>
                    <a:pt x="812800" y="1014307"/>
                    <a:pt x="788004" y="1039102"/>
                    <a:pt x="757417" y="1039102"/>
                  </a:cubicBezTo>
                  <a:lnTo>
                    <a:pt x="55383" y="1039102"/>
                  </a:lnTo>
                  <a:cubicBezTo>
                    <a:pt x="24796" y="1039102"/>
                    <a:pt x="0" y="1014307"/>
                    <a:pt x="0" y="983720"/>
                  </a:cubicBezTo>
                  <a:lnTo>
                    <a:pt x="0" y="55383"/>
                  </a:lnTo>
                  <a:cubicBezTo>
                    <a:pt x="0" y="24796"/>
                    <a:pt x="24796" y="0"/>
                    <a:pt x="55383" y="0"/>
                  </a:cubicBezTo>
                  <a:close/>
                </a:path>
              </a:pathLst>
            </a:custGeom>
            <a:blipFill>
              <a:blip r:embed="rId7"/>
              <a:stretch>
                <a:fillRect l="-42095" t="-756" r="-4833" b="-7207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964952" y="2882581"/>
            <a:ext cx="3215166" cy="4110342"/>
            <a:chOff x="0" y="0"/>
            <a:chExt cx="812800" cy="103910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1039102"/>
            </a:xfrm>
            <a:custGeom>
              <a:avLst/>
              <a:gdLst/>
              <a:ahLst/>
              <a:cxnLst/>
              <a:rect r="r" b="b" t="t" l="l"/>
              <a:pathLst>
                <a:path h="1039102" w="812800">
                  <a:moveTo>
                    <a:pt x="55383" y="0"/>
                  </a:moveTo>
                  <a:lnTo>
                    <a:pt x="757417" y="0"/>
                  </a:lnTo>
                  <a:cubicBezTo>
                    <a:pt x="788004" y="0"/>
                    <a:pt x="812800" y="24796"/>
                    <a:pt x="812800" y="55383"/>
                  </a:cubicBezTo>
                  <a:lnTo>
                    <a:pt x="812800" y="983720"/>
                  </a:lnTo>
                  <a:cubicBezTo>
                    <a:pt x="812800" y="1014307"/>
                    <a:pt x="788004" y="1039102"/>
                    <a:pt x="757417" y="1039102"/>
                  </a:cubicBezTo>
                  <a:lnTo>
                    <a:pt x="55383" y="1039102"/>
                  </a:lnTo>
                  <a:cubicBezTo>
                    <a:pt x="24796" y="1039102"/>
                    <a:pt x="0" y="1014307"/>
                    <a:pt x="0" y="983720"/>
                  </a:cubicBezTo>
                  <a:lnTo>
                    <a:pt x="0" y="55383"/>
                  </a:lnTo>
                  <a:cubicBezTo>
                    <a:pt x="0" y="24796"/>
                    <a:pt x="24796" y="0"/>
                    <a:pt x="55383" y="0"/>
                  </a:cubicBezTo>
                  <a:close/>
                </a:path>
              </a:pathLst>
            </a:custGeom>
            <a:blipFill>
              <a:blip r:embed="rId8"/>
              <a:stretch>
                <a:fillRect l="-36891" t="-30624" r="-31248" b="-66657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4393487" y="2882581"/>
            <a:ext cx="3215166" cy="4110342"/>
            <a:chOff x="0" y="0"/>
            <a:chExt cx="812800" cy="103910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1039102"/>
            </a:xfrm>
            <a:custGeom>
              <a:avLst/>
              <a:gdLst/>
              <a:ahLst/>
              <a:cxnLst/>
              <a:rect r="r" b="b" t="t" l="l"/>
              <a:pathLst>
                <a:path h="1039102" w="812800">
                  <a:moveTo>
                    <a:pt x="55383" y="0"/>
                  </a:moveTo>
                  <a:lnTo>
                    <a:pt x="757417" y="0"/>
                  </a:lnTo>
                  <a:cubicBezTo>
                    <a:pt x="788004" y="0"/>
                    <a:pt x="812800" y="24796"/>
                    <a:pt x="812800" y="55383"/>
                  </a:cubicBezTo>
                  <a:lnTo>
                    <a:pt x="812800" y="983720"/>
                  </a:lnTo>
                  <a:cubicBezTo>
                    <a:pt x="812800" y="1014307"/>
                    <a:pt x="788004" y="1039102"/>
                    <a:pt x="757417" y="1039102"/>
                  </a:cubicBezTo>
                  <a:lnTo>
                    <a:pt x="55383" y="1039102"/>
                  </a:lnTo>
                  <a:cubicBezTo>
                    <a:pt x="24796" y="1039102"/>
                    <a:pt x="0" y="1014307"/>
                    <a:pt x="0" y="983720"/>
                  </a:cubicBezTo>
                  <a:lnTo>
                    <a:pt x="0" y="55383"/>
                  </a:lnTo>
                  <a:cubicBezTo>
                    <a:pt x="0" y="24796"/>
                    <a:pt x="24796" y="0"/>
                    <a:pt x="55383" y="0"/>
                  </a:cubicBezTo>
                  <a:close/>
                </a:path>
              </a:pathLst>
            </a:custGeom>
            <a:blipFill>
              <a:blip r:embed="rId9"/>
              <a:stretch>
                <a:fillRect l="-43651" t="-13709" r="-50172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4785236" y="1260348"/>
            <a:ext cx="8717529" cy="90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6000" b="true">
                <a:solidFill>
                  <a:srgbClr val="263C92"/>
                </a:solidFill>
                <a:latin typeface="Poppins Bold"/>
                <a:ea typeface="Poppins Bold"/>
                <a:cs typeface="Poppins Bold"/>
                <a:sym typeface="Poppins Bold"/>
              </a:rPr>
              <a:t>Anggota Kelompok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546633" y="7248130"/>
            <a:ext cx="2908874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b="true" sz="2250">
                <a:solidFill>
                  <a:srgbClr val="0D0B8A"/>
                </a:solidFill>
                <a:latin typeface="Poppins Bold"/>
                <a:ea typeface="Poppins Bold"/>
                <a:cs typeface="Poppins Bold"/>
                <a:sym typeface="Poppins Bold"/>
              </a:rPr>
              <a:t>Ghonia CM</a:t>
            </a:r>
          </a:p>
          <a:p>
            <a:pPr algn="ctr">
              <a:lnSpc>
                <a:spcPts val="2700"/>
              </a:lnSpc>
            </a:pPr>
            <a:r>
              <a:rPr lang="en-US" b="true" sz="2250">
                <a:solidFill>
                  <a:srgbClr val="0D0B8A"/>
                </a:solidFill>
                <a:latin typeface="Poppins Bold"/>
                <a:ea typeface="Poppins Bold"/>
                <a:cs typeface="Poppins Bold"/>
                <a:sym typeface="Poppins Bold"/>
              </a:rPr>
              <a:t>G1401231045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118098" y="7248130"/>
            <a:ext cx="2908874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0D0B8A"/>
                </a:solidFill>
                <a:latin typeface="Poppins Bold"/>
                <a:ea typeface="Poppins Bold"/>
                <a:cs typeface="Poppins Bold"/>
                <a:sym typeface="Poppins Bold"/>
              </a:rPr>
              <a:t>Nandito Hernawan</a:t>
            </a:r>
          </a:p>
          <a:p>
            <a:pPr algn="ctr">
              <a:lnSpc>
                <a:spcPts val="2700"/>
              </a:lnSpc>
            </a:pPr>
            <a:r>
              <a:rPr lang="en-US" b="true" sz="2250">
                <a:solidFill>
                  <a:srgbClr val="0D0B8A"/>
                </a:solidFill>
                <a:latin typeface="Poppins Bold"/>
                <a:ea typeface="Poppins Bold"/>
                <a:cs typeface="Poppins Bold"/>
                <a:sym typeface="Poppins Bold"/>
              </a:rPr>
              <a:t>G1401231034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689563" y="7248130"/>
            <a:ext cx="2908874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0D0B8A"/>
                </a:solidFill>
                <a:latin typeface="Poppins Bold"/>
                <a:ea typeface="Poppins Bold"/>
                <a:cs typeface="Poppins Bold"/>
                <a:sym typeface="Poppins Bold"/>
              </a:rPr>
              <a:t>Bryant Indervil D</a:t>
            </a:r>
          </a:p>
          <a:p>
            <a:pPr algn="ctr">
              <a:lnSpc>
                <a:spcPts val="2700"/>
              </a:lnSpc>
            </a:pPr>
            <a:r>
              <a:rPr lang="en-US" b="true" sz="2250">
                <a:solidFill>
                  <a:srgbClr val="0D0B8A"/>
                </a:solidFill>
                <a:latin typeface="Poppins Bold"/>
                <a:ea typeface="Poppins Bold"/>
                <a:cs typeface="Poppins Bold"/>
                <a:sym typeface="Poppins Bold"/>
              </a:rPr>
              <a:t>G1401231062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261028" y="7248130"/>
            <a:ext cx="2908874" cy="714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0D0B8A"/>
                </a:solidFill>
                <a:latin typeface="Poppins Bold"/>
                <a:ea typeface="Poppins Bold"/>
                <a:cs typeface="Poppins Bold"/>
                <a:sym typeface="Poppins Bold"/>
              </a:rPr>
              <a:t>Alden Nabil WE</a:t>
            </a:r>
          </a:p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0D0B8A"/>
                </a:solidFill>
                <a:latin typeface="Poppins Bold"/>
                <a:ea typeface="Poppins Bold"/>
                <a:cs typeface="Poppins Bold"/>
                <a:sym typeface="Poppins Bold"/>
              </a:rPr>
              <a:t>G1401231088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32493" y="7248130"/>
            <a:ext cx="2908874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0D0B8A"/>
                </a:solidFill>
                <a:latin typeface="Poppins Bold"/>
                <a:ea typeface="Poppins Bold"/>
                <a:cs typeface="Poppins Bold"/>
                <a:sym typeface="Poppins Bold"/>
              </a:rPr>
              <a:t>Dewa Rizky Meidiva Pratama</a:t>
            </a:r>
          </a:p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0D0B8A"/>
                </a:solidFill>
                <a:latin typeface="Poppins Bold"/>
                <a:ea typeface="Poppins Bold"/>
                <a:cs typeface="Poppins Bold"/>
                <a:sym typeface="Poppins Bold"/>
              </a:rPr>
              <a:t>G1401231030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63C9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1286"/>
            <a:ext cx="18288000" cy="10284429"/>
            <a:chOff x="0" y="0"/>
            <a:chExt cx="24384000" cy="13712572"/>
          </a:xfrm>
        </p:grpSpPr>
        <p:sp>
          <p:nvSpPr>
            <p:cNvPr name="Freeform 3" id="3" descr="A black background with blue and black border  AI-generated content may be incorrect.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634340" y="492926"/>
            <a:ext cx="2184524" cy="572400"/>
            <a:chOff x="0" y="0"/>
            <a:chExt cx="2912698" cy="763200"/>
          </a:xfrm>
        </p:grpSpPr>
        <p:sp>
          <p:nvSpPr>
            <p:cNvPr name="Freeform 5" id="5" descr="A black and white logo  AI-generated content may be incorrect."/>
            <p:cNvSpPr/>
            <p:nvPr/>
          </p:nvSpPr>
          <p:spPr>
            <a:xfrm flipH="false" flipV="false" rot="0">
              <a:off x="0" y="0"/>
              <a:ext cx="2912745" cy="763143"/>
            </a:xfrm>
            <a:custGeom>
              <a:avLst/>
              <a:gdLst/>
              <a:ahLst/>
              <a:cxnLst/>
              <a:rect r="r" b="b" t="t" l="l"/>
              <a:pathLst>
                <a:path h="763143" w="2912745">
                  <a:moveTo>
                    <a:pt x="0" y="0"/>
                  </a:moveTo>
                  <a:lnTo>
                    <a:pt x="2912745" y="0"/>
                  </a:lnTo>
                  <a:lnTo>
                    <a:pt x="2912745" y="763143"/>
                  </a:lnTo>
                  <a:lnTo>
                    <a:pt x="0" y="7631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-7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960169" y="4554490"/>
            <a:ext cx="12301041" cy="960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90"/>
              </a:lnSpc>
            </a:pPr>
            <a:r>
              <a:rPr lang="en-US" sz="675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Pendahuluan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960169" y="3098445"/>
            <a:ext cx="1669160" cy="1100138"/>
            <a:chOff x="0" y="0"/>
            <a:chExt cx="2225546" cy="14668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25548" cy="1466850"/>
            </a:xfrm>
            <a:custGeom>
              <a:avLst/>
              <a:gdLst/>
              <a:ahLst/>
              <a:cxnLst/>
              <a:rect r="r" b="b" t="t" l="l"/>
              <a:pathLst>
                <a:path h="1466850" w="2225548">
                  <a:moveTo>
                    <a:pt x="0" y="0"/>
                  </a:moveTo>
                  <a:lnTo>
                    <a:pt x="2225548" y="0"/>
                  </a:lnTo>
                  <a:lnTo>
                    <a:pt x="2225548" y="1466850"/>
                  </a:lnTo>
                  <a:lnTo>
                    <a:pt x="0" y="1466850"/>
                  </a:lnTo>
                  <a:close/>
                </a:path>
              </a:pathLst>
            </a:custGeom>
            <a:solidFill>
              <a:srgbClr val="FED80B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3014170" y="3336570"/>
            <a:ext cx="478497" cy="1151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720"/>
              </a:lnSpc>
            </a:pPr>
            <a:r>
              <a:rPr lang="en-US" sz="9000" b="true">
                <a:solidFill>
                  <a:srgbClr val="263C92"/>
                </a:solidFill>
                <a:latin typeface="Inter Bold"/>
                <a:ea typeface="Inter Bold"/>
                <a:cs typeface="Inter Bold"/>
                <a:sym typeface="Inter Bold"/>
              </a:rPr>
              <a:t>1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360949" y="3098445"/>
            <a:ext cx="1198440" cy="1100137"/>
          </a:xfrm>
          <a:custGeom>
            <a:avLst/>
            <a:gdLst/>
            <a:ahLst/>
            <a:cxnLst/>
            <a:rect r="r" b="b" t="t" l="l"/>
            <a:pathLst>
              <a:path h="1100137" w="1198440">
                <a:moveTo>
                  <a:pt x="0" y="0"/>
                </a:moveTo>
                <a:lnTo>
                  <a:pt x="1198440" y="0"/>
                </a:lnTo>
                <a:lnTo>
                  <a:pt x="1198440" y="1100137"/>
                </a:lnTo>
                <a:lnTo>
                  <a:pt x="0" y="11001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15712649" y="492926"/>
            <a:ext cx="1939734" cy="572400"/>
            <a:chOff x="0" y="0"/>
            <a:chExt cx="2586312" cy="763200"/>
          </a:xfrm>
        </p:grpSpPr>
        <p:sp>
          <p:nvSpPr>
            <p:cNvPr name="Freeform 12" id="12" descr="A black background with white text  AI-generated content may be incorrect."/>
            <p:cNvSpPr/>
            <p:nvPr/>
          </p:nvSpPr>
          <p:spPr>
            <a:xfrm flipH="false" flipV="false" rot="0">
              <a:off x="0" y="0"/>
              <a:ext cx="2586355" cy="763143"/>
            </a:xfrm>
            <a:custGeom>
              <a:avLst/>
              <a:gdLst/>
              <a:ahLst/>
              <a:cxnLst/>
              <a:rect r="r" b="b" t="t" l="l"/>
              <a:pathLst>
                <a:path h="763143" w="2586355">
                  <a:moveTo>
                    <a:pt x="0" y="0"/>
                  </a:moveTo>
                  <a:lnTo>
                    <a:pt x="2586355" y="0"/>
                  </a:lnTo>
                  <a:lnTo>
                    <a:pt x="2586355" y="763143"/>
                  </a:lnTo>
                  <a:lnTo>
                    <a:pt x="0" y="7631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-7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9779760"/>
            <a:ext cx="18288000" cy="507238"/>
            <a:chOff x="0" y="0"/>
            <a:chExt cx="24384000" cy="6763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676275"/>
            </a:xfrm>
            <a:custGeom>
              <a:avLst/>
              <a:gdLst/>
              <a:ahLst/>
              <a:cxnLst/>
              <a:rect r="r" b="b" t="t" l="l"/>
              <a:pathLst>
                <a:path h="6762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76275"/>
                  </a:lnTo>
                  <a:lnTo>
                    <a:pt x="0" y="676275"/>
                  </a:lnTo>
                  <a:close/>
                </a:path>
              </a:pathLst>
            </a:custGeom>
            <a:solidFill>
              <a:srgbClr val="263C92"/>
            </a:solid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0" y="9779762"/>
            <a:ext cx="18288000" cy="507238"/>
            <a:chOff x="0" y="0"/>
            <a:chExt cx="24384000" cy="6763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676275"/>
            </a:xfrm>
            <a:custGeom>
              <a:avLst/>
              <a:gdLst/>
              <a:ahLst/>
              <a:cxnLst/>
              <a:rect r="r" b="b" t="t" l="l"/>
              <a:pathLst>
                <a:path h="6762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76275"/>
                  </a:lnTo>
                  <a:lnTo>
                    <a:pt x="0" y="6762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9681099"/>
            <a:ext cx="18288000" cy="99327"/>
            <a:chOff x="0" y="0"/>
            <a:chExt cx="24384000" cy="13243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132461"/>
            </a:xfrm>
            <a:custGeom>
              <a:avLst/>
              <a:gdLst/>
              <a:ahLst/>
              <a:cxnLst/>
              <a:rect r="r" b="b" t="t" l="l"/>
              <a:pathLst>
                <a:path h="13246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2461"/>
                  </a:lnTo>
                  <a:lnTo>
                    <a:pt x="0" y="132461"/>
                  </a:lnTo>
                  <a:close/>
                </a:path>
              </a:pathLst>
            </a:custGeom>
            <a:solidFill>
              <a:srgbClr val="FED80B"/>
            </a:solid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635619" y="493260"/>
            <a:ext cx="2183244" cy="572066"/>
            <a:chOff x="0" y="0"/>
            <a:chExt cx="2910992" cy="762754"/>
          </a:xfrm>
        </p:grpSpPr>
        <p:sp>
          <p:nvSpPr>
            <p:cNvPr name="Freeform 9" id="9" descr="A blue and black logo  AI-generated content may be incorrect."/>
            <p:cNvSpPr/>
            <p:nvPr/>
          </p:nvSpPr>
          <p:spPr>
            <a:xfrm flipH="false" flipV="false" rot="0">
              <a:off x="0" y="0"/>
              <a:ext cx="2910967" cy="762762"/>
            </a:xfrm>
            <a:custGeom>
              <a:avLst/>
              <a:gdLst/>
              <a:ahLst/>
              <a:cxnLst/>
              <a:rect r="r" b="b" t="t" l="l"/>
              <a:pathLst>
                <a:path h="762762" w="2910967">
                  <a:moveTo>
                    <a:pt x="0" y="0"/>
                  </a:moveTo>
                  <a:lnTo>
                    <a:pt x="2910967" y="0"/>
                  </a:lnTo>
                  <a:lnTo>
                    <a:pt x="2910967" y="762762"/>
                  </a:lnTo>
                  <a:lnTo>
                    <a:pt x="0" y="762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5712649" y="492926"/>
            <a:ext cx="1939733" cy="572400"/>
            <a:chOff x="0" y="0"/>
            <a:chExt cx="2586310" cy="763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86355" cy="763143"/>
            </a:xfrm>
            <a:custGeom>
              <a:avLst/>
              <a:gdLst/>
              <a:ahLst/>
              <a:cxnLst/>
              <a:rect r="r" b="b" t="t" l="l"/>
              <a:pathLst>
                <a:path h="763143" w="2586355">
                  <a:moveTo>
                    <a:pt x="0" y="0"/>
                  </a:moveTo>
                  <a:lnTo>
                    <a:pt x="2586355" y="0"/>
                  </a:lnTo>
                  <a:lnTo>
                    <a:pt x="2586355" y="763143"/>
                  </a:lnTo>
                  <a:lnTo>
                    <a:pt x="0" y="7631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-7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5171442" y="691958"/>
            <a:ext cx="7945115" cy="960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90"/>
              </a:lnSpc>
            </a:pPr>
            <a:r>
              <a:rPr lang="en-US" sz="6750" b="true">
                <a:solidFill>
                  <a:srgbClr val="263C92"/>
                </a:solidFill>
                <a:latin typeface="Inter Bold"/>
                <a:ea typeface="Inter Bold"/>
                <a:cs typeface="Inter Bold"/>
                <a:sym typeface="Inter Bold"/>
              </a:rPr>
              <a:t>Latar Belakang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53428" y="1823528"/>
            <a:ext cx="17016762" cy="1699694"/>
            <a:chOff x="0" y="0"/>
            <a:chExt cx="4481781" cy="44765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81781" cy="447656"/>
            </a:xfrm>
            <a:custGeom>
              <a:avLst/>
              <a:gdLst/>
              <a:ahLst/>
              <a:cxnLst/>
              <a:rect r="r" b="b" t="t" l="l"/>
              <a:pathLst>
                <a:path h="447656" w="4481781">
                  <a:moveTo>
                    <a:pt x="23203" y="0"/>
                  </a:moveTo>
                  <a:lnTo>
                    <a:pt x="4458578" y="0"/>
                  </a:lnTo>
                  <a:cubicBezTo>
                    <a:pt x="4471393" y="0"/>
                    <a:pt x="4481781" y="10388"/>
                    <a:pt x="4481781" y="23203"/>
                  </a:cubicBezTo>
                  <a:lnTo>
                    <a:pt x="4481781" y="424453"/>
                  </a:lnTo>
                  <a:cubicBezTo>
                    <a:pt x="4481781" y="430607"/>
                    <a:pt x="4479337" y="436509"/>
                    <a:pt x="4474985" y="440860"/>
                  </a:cubicBezTo>
                  <a:cubicBezTo>
                    <a:pt x="4470634" y="445211"/>
                    <a:pt x="4464732" y="447656"/>
                    <a:pt x="4458578" y="447656"/>
                  </a:cubicBezTo>
                  <a:lnTo>
                    <a:pt x="23203" y="447656"/>
                  </a:lnTo>
                  <a:cubicBezTo>
                    <a:pt x="10388" y="447656"/>
                    <a:pt x="0" y="437268"/>
                    <a:pt x="0" y="424453"/>
                  </a:cubicBezTo>
                  <a:lnTo>
                    <a:pt x="0" y="23203"/>
                  </a:lnTo>
                  <a:cubicBezTo>
                    <a:pt x="0" y="10388"/>
                    <a:pt x="10388" y="0"/>
                    <a:pt x="23203" y="0"/>
                  </a:cubicBezTo>
                  <a:close/>
                </a:path>
              </a:pathLst>
            </a:custGeom>
            <a:solidFill>
              <a:srgbClr val="E4E8F8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481781" cy="4857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454171" y="4151778"/>
            <a:ext cx="2639273" cy="1431904"/>
            <a:chOff x="0" y="0"/>
            <a:chExt cx="798194" cy="4330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98194" cy="433050"/>
            </a:xfrm>
            <a:custGeom>
              <a:avLst/>
              <a:gdLst/>
              <a:ahLst/>
              <a:cxnLst/>
              <a:rect r="r" b="b" t="t" l="l"/>
              <a:pathLst>
                <a:path h="433050" w="798194">
                  <a:moveTo>
                    <a:pt x="149601" y="0"/>
                  </a:moveTo>
                  <a:lnTo>
                    <a:pt x="648593" y="0"/>
                  </a:lnTo>
                  <a:cubicBezTo>
                    <a:pt x="731216" y="0"/>
                    <a:pt x="798194" y="66979"/>
                    <a:pt x="798194" y="149601"/>
                  </a:cubicBezTo>
                  <a:lnTo>
                    <a:pt x="798194" y="283449"/>
                  </a:lnTo>
                  <a:cubicBezTo>
                    <a:pt x="798194" y="323126"/>
                    <a:pt x="782433" y="361177"/>
                    <a:pt x="754377" y="389233"/>
                  </a:cubicBezTo>
                  <a:cubicBezTo>
                    <a:pt x="726322" y="417289"/>
                    <a:pt x="688270" y="433050"/>
                    <a:pt x="648593" y="433050"/>
                  </a:cubicBezTo>
                  <a:lnTo>
                    <a:pt x="149601" y="433050"/>
                  </a:lnTo>
                  <a:cubicBezTo>
                    <a:pt x="109924" y="433050"/>
                    <a:pt x="71873" y="417289"/>
                    <a:pt x="43817" y="389233"/>
                  </a:cubicBezTo>
                  <a:cubicBezTo>
                    <a:pt x="15761" y="361177"/>
                    <a:pt x="0" y="323126"/>
                    <a:pt x="0" y="283449"/>
                  </a:cubicBezTo>
                  <a:lnTo>
                    <a:pt x="0" y="149601"/>
                  </a:lnTo>
                  <a:cubicBezTo>
                    <a:pt x="0" y="66979"/>
                    <a:pt x="66979" y="0"/>
                    <a:pt x="149601" y="0"/>
                  </a:cubicBezTo>
                  <a:close/>
                </a:path>
              </a:pathLst>
            </a:custGeom>
            <a:solidFill>
              <a:srgbClr val="FCDF21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798194" cy="471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358883" y="4151778"/>
            <a:ext cx="2639273" cy="1431904"/>
            <a:chOff x="0" y="0"/>
            <a:chExt cx="798194" cy="43305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98194" cy="433050"/>
            </a:xfrm>
            <a:custGeom>
              <a:avLst/>
              <a:gdLst/>
              <a:ahLst/>
              <a:cxnLst/>
              <a:rect r="r" b="b" t="t" l="l"/>
              <a:pathLst>
                <a:path h="433050" w="798194">
                  <a:moveTo>
                    <a:pt x="149601" y="0"/>
                  </a:moveTo>
                  <a:lnTo>
                    <a:pt x="648593" y="0"/>
                  </a:lnTo>
                  <a:cubicBezTo>
                    <a:pt x="731216" y="0"/>
                    <a:pt x="798194" y="66979"/>
                    <a:pt x="798194" y="149601"/>
                  </a:cubicBezTo>
                  <a:lnTo>
                    <a:pt x="798194" y="283449"/>
                  </a:lnTo>
                  <a:cubicBezTo>
                    <a:pt x="798194" y="323126"/>
                    <a:pt x="782433" y="361177"/>
                    <a:pt x="754377" y="389233"/>
                  </a:cubicBezTo>
                  <a:cubicBezTo>
                    <a:pt x="726322" y="417289"/>
                    <a:pt x="688270" y="433050"/>
                    <a:pt x="648593" y="433050"/>
                  </a:cubicBezTo>
                  <a:lnTo>
                    <a:pt x="149601" y="433050"/>
                  </a:lnTo>
                  <a:cubicBezTo>
                    <a:pt x="109924" y="433050"/>
                    <a:pt x="71873" y="417289"/>
                    <a:pt x="43817" y="389233"/>
                  </a:cubicBezTo>
                  <a:cubicBezTo>
                    <a:pt x="15761" y="361177"/>
                    <a:pt x="0" y="323126"/>
                    <a:pt x="0" y="283449"/>
                  </a:cubicBezTo>
                  <a:lnTo>
                    <a:pt x="0" y="149601"/>
                  </a:lnTo>
                  <a:cubicBezTo>
                    <a:pt x="0" y="66979"/>
                    <a:pt x="66979" y="0"/>
                    <a:pt x="149601" y="0"/>
                  </a:cubicBezTo>
                  <a:close/>
                </a:path>
              </a:pathLst>
            </a:custGeom>
            <a:solidFill>
              <a:srgbClr val="263C92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798194" cy="471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263595" y="4151778"/>
            <a:ext cx="2639273" cy="1431904"/>
            <a:chOff x="0" y="0"/>
            <a:chExt cx="798194" cy="4330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98194" cy="433050"/>
            </a:xfrm>
            <a:custGeom>
              <a:avLst/>
              <a:gdLst/>
              <a:ahLst/>
              <a:cxnLst/>
              <a:rect r="r" b="b" t="t" l="l"/>
              <a:pathLst>
                <a:path h="433050" w="798194">
                  <a:moveTo>
                    <a:pt x="149601" y="0"/>
                  </a:moveTo>
                  <a:lnTo>
                    <a:pt x="648593" y="0"/>
                  </a:lnTo>
                  <a:cubicBezTo>
                    <a:pt x="731216" y="0"/>
                    <a:pt x="798194" y="66979"/>
                    <a:pt x="798194" y="149601"/>
                  </a:cubicBezTo>
                  <a:lnTo>
                    <a:pt x="798194" y="283449"/>
                  </a:lnTo>
                  <a:cubicBezTo>
                    <a:pt x="798194" y="323126"/>
                    <a:pt x="782433" y="361177"/>
                    <a:pt x="754377" y="389233"/>
                  </a:cubicBezTo>
                  <a:cubicBezTo>
                    <a:pt x="726322" y="417289"/>
                    <a:pt x="688270" y="433050"/>
                    <a:pt x="648593" y="433050"/>
                  </a:cubicBezTo>
                  <a:lnTo>
                    <a:pt x="149601" y="433050"/>
                  </a:lnTo>
                  <a:cubicBezTo>
                    <a:pt x="109924" y="433050"/>
                    <a:pt x="71873" y="417289"/>
                    <a:pt x="43817" y="389233"/>
                  </a:cubicBezTo>
                  <a:cubicBezTo>
                    <a:pt x="15761" y="361177"/>
                    <a:pt x="0" y="323126"/>
                    <a:pt x="0" y="283449"/>
                  </a:cubicBezTo>
                  <a:lnTo>
                    <a:pt x="0" y="149601"/>
                  </a:lnTo>
                  <a:cubicBezTo>
                    <a:pt x="0" y="66979"/>
                    <a:pt x="66979" y="0"/>
                    <a:pt x="149601" y="0"/>
                  </a:cubicBezTo>
                  <a:close/>
                </a:path>
              </a:pathLst>
            </a:custGeom>
            <a:solidFill>
              <a:srgbClr val="FCDF21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798194" cy="471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168307" y="4151778"/>
            <a:ext cx="2639273" cy="1431904"/>
            <a:chOff x="0" y="0"/>
            <a:chExt cx="798194" cy="43305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98194" cy="433050"/>
            </a:xfrm>
            <a:custGeom>
              <a:avLst/>
              <a:gdLst/>
              <a:ahLst/>
              <a:cxnLst/>
              <a:rect r="r" b="b" t="t" l="l"/>
              <a:pathLst>
                <a:path h="433050" w="798194">
                  <a:moveTo>
                    <a:pt x="149601" y="0"/>
                  </a:moveTo>
                  <a:lnTo>
                    <a:pt x="648593" y="0"/>
                  </a:lnTo>
                  <a:cubicBezTo>
                    <a:pt x="731216" y="0"/>
                    <a:pt x="798194" y="66979"/>
                    <a:pt x="798194" y="149601"/>
                  </a:cubicBezTo>
                  <a:lnTo>
                    <a:pt x="798194" y="283449"/>
                  </a:lnTo>
                  <a:cubicBezTo>
                    <a:pt x="798194" y="323126"/>
                    <a:pt x="782433" y="361177"/>
                    <a:pt x="754377" y="389233"/>
                  </a:cubicBezTo>
                  <a:cubicBezTo>
                    <a:pt x="726322" y="417289"/>
                    <a:pt x="688270" y="433050"/>
                    <a:pt x="648593" y="433050"/>
                  </a:cubicBezTo>
                  <a:lnTo>
                    <a:pt x="149601" y="433050"/>
                  </a:lnTo>
                  <a:cubicBezTo>
                    <a:pt x="109924" y="433050"/>
                    <a:pt x="71873" y="417289"/>
                    <a:pt x="43817" y="389233"/>
                  </a:cubicBezTo>
                  <a:cubicBezTo>
                    <a:pt x="15761" y="361177"/>
                    <a:pt x="0" y="323126"/>
                    <a:pt x="0" y="283449"/>
                  </a:cubicBezTo>
                  <a:lnTo>
                    <a:pt x="0" y="149601"/>
                  </a:lnTo>
                  <a:cubicBezTo>
                    <a:pt x="0" y="66979"/>
                    <a:pt x="66979" y="0"/>
                    <a:pt x="149601" y="0"/>
                  </a:cubicBezTo>
                  <a:close/>
                </a:path>
              </a:pathLst>
            </a:custGeom>
            <a:solidFill>
              <a:srgbClr val="263C92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798194" cy="471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4200386" y="3537623"/>
            <a:ext cx="1262747" cy="1228308"/>
          </a:xfrm>
          <a:custGeom>
            <a:avLst/>
            <a:gdLst/>
            <a:ahLst/>
            <a:cxnLst/>
            <a:rect r="r" b="b" t="t" l="l"/>
            <a:pathLst>
              <a:path h="1228308" w="1262747">
                <a:moveTo>
                  <a:pt x="0" y="0"/>
                </a:moveTo>
                <a:lnTo>
                  <a:pt x="1262747" y="0"/>
                </a:lnTo>
                <a:lnTo>
                  <a:pt x="1262747" y="1228309"/>
                </a:lnTo>
                <a:lnTo>
                  <a:pt x="0" y="12283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6810934" y="3590223"/>
            <a:ext cx="1735170" cy="1255263"/>
          </a:xfrm>
          <a:custGeom>
            <a:avLst/>
            <a:gdLst/>
            <a:ahLst/>
            <a:cxnLst/>
            <a:rect r="r" b="b" t="t" l="l"/>
            <a:pathLst>
              <a:path h="1255263" w="1735170">
                <a:moveTo>
                  <a:pt x="0" y="0"/>
                </a:moveTo>
                <a:lnTo>
                  <a:pt x="1735171" y="0"/>
                </a:lnTo>
                <a:lnTo>
                  <a:pt x="1735171" y="1255263"/>
                </a:lnTo>
                <a:lnTo>
                  <a:pt x="0" y="12552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953428" y="5945632"/>
            <a:ext cx="13854152" cy="1810606"/>
            <a:chOff x="0" y="0"/>
            <a:chExt cx="3648830" cy="47686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648830" cy="476867"/>
            </a:xfrm>
            <a:custGeom>
              <a:avLst/>
              <a:gdLst/>
              <a:ahLst/>
              <a:cxnLst/>
              <a:rect r="r" b="b" t="t" l="l"/>
              <a:pathLst>
                <a:path h="476867" w="3648830">
                  <a:moveTo>
                    <a:pt x="28500" y="0"/>
                  </a:moveTo>
                  <a:lnTo>
                    <a:pt x="3620331" y="0"/>
                  </a:lnTo>
                  <a:cubicBezTo>
                    <a:pt x="3636070" y="0"/>
                    <a:pt x="3648830" y="12760"/>
                    <a:pt x="3648830" y="28500"/>
                  </a:cubicBezTo>
                  <a:lnTo>
                    <a:pt x="3648830" y="448368"/>
                  </a:lnTo>
                  <a:cubicBezTo>
                    <a:pt x="3648830" y="455926"/>
                    <a:pt x="3645827" y="463175"/>
                    <a:pt x="3640483" y="468520"/>
                  </a:cubicBezTo>
                  <a:cubicBezTo>
                    <a:pt x="3635138" y="473865"/>
                    <a:pt x="3627889" y="476867"/>
                    <a:pt x="3620331" y="476867"/>
                  </a:cubicBezTo>
                  <a:lnTo>
                    <a:pt x="28500" y="476867"/>
                  </a:lnTo>
                  <a:cubicBezTo>
                    <a:pt x="12760" y="476867"/>
                    <a:pt x="0" y="464108"/>
                    <a:pt x="0" y="448368"/>
                  </a:cubicBezTo>
                  <a:lnTo>
                    <a:pt x="0" y="28500"/>
                  </a:lnTo>
                  <a:cubicBezTo>
                    <a:pt x="0" y="12760"/>
                    <a:pt x="12760" y="0"/>
                    <a:pt x="28500" y="0"/>
                  </a:cubicBezTo>
                  <a:close/>
                </a:path>
              </a:pathLst>
            </a:custGeom>
            <a:solidFill>
              <a:srgbClr val="E4E8F8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3648830" cy="5149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0">
            <a:off x="1471525" y="7490826"/>
            <a:ext cx="1147050" cy="1601212"/>
          </a:xfrm>
          <a:custGeom>
            <a:avLst/>
            <a:gdLst/>
            <a:ahLst/>
            <a:cxnLst/>
            <a:rect r="r" b="b" t="t" l="l"/>
            <a:pathLst>
              <a:path h="1601212" w="1147050">
                <a:moveTo>
                  <a:pt x="0" y="0"/>
                </a:moveTo>
                <a:lnTo>
                  <a:pt x="1147050" y="0"/>
                </a:lnTo>
                <a:lnTo>
                  <a:pt x="1147050" y="1601211"/>
                </a:lnTo>
                <a:lnTo>
                  <a:pt x="0" y="160121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9653458" y="4896305"/>
            <a:ext cx="1859547" cy="386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1"/>
              </a:lnSpc>
            </a:pPr>
            <a:r>
              <a:rPr lang="en-US" b="true" sz="2723">
                <a:solidFill>
                  <a:srgbClr val="0D0B8A"/>
                </a:solidFill>
                <a:latin typeface="Inter Bold"/>
                <a:ea typeface="Inter Bold"/>
                <a:cs typeface="Inter Bold"/>
                <a:sym typeface="Inter Bold"/>
              </a:rPr>
              <a:t>Urbanisasi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9945890" y="3602333"/>
            <a:ext cx="1274683" cy="1297387"/>
          </a:xfrm>
          <a:custGeom>
            <a:avLst/>
            <a:gdLst/>
            <a:ahLst/>
            <a:cxnLst/>
            <a:rect r="r" b="b" t="t" l="l"/>
            <a:pathLst>
              <a:path h="1297387" w="1274683">
                <a:moveTo>
                  <a:pt x="0" y="0"/>
                </a:moveTo>
                <a:lnTo>
                  <a:pt x="1274683" y="0"/>
                </a:lnTo>
                <a:lnTo>
                  <a:pt x="1274683" y="1297387"/>
                </a:lnTo>
                <a:lnTo>
                  <a:pt x="0" y="129738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2798724" y="3602333"/>
            <a:ext cx="1408852" cy="1344813"/>
          </a:xfrm>
          <a:custGeom>
            <a:avLst/>
            <a:gdLst/>
            <a:ahLst/>
            <a:cxnLst/>
            <a:rect r="r" b="b" t="t" l="l"/>
            <a:pathLst>
              <a:path h="1344813" w="1408852">
                <a:moveTo>
                  <a:pt x="0" y="0"/>
                </a:moveTo>
                <a:lnTo>
                  <a:pt x="1408852" y="0"/>
                </a:lnTo>
                <a:lnTo>
                  <a:pt x="1408852" y="1344814"/>
                </a:lnTo>
                <a:lnTo>
                  <a:pt x="0" y="134481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7" id="37"/>
          <p:cNvGrpSpPr/>
          <p:nvPr/>
        </p:nvGrpSpPr>
        <p:grpSpPr>
          <a:xfrm rot="0">
            <a:off x="2823227" y="8184113"/>
            <a:ext cx="12641549" cy="1094437"/>
            <a:chOff x="0" y="0"/>
            <a:chExt cx="3329462" cy="288247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329462" cy="288247"/>
            </a:xfrm>
            <a:custGeom>
              <a:avLst/>
              <a:gdLst/>
              <a:ahLst/>
              <a:cxnLst/>
              <a:rect r="r" b="b" t="t" l="l"/>
              <a:pathLst>
                <a:path h="288247" w="3329462">
                  <a:moveTo>
                    <a:pt x="11024" y="0"/>
                  </a:moveTo>
                  <a:lnTo>
                    <a:pt x="3318438" y="0"/>
                  </a:lnTo>
                  <a:cubicBezTo>
                    <a:pt x="3321362" y="0"/>
                    <a:pt x="3324165" y="1161"/>
                    <a:pt x="3326233" y="3229"/>
                  </a:cubicBezTo>
                  <a:cubicBezTo>
                    <a:pt x="3328300" y="5296"/>
                    <a:pt x="3329462" y="8100"/>
                    <a:pt x="3329462" y="11024"/>
                  </a:cubicBezTo>
                  <a:lnTo>
                    <a:pt x="3329462" y="277223"/>
                  </a:lnTo>
                  <a:cubicBezTo>
                    <a:pt x="3329462" y="280147"/>
                    <a:pt x="3328300" y="282951"/>
                    <a:pt x="3326233" y="285018"/>
                  </a:cubicBezTo>
                  <a:cubicBezTo>
                    <a:pt x="3324165" y="287086"/>
                    <a:pt x="3321362" y="288247"/>
                    <a:pt x="3318438" y="288247"/>
                  </a:cubicBezTo>
                  <a:lnTo>
                    <a:pt x="11024" y="288247"/>
                  </a:lnTo>
                  <a:cubicBezTo>
                    <a:pt x="8100" y="288247"/>
                    <a:pt x="5296" y="287086"/>
                    <a:pt x="3229" y="285018"/>
                  </a:cubicBezTo>
                  <a:cubicBezTo>
                    <a:pt x="1161" y="282951"/>
                    <a:pt x="0" y="280147"/>
                    <a:pt x="0" y="277223"/>
                  </a:cubicBezTo>
                  <a:lnTo>
                    <a:pt x="0" y="11024"/>
                  </a:lnTo>
                  <a:cubicBezTo>
                    <a:pt x="0" y="8100"/>
                    <a:pt x="1161" y="5296"/>
                    <a:pt x="3229" y="3229"/>
                  </a:cubicBezTo>
                  <a:cubicBezTo>
                    <a:pt x="5296" y="1161"/>
                    <a:pt x="8100" y="0"/>
                    <a:pt x="11024" y="0"/>
                  </a:cubicBezTo>
                  <a:close/>
                </a:path>
              </a:pathLst>
            </a:custGeom>
            <a:solidFill>
              <a:srgbClr val="FCDF21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3329462" cy="3263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40" id="40"/>
          <p:cNvSpPr/>
          <p:nvPr/>
        </p:nvSpPr>
        <p:spPr>
          <a:xfrm flipH="false" flipV="false" rot="0">
            <a:off x="14669993" y="5261251"/>
            <a:ext cx="3300196" cy="3030180"/>
          </a:xfrm>
          <a:custGeom>
            <a:avLst/>
            <a:gdLst/>
            <a:ahLst/>
            <a:cxnLst/>
            <a:rect r="r" b="b" t="t" l="l"/>
            <a:pathLst>
              <a:path h="3030180" w="3300196">
                <a:moveTo>
                  <a:pt x="0" y="0"/>
                </a:moveTo>
                <a:lnTo>
                  <a:pt x="3300197" y="0"/>
                </a:lnTo>
                <a:lnTo>
                  <a:pt x="3300197" y="3030181"/>
                </a:lnTo>
                <a:lnTo>
                  <a:pt x="0" y="303018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3102515" y="2055203"/>
            <a:ext cx="14351726" cy="1166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3"/>
              </a:lnSpc>
            </a:pPr>
            <a:r>
              <a:rPr lang="en-US" sz="2799" b="true">
                <a:solidFill>
                  <a:srgbClr val="263C92"/>
                </a:solidFill>
                <a:latin typeface="Inter Bold"/>
                <a:ea typeface="Inter Bold"/>
                <a:cs typeface="Inter Bold"/>
                <a:sym typeface="Inter Bold"/>
              </a:rPr>
              <a:t>PM 2.5</a:t>
            </a:r>
            <a:r>
              <a:rPr lang="en-US" sz="2799">
                <a:solidFill>
                  <a:srgbClr val="263C92"/>
                </a:solidFill>
                <a:latin typeface="Inter"/>
                <a:ea typeface="Inter"/>
                <a:cs typeface="Inter"/>
                <a:sym typeface="Inter"/>
              </a:rPr>
              <a:t> merupakan polutan udara berbahaya yang mampu menembus saluran pernapasan hingga ke pembuluh darah, sehingga menjadi </a:t>
            </a:r>
            <a:r>
              <a:rPr lang="en-US" sz="2799" b="true">
                <a:solidFill>
                  <a:srgbClr val="263C92"/>
                </a:solidFill>
                <a:latin typeface="Inter Bold"/>
                <a:ea typeface="Inter Bold"/>
                <a:cs typeface="Inter Bold"/>
                <a:sym typeface="Inter Bold"/>
              </a:rPr>
              <a:t>salah satu isu kesehatan dan lingkungan utama</a:t>
            </a:r>
            <a:r>
              <a:rPr lang="en-US" sz="2799">
                <a:solidFill>
                  <a:srgbClr val="263C92"/>
                </a:solidFill>
                <a:latin typeface="Inter"/>
                <a:ea typeface="Inter"/>
                <a:cs typeface="Inter"/>
                <a:sym typeface="Inter"/>
              </a:rPr>
              <a:t> di kawasan perkotaan seperti </a:t>
            </a:r>
            <a:r>
              <a:rPr lang="en-US" sz="2799" b="true">
                <a:solidFill>
                  <a:srgbClr val="263C92"/>
                </a:solidFill>
                <a:latin typeface="Inter Bold"/>
                <a:ea typeface="Inter Bold"/>
                <a:cs typeface="Inter Bold"/>
                <a:sym typeface="Inter Bold"/>
              </a:rPr>
              <a:t>DKI Jakarta</a:t>
            </a:r>
            <a:r>
              <a:rPr lang="en-US" sz="2799">
                <a:solidFill>
                  <a:srgbClr val="263C92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4133703" y="4928295"/>
            <a:ext cx="1396112" cy="384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1"/>
              </a:lnSpc>
            </a:pPr>
            <a:r>
              <a:rPr lang="en-US" sz="2723" b="true">
                <a:solidFill>
                  <a:srgbClr val="0D0B8A"/>
                </a:solidFill>
                <a:latin typeface="Inter Bold"/>
                <a:ea typeface="Inter Bold"/>
                <a:cs typeface="Inter Bold"/>
                <a:sym typeface="Inter Bold"/>
              </a:rPr>
              <a:t>Industri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6574384" y="4928295"/>
            <a:ext cx="2208271" cy="386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1"/>
              </a:lnSpc>
            </a:pPr>
            <a:r>
              <a:rPr lang="en-US" sz="2723" b="true">
                <a:solidFill>
                  <a:srgbClr val="F5F5F6"/>
                </a:solidFill>
                <a:latin typeface="Inter Bold"/>
                <a:ea typeface="Inter Bold"/>
                <a:cs typeface="Inter Bold"/>
                <a:sym typeface="Inter Bold"/>
              </a:rPr>
              <a:t>Transportasi</a:t>
            </a:r>
          </a:p>
        </p:txBody>
      </p:sp>
      <p:sp>
        <p:nvSpPr>
          <p:cNvPr name="Freeform 44" id="44"/>
          <p:cNvSpPr/>
          <p:nvPr/>
        </p:nvSpPr>
        <p:spPr>
          <a:xfrm flipH="false" flipV="false" rot="0">
            <a:off x="419117" y="1538883"/>
            <a:ext cx="2199457" cy="2180212"/>
          </a:xfrm>
          <a:custGeom>
            <a:avLst/>
            <a:gdLst/>
            <a:ahLst/>
            <a:cxnLst/>
            <a:rect r="r" b="b" t="t" l="l"/>
            <a:pathLst>
              <a:path h="2180212" w="2199457">
                <a:moveTo>
                  <a:pt x="0" y="0"/>
                </a:moveTo>
                <a:lnTo>
                  <a:pt x="2199458" y="0"/>
                </a:lnTo>
                <a:lnTo>
                  <a:pt x="2199458" y="2180212"/>
                </a:lnTo>
                <a:lnTo>
                  <a:pt x="0" y="218021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12456527" y="4874061"/>
            <a:ext cx="2093245" cy="386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1"/>
              </a:lnSpc>
            </a:pPr>
            <a:r>
              <a:rPr lang="en-US" sz="2723" b="true">
                <a:solidFill>
                  <a:srgbClr val="F5F5F6"/>
                </a:solidFill>
                <a:latin typeface="Inter Bold"/>
                <a:ea typeface="Inter Bold"/>
                <a:cs typeface="Inter Bold"/>
                <a:sym typeface="Inter Bold"/>
              </a:rPr>
              <a:t>Meteorologi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420046" y="6306486"/>
            <a:ext cx="12920915" cy="1107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16"/>
              </a:lnSpc>
            </a:pPr>
            <a:r>
              <a:rPr lang="en-US" sz="2700" b="true">
                <a:solidFill>
                  <a:srgbClr val="263C92"/>
                </a:solidFill>
                <a:latin typeface="Inter Bold"/>
                <a:ea typeface="Inter Bold"/>
                <a:cs typeface="Inter Bold"/>
                <a:sym typeface="Inter Bold"/>
              </a:rPr>
              <a:t>Pemantauan PM 2.5</a:t>
            </a:r>
            <a:r>
              <a:rPr lang="en-US" sz="2700">
                <a:solidFill>
                  <a:srgbClr val="263C92"/>
                </a:solidFill>
                <a:latin typeface="Inter"/>
                <a:ea typeface="Inter"/>
                <a:cs typeface="Inter"/>
                <a:sym typeface="Inter"/>
              </a:rPr>
              <a:t> di </a:t>
            </a:r>
            <a:r>
              <a:rPr lang="en-US" sz="2700" b="true">
                <a:solidFill>
                  <a:srgbClr val="263C92"/>
                </a:solidFill>
                <a:latin typeface="Inter Bold"/>
                <a:ea typeface="Inter Bold"/>
                <a:cs typeface="Inter Bold"/>
                <a:sym typeface="Inter Bold"/>
              </a:rPr>
              <a:t>DKI Jakarta</a:t>
            </a:r>
            <a:r>
              <a:rPr lang="en-US" sz="2700">
                <a:solidFill>
                  <a:srgbClr val="263C92"/>
                </a:solidFill>
                <a:latin typeface="Inter"/>
                <a:ea typeface="Inter"/>
                <a:cs typeface="Inter"/>
                <a:sym typeface="Inter"/>
              </a:rPr>
              <a:t> hanya tersedia di </a:t>
            </a:r>
            <a:r>
              <a:rPr lang="en-US" sz="2700" b="true">
                <a:solidFill>
                  <a:srgbClr val="263C92"/>
                </a:solidFill>
                <a:latin typeface="Inter Bold"/>
                <a:ea typeface="Inter Bold"/>
                <a:cs typeface="Inter Bold"/>
                <a:sym typeface="Inter Bold"/>
              </a:rPr>
              <a:t>5 stasiun resmi (SPKU)</a:t>
            </a:r>
            <a:r>
              <a:rPr lang="en-US" sz="2700">
                <a:solidFill>
                  <a:srgbClr val="263C92"/>
                </a:solidFill>
                <a:latin typeface="Inter"/>
                <a:ea typeface="Inter"/>
                <a:cs typeface="Inter"/>
                <a:sym typeface="Inter"/>
              </a:rPr>
              <a:t> yang menyebabkan </a:t>
            </a:r>
            <a:r>
              <a:rPr lang="en-US" sz="2700" b="true">
                <a:solidFill>
                  <a:srgbClr val="263C92"/>
                </a:solidFill>
                <a:latin typeface="Inter Bold"/>
                <a:ea typeface="Inter Bold"/>
                <a:cs typeface="Inter Bold"/>
                <a:sym typeface="Inter Bold"/>
              </a:rPr>
              <a:t>sparsitas spasial ekstrem</a:t>
            </a:r>
            <a:r>
              <a:rPr lang="en-US" sz="2700">
                <a:solidFill>
                  <a:srgbClr val="263C92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2700" b="true">
                <a:solidFill>
                  <a:srgbClr val="263C92"/>
                </a:solidFill>
                <a:latin typeface="Inter Bold"/>
                <a:ea typeface="Inter Bold"/>
                <a:cs typeface="Inter Bold"/>
                <a:sym typeface="Inter Bold"/>
              </a:rPr>
              <a:t>lemahnya diagnostik spasial konvensional</a:t>
            </a:r>
            <a:r>
              <a:rPr lang="en-US" sz="2700">
                <a:solidFill>
                  <a:srgbClr val="263C92"/>
                </a:solidFill>
                <a:latin typeface="Inter"/>
                <a:ea typeface="Inter"/>
                <a:cs typeface="Inter"/>
                <a:sym typeface="Inter"/>
              </a:rPr>
              <a:t>, dan </a:t>
            </a:r>
            <a:r>
              <a:rPr lang="en-US" sz="2700" b="true">
                <a:solidFill>
                  <a:srgbClr val="263C92"/>
                </a:solidFill>
                <a:latin typeface="Inter Bold"/>
                <a:ea typeface="Inter Bold"/>
                <a:cs typeface="Inter Bold"/>
                <a:sym typeface="Inter Bold"/>
              </a:rPr>
              <a:t>keterbatasan informasi</a:t>
            </a:r>
            <a:r>
              <a:rPr lang="en-US" sz="2700">
                <a:solidFill>
                  <a:srgbClr val="263C92"/>
                </a:solidFill>
                <a:latin typeface="Inter"/>
                <a:ea typeface="Inter"/>
                <a:cs typeface="Inter"/>
                <a:sym typeface="Inter"/>
              </a:rPr>
              <a:t> pada wilayah yang tidak terpantau.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3027876" y="8500982"/>
            <a:ext cx="12232248" cy="49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52"/>
              </a:lnSpc>
            </a:pPr>
            <a:r>
              <a:rPr lang="en-US" b="true" sz="3567">
                <a:solidFill>
                  <a:srgbClr val="25632D"/>
                </a:solidFill>
                <a:latin typeface="Inter Bold"/>
                <a:ea typeface="Inter Bold"/>
                <a:cs typeface="Inter Bold"/>
                <a:sym typeface="Inter Bold"/>
              </a:rPr>
              <a:t>Memerlukan Metode Pemodelan Spasial yang Andal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9779760"/>
            <a:ext cx="18288000" cy="507238"/>
            <a:chOff x="0" y="0"/>
            <a:chExt cx="24384000" cy="6763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676275"/>
            </a:xfrm>
            <a:custGeom>
              <a:avLst/>
              <a:gdLst/>
              <a:ahLst/>
              <a:cxnLst/>
              <a:rect r="r" b="b" t="t" l="l"/>
              <a:pathLst>
                <a:path h="6762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76275"/>
                  </a:lnTo>
                  <a:lnTo>
                    <a:pt x="0" y="676275"/>
                  </a:lnTo>
                  <a:close/>
                </a:path>
              </a:pathLst>
            </a:custGeom>
            <a:solidFill>
              <a:srgbClr val="263C92"/>
            </a:solid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0" y="9779762"/>
            <a:ext cx="18288000" cy="507238"/>
            <a:chOff x="0" y="0"/>
            <a:chExt cx="24384000" cy="6763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676275"/>
            </a:xfrm>
            <a:custGeom>
              <a:avLst/>
              <a:gdLst/>
              <a:ahLst/>
              <a:cxnLst/>
              <a:rect r="r" b="b" t="t" l="l"/>
              <a:pathLst>
                <a:path h="6762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76275"/>
                  </a:lnTo>
                  <a:lnTo>
                    <a:pt x="0" y="6762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9681099"/>
            <a:ext cx="18288000" cy="99327"/>
            <a:chOff x="0" y="0"/>
            <a:chExt cx="24384000" cy="13243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132461"/>
            </a:xfrm>
            <a:custGeom>
              <a:avLst/>
              <a:gdLst/>
              <a:ahLst/>
              <a:cxnLst/>
              <a:rect r="r" b="b" t="t" l="l"/>
              <a:pathLst>
                <a:path h="13246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2461"/>
                  </a:lnTo>
                  <a:lnTo>
                    <a:pt x="0" y="132461"/>
                  </a:lnTo>
                  <a:close/>
                </a:path>
              </a:pathLst>
            </a:custGeom>
            <a:solidFill>
              <a:srgbClr val="FED80B"/>
            </a:solid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635619" y="493260"/>
            <a:ext cx="2183244" cy="572066"/>
            <a:chOff x="0" y="0"/>
            <a:chExt cx="2910992" cy="762754"/>
          </a:xfrm>
        </p:grpSpPr>
        <p:sp>
          <p:nvSpPr>
            <p:cNvPr name="Freeform 9" id="9" descr="A blue and black logo  AI-generated content may be incorrect."/>
            <p:cNvSpPr/>
            <p:nvPr/>
          </p:nvSpPr>
          <p:spPr>
            <a:xfrm flipH="false" flipV="false" rot="0">
              <a:off x="0" y="0"/>
              <a:ext cx="2910967" cy="762762"/>
            </a:xfrm>
            <a:custGeom>
              <a:avLst/>
              <a:gdLst/>
              <a:ahLst/>
              <a:cxnLst/>
              <a:rect r="r" b="b" t="t" l="l"/>
              <a:pathLst>
                <a:path h="762762" w="2910967">
                  <a:moveTo>
                    <a:pt x="0" y="0"/>
                  </a:moveTo>
                  <a:lnTo>
                    <a:pt x="2910967" y="0"/>
                  </a:lnTo>
                  <a:lnTo>
                    <a:pt x="2910967" y="762762"/>
                  </a:lnTo>
                  <a:lnTo>
                    <a:pt x="0" y="762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5712649" y="492926"/>
            <a:ext cx="1939733" cy="572400"/>
            <a:chOff x="0" y="0"/>
            <a:chExt cx="2586310" cy="763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86355" cy="763143"/>
            </a:xfrm>
            <a:custGeom>
              <a:avLst/>
              <a:gdLst/>
              <a:ahLst/>
              <a:cxnLst/>
              <a:rect r="r" b="b" t="t" l="l"/>
              <a:pathLst>
                <a:path h="763143" w="2586355">
                  <a:moveTo>
                    <a:pt x="0" y="0"/>
                  </a:moveTo>
                  <a:lnTo>
                    <a:pt x="2586355" y="0"/>
                  </a:lnTo>
                  <a:lnTo>
                    <a:pt x="2586355" y="763143"/>
                  </a:lnTo>
                  <a:lnTo>
                    <a:pt x="0" y="7631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-7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5171442" y="1095375"/>
            <a:ext cx="7945115" cy="960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90"/>
              </a:lnSpc>
            </a:pPr>
            <a:r>
              <a:rPr lang="en-US" sz="6750" b="true">
                <a:solidFill>
                  <a:srgbClr val="263C92"/>
                </a:solidFill>
                <a:latin typeface="Inter Bold"/>
                <a:ea typeface="Inter Bold"/>
                <a:cs typeface="Inter Bold"/>
                <a:sym typeface="Inter Bold"/>
              </a:rPr>
              <a:t>Latar Belakang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37607" y="2380613"/>
            <a:ext cx="5137529" cy="6400763"/>
            <a:chOff x="0" y="0"/>
            <a:chExt cx="6850038" cy="8534351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772412"/>
              <a:ext cx="6850038" cy="7761939"/>
              <a:chOff x="0" y="0"/>
              <a:chExt cx="1353094" cy="1533222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353094" cy="1533222"/>
              </a:xfrm>
              <a:custGeom>
                <a:avLst/>
                <a:gdLst/>
                <a:ahLst/>
                <a:cxnLst/>
                <a:rect r="r" b="b" t="t" l="l"/>
                <a:pathLst>
                  <a:path h="1533222" w="1353094">
                    <a:moveTo>
                      <a:pt x="76854" y="0"/>
                    </a:moveTo>
                    <a:lnTo>
                      <a:pt x="1276240" y="0"/>
                    </a:lnTo>
                    <a:cubicBezTo>
                      <a:pt x="1296623" y="0"/>
                      <a:pt x="1316171" y="8097"/>
                      <a:pt x="1330584" y="22510"/>
                    </a:cubicBezTo>
                    <a:cubicBezTo>
                      <a:pt x="1344997" y="36923"/>
                      <a:pt x="1353094" y="56471"/>
                      <a:pt x="1353094" y="76854"/>
                    </a:cubicBezTo>
                    <a:lnTo>
                      <a:pt x="1353094" y="1456369"/>
                    </a:lnTo>
                    <a:cubicBezTo>
                      <a:pt x="1353094" y="1476752"/>
                      <a:pt x="1344997" y="1496300"/>
                      <a:pt x="1330584" y="1510713"/>
                    </a:cubicBezTo>
                    <a:cubicBezTo>
                      <a:pt x="1316171" y="1525125"/>
                      <a:pt x="1296623" y="1533222"/>
                      <a:pt x="1276240" y="1533222"/>
                    </a:cubicBezTo>
                    <a:lnTo>
                      <a:pt x="76854" y="1533222"/>
                    </a:lnTo>
                    <a:cubicBezTo>
                      <a:pt x="56471" y="1533222"/>
                      <a:pt x="36923" y="1525125"/>
                      <a:pt x="22510" y="1510713"/>
                    </a:cubicBezTo>
                    <a:cubicBezTo>
                      <a:pt x="8097" y="1496300"/>
                      <a:pt x="0" y="1476752"/>
                      <a:pt x="0" y="1456369"/>
                    </a:cubicBezTo>
                    <a:lnTo>
                      <a:pt x="0" y="76854"/>
                    </a:lnTo>
                    <a:cubicBezTo>
                      <a:pt x="0" y="56471"/>
                      <a:pt x="8097" y="36923"/>
                      <a:pt x="22510" y="22510"/>
                    </a:cubicBezTo>
                    <a:cubicBezTo>
                      <a:pt x="36923" y="8097"/>
                      <a:pt x="56471" y="0"/>
                      <a:pt x="76854" y="0"/>
                    </a:cubicBezTo>
                    <a:close/>
                  </a:path>
                </a:pathLst>
              </a:custGeom>
              <a:solidFill>
                <a:srgbClr val="263C92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1353094" cy="15713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13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1776558" y="5096203"/>
              <a:ext cx="3296922" cy="4668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538"/>
                </a:lnSpc>
                <a:spcBef>
                  <a:spcPct val="0"/>
                </a:spcBef>
              </a:pPr>
              <a:r>
                <a:rPr lang="en-US" b="true" sz="235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KELEMAHAN</a:t>
              </a:r>
            </a:p>
          </p:txBody>
        </p:sp>
        <p:grpSp>
          <p:nvGrpSpPr>
            <p:cNvPr name="Group 18" id="18"/>
            <p:cNvGrpSpPr/>
            <p:nvPr/>
          </p:nvGrpSpPr>
          <p:grpSpPr>
            <a:xfrm rot="0">
              <a:off x="0" y="0"/>
              <a:ext cx="6850038" cy="1309878"/>
              <a:chOff x="0" y="0"/>
              <a:chExt cx="1353058" cy="258826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353058" cy="258826"/>
              </a:xfrm>
              <a:custGeom>
                <a:avLst/>
                <a:gdLst/>
                <a:ahLst/>
                <a:cxnLst/>
                <a:rect r="r" b="b" t="t" l="l"/>
                <a:pathLst>
                  <a:path h="258826" w="1353058">
                    <a:moveTo>
                      <a:pt x="1353058" y="42194"/>
                    </a:moveTo>
                    <a:lnTo>
                      <a:pt x="1353058" y="216632"/>
                    </a:lnTo>
                    <a:cubicBezTo>
                      <a:pt x="1353058" y="227822"/>
                      <a:pt x="1348613" y="238555"/>
                      <a:pt x="1340700" y="246468"/>
                    </a:cubicBezTo>
                    <a:cubicBezTo>
                      <a:pt x="1332787" y="254381"/>
                      <a:pt x="1322054" y="258826"/>
                      <a:pt x="1310864" y="258826"/>
                    </a:cubicBezTo>
                    <a:lnTo>
                      <a:pt x="42194" y="258826"/>
                    </a:lnTo>
                    <a:cubicBezTo>
                      <a:pt x="31004" y="258826"/>
                      <a:pt x="20271" y="254381"/>
                      <a:pt x="12358" y="246468"/>
                    </a:cubicBezTo>
                    <a:cubicBezTo>
                      <a:pt x="4445" y="238555"/>
                      <a:pt x="0" y="227822"/>
                      <a:pt x="0" y="216632"/>
                    </a:cubicBezTo>
                    <a:lnTo>
                      <a:pt x="0" y="42194"/>
                    </a:lnTo>
                    <a:cubicBezTo>
                      <a:pt x="0" y="31004"/>
                      <a:pt x="4445" y="20271"/>
                      <a:pt x="12358" y="12358"/>
                    </a:cubicBezTo>
                    <a:cubicBezTo>
                      <a:pt x="20271" y="4445"/>
                      <a:pt x="31004" y="0"/>
                      <a:pt x="42194" y="0"/>
                    </a:cubicBezTo>
                    <a:lnTo>
                      <a:pt x="1310864" y="0"/>
                    </a:lnTo>
                    <a:cubicBezTo>
                      <a:pt x="1322054" y="0"/>
                      <a:pt x="1332787" y="4445"/>
                      <a:pt x="1340700" y="12358"/>
                    </a:cubicBezTo>
                    <a:cubicBezTo>
                      <a:pt x="1348613" y="20271"/>
                      <a:pt x="1353058" y="31004"/>
                      <a:pt x="1353058" y="42194"/>
                    </a:cubicBezTo>
                    <a:close/>
                  </a:path>
                </a:pathLst>
              </a:custGeom>
              <a:solidFill>
                <a:srgbClr val="E4E8F8"/>
              </a:solidFill>
              <a:ln w="38100" cap="rnd">
                <a:solidFill>
                  <a:srgbClr val="263C92"/>
                </a:solidFill>
                <a:prstDash val="solid"/>
                <a:round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1353058" cy="29692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13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1940955" y="2119274"/>
              <a:ext cx="2968128" cy="4668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538"/>
                </a:lnSpc>
                <a:spcBef>
                  <a:spcPct val="0"/>
                </a:spcBef>
              </a:pPr>
              <a:r>
                <a:rPr lang="en-US" b="true" sz="235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KEUNGGULAN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152757" y="120141"/>
              <a:ext cx="6544524" cy="10981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186"/>
                </a:lnSpc>
                <a:spcBef>
                  <a:spcPct val="0"/>
                </a:spcBef>
              </a:pPr>
              <a:r>
                <a:rPr lang="en-US" b="true" sz="2950" i="true">
                  <a:solidFill>
                    <a:srgbClr val="0D0B8A"/>
                  </a:solidFill>
                  <a:latin typeface="Inter Bold Italics"/>
                  <a:ea typeface="Inter Bold Italics"/>
                  <a:cs typeface="Inter Bold Italics"/>
                  <a:sym typeface="Inter Bold Italics"/>
                </a:rPr>
                <a:t>Mach</a:t>
              </a:r>
              <a:r>
                <a:rPr lang="en-US" b="true" sz="2950" i="true" strike="noStrike" u="none">
                  <a:solidFill>
                    <a:srgbClr val="0D0B8A"/>
                  </a:solidFill>
                  <a:latin typeface="Inter Bold Italics"/>
                  <a:ea typeface="Inter Bold Italics"/>
                  <a:cs typeface="Inter Bold Italics"/>
                  <a:sym typeface="Inter Bold Italics"/>
                </a:rPr>
                <a:t>ine Learning </a:t>
              </a:r>
              <a:r>
                <a:rPr lang="en-US" b="true" sz="2950" strike="noStrike" u="none">
                  <a:solidFill>
                    <a:srgbClr val="0D0B8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(XGBoost)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764273" y="5826962"/>
              <a:ext cx="5321492" cy="14043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754"/>
                </a:lnSpc>
                <a:spcBef>
                  <a:spcPct val="0"/>
                </a:spcBef>
              </a:pPr>
              <a:r>
                <a:rPr lang="en-US" sz="25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T</a:t>
              </a:r>
              <a:r>
                <a:rPr lang="en-US" sz="2550" strike="noStrike" u="non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idak dapat memodelkan </a:t>
              </a:r>
              <a:r>
                <a:rPr lang="en-US" b="true" sz="2550" strike="noStrike" u="non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dependensi s</a:t>
              </a:r>
              <a:r>
                <a:rPr lang="en-US" b="true" sz="2550" strike="noStrike" u="non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pasial</a:t>
              </a:r>
              <a:r>
                <a:rPr lang="en-US" sz="2550" strike="noStrike" u="non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 secara eksplisit.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764273" y="2846479"/>
              <a:ext cx="5321492" cy="18615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754"/>
                </a:lnSpc>
                <a:spcBef>
                  <a:spcPct val="0"/>
                </a:spcBef>
              </a:pPr>
              <a:r>
                <a:rPr lang="en-US" b="true" sz="2550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Un</a:t>
              </a:r>
              <a:r>
                <a:rPr lang="en-US" b="true" sz="2550" strike="noStrike" u="non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ggul </a:t>
              </a:r>
              <a:r>
                <a:rPr lang="en-US" sz="2550" strike="noStrike" u="non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menangkap </a:t>
              </a:r>
              <a:r>
                <a:rPr lang="en-US" b="true" sz="2550" strike="noStrike" u="non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hubungan nonlinear </a:t>
              </a:r>
              <a:r>
                <a:rPr lang="en-US" sz="2550" strike="noStrike" u="non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antar variabel meteorologi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577223" y="2384517"/>
            <a:ext cx="5137529" cy="6400763"/>
            <a:chOff x="0" y="0"/>
            <a:chExt cx="6850038" cy="8534351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772412"/>
              <a:ext cx="6850038" cy="7761939"/>
              <a:chOff x="0" y="0"/>
              <a:chExt cx="1353094" cy="1533222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353094" cy="1533222"/>
              </a:xfrm>
              <a:custGeom>
                <a:avLst/>
                <a:gdLst/>
                <a:ahLst/>
                <a:cxnLst/>
                <a:rect r="r" b="b" t="t" l="l"/>
                <a:pathLst>
                  <a:path h="1533222" w="1353094">
                    <a:moveTo>
                      <a:pt x="76854" y="0"/>
                    </a:moveTo>
                    <a:lnTo>
                      <a:pt x="1276240" y="0"/>
                    </a:lnTo>
                    <a:cubicBezTo>
                      <a:pt x="1296623" y="0"/>
                      <a:pt x="1316171" y="8097"/>
                      <a:pt x="1330584" y="22510"/>
                    </a:cubicBezTo>
                    <a:cubicBezTo>
                      <a:pt x="1344997" y="36923"/>
                      <a:pt x="1353094" y="56471"/>
                      <a:pt x="1353094" y="76854"/>
                    </a:cubicBezTo>
                    <a:lnTo>
                      <a:pt x="1353094" y="1456369"/>
                    </a:lnTo>
                    <a:cubicBezTo>
                      <a:pt x="1353094" y="1476752"/>
                      <a:pt x="1344997" y="1496300"/>
                      <a:pt x="1330584" y="1510713"/>
                    </a:cubicBezTo>
                    <a:cubicBezTo>
                      <a:pt x="1316171" y="1525125"/>
                      <a:pt x="1296623" y="1533222"/>
                      <a:pt x="1276240" y="1533222"/>
                    </a:cubicBezTo>
                    <a:lnTo>
                      <a:pt x="76854" y="1533222"/>
                    </a:lnTo>
                    <a:cubicBezTo>
                      <a:pt x="56471" y="1533222"/>
                      <a:pt x="36923" y="1525125"/>
                      <a:pt x="22510" y="1510713"/>
                    </a:cubicBezTo>
                    <a:cubicBezTo>
                      <a:pt x="8097" y="1496300"/>
                      <a:pt x="0" y="1476752"/>
                      <a:pt x="0" y="1456369"/>
                    </a:cubicBezTo>
                    <a:lnTo>
                      <a:pt x="0" y="76854"/>
                    </a:lnTo>
                    <a:cubicBezTo>
                      <a:pt x="0" y="56471"/>
                      <a:pt x="8097" y="36923"/>
                      <a:pt x="22510" y="22510"/>
                    </a:cubicBezTo>
                    <a:cubicBezTo>
                      <a:pt x="36923" y="8097"/>
                      <a:pt x="56471" y="0"/>
                      <a:pt x="76854" y="0"/>
                    </a:cubicBezTo>
                    <a:close/>
                  </a:path>
                </a:pathLst>
              </a:custGeom>
              <a:solidFill>
                <a:srgbClr val="263C92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1353094" cy="15713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13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1776558" y="5096203"/>
              <a:ext cx="3296922" cy="4668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538"/>
                </a:lnSpc>
                <a:spcBef>
                  <a:spcPct val="0"/>
                </a:spcBef>
              </a:pPr>
              <a:r>
                <a:rPr lang="en-US" b="true" sz="235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KELEMAHAN</a:t>
              </a:r>
            </a:p>
          </p:txBody>
        </p:sp>
        <p:grpSp>
          <p:nvGrpSpPr>
            <p:cNvPr name="Group 30" id="30"/>
            <p:cNvGrpSpPr/>
            <p:nvPr/>
          </p:nvGrpSpPr>
          <p:grpSpPr>
            <a:xfrm rot="0">
              <a:off x="0" y="0"/>
              <a:ext cx="6850038" cy="1309878"/>
              <a:chOff x="0" y="0"/>
              <a:chExt cx="1353058" cy="258826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1353058" cy="258826"/>
              </a:xfrm>
              <a:custGeom>
                <a:avLst/>
                <a:gdLst/>
                <a:ahLst/>
                <a:cxnLst/>
                <a:rect r="r" b="b" t="t" l="l"/>
                <a:pathLst>
                  <a:path h="258826" w="1353058">
                    <a:moveTo>
                      <a:pt x="1353058" y="42194"/>
                    </a:moveTo>
                    <a:lnTo>
                      <a:pt x="1353058" y="216632"/>
                    </a:lnTo>
                    <a:cubicBezTo>
                      <a:pt x="1353058" y="227822"/>
                      <a:pt x="1348613" y="238555"/>
                      <a:pt x="1340700" y="246468"/>
                    </a:cubicBezTo>
                    <a:cubicBezTo>
                      <a:pt x="1332787" y="254381"/>
                      <a:pt x="1322054" y="258826"/>
                      <a:pt x="1310864" y="258826"/>
                    </a:cubicBezTo>
                    <a:lnTo>
                      <a:pt x="42194" y="258826"/>
                    </a:lnTo>
                    <a:cubicBezTo>
                      <a:pt x="31004" y="258826"/>
                      <a:pt x="20271" y="254381"/>
                      <a:pt x="12358" y="246468"/>
                    </a:cubicBezTo>
                    <a:cubicBezTo>
                      <a:pt x="4445" y="238555"/>
                      <a:pt x="0" y="227822"/>
                      <a:pt x="0" y="216632"/>
                    </a:cubicBezTo>
                    <a:lnTo>
                      <a:pt x="0" y="42194"/>
                    </a:lnTo>
                    <a:cubicBezTo>
                      <a:pt x="0" y="31004"/>
                      <a:pt x="4445" y="20271"/>
                      <a:pt x="12358" y="12358"/>
                    </a:cubicBezTo>
                    <a:cubicBezTo>
                      <a:pt x="20271" y="4445"/>
                      <a:pt x="31004" y="0"/>
                      <a:pt x="42194" y="0"/>
                    </a:cubicBezTo>
                    <a:lnTo>
                      <a:pt x="1310864" y="0"/>
                    </a:lnTo>
                    <a:cubicBezTo>
                      <a:pt x="1322054" y="0"/>
                      <a:pt x="1332787" y="4445"/>
                      <a:pt x="1340700" y="12358"/>
                    </a:cubicBezTo>
                    <a:cubicBezTo>
                      <a:pt x="1348613" y="20271"/>
                      <a:pt x="1353058" y="31004"/>
                      <a:pt x="1353058" y="42194"/>
                    </a:cubicBezTo>
                    <a:close/>
                  </a:path>
                </a:pathLst>
              </a:custGeom>
              <a:solidFill>
                <a:srgbClr val="E4E8F8"/>
              </a:solidFill>
              <a:ln w="38100" cap="rnd">
                <a:solidFill>
                  <a:srgbClr val="263C92"/>
                </a:solidFill>
                <a:prstDash val="solid"/>
                <a:round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38100"/>
                <a:ext cx="1353058" cy="29692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13"/>
                  </a:lnSpc>
                </a:pP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1940955" y="2119274"/>
              <a:ext cx="2968128" cy="4668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538"/>
                </a:lnSpc>
                <a:spcBef>
                  <a:spcPct val="0"/>
                </a:spcBef>
              </a:pPr>
              <a:r>
                <a:rPr lang="en-US" b="true" sz="235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KEUNGGULAN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152757" y="120141"/>
              <a:ext cx="6544524" cy="10981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86"/>
                </a:lnSpc>
              </a:pPr>
              <a:r>
                <a:rPr lang="en-US" b="true" sz="2950" i="true">
                  <a:solidFill>
                    <a:srgbClr val="0D0B8A"/>
                  </a:solidFill>
                  <a:latin typeface="Inter Bold Italics"/>
                  <a:ea typeface="Inter Bold Italics"/>
                  <a:cs typeface="Inter Bold Italics"/>
                  <a:sym typeface="Inter Bold Italics"/>
                </a:rPr>
                <a:t>Bayesian Spasial </a:t>
              </a:r>
            </a:p>
            <a:p>
              <a:pPr algn="ctr" marL="0" indent="0" lvl="0">
                <a:lnSpc>
                  <a:spcPts val="3186"/>
                </a:lnSpc>
                <a:spcBef>
                  <a:spcPct val="0"/>
                </a:spcBef>
              </a:pPr>
              <a:r>
                <a:rPr lang="en-US" b="true" sz="2950">
                  <a:solidFill>
                    <a:srgbClr val="0D0B8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(INLA-SPDE)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764273" y="5826962"/>
              <a:ext cx="5321492" cy="18615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754"/>
                </a:lnSpc>
                <a:spcBef>
                  <a:spcPct val="0"/>
                </a:spcBef>
              </a:pPr>
              <a:r>
                <a:rPr lang="en-US" b="true" sz="2550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K</a:t>
              </a:r>
              <a:r>
                <a:rPr lang="en-US" b="true" sz="2550" strike="noStrike" u="non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urang fleksibel</a:t>
              </a:r>
              <a:r>
                <a:rPr lang="en-US" sz="2550" strike="noStrike" u="non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 men</a:t>
              </a:r>
              <a:r>
                <a:rPr lang="en-US" sz="2550" strike="noStrike" u="non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a</a:t>
              </a:r>
              <a:r>
                <a:rPr lang="en-US" sz="2550" strike="noStrike" u="non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ngk</a:t>
              </a:r>
              <a:r>
                <a:rPr lang="en-US" sz="2550" strike="noStrike" u="non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a</a:t>
              </a:r>
              <a:r>
                <a:rPr lang="en-US" sz="2550" strike="noStrike" u="non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p </a:t>
              </a:r>
              <a:r>
                <a:rPr lang="en-US" b="true" sz="2550" strike="noStrike" u="non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non</a:t>
              </a:r>
              <a:r>
                <a:rPr lang="en-US" b="true" sz="2550" strike="noStrike" u="non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l</a:t>
              </a:r>
              <a:r>
                <a:rPr lang="en-US" b="true" sz="2550" strike="noStrike" u="non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in</a:t>
              </a:r>
              <a:r>
                <a:rPr lang="en-US" b="true" sz="2550" strike="noStrike" u="non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ear</a:t>
              </a:r>
              <a:r>
                <a:rPr lang="en-US" b="true" sz="2550" strike="noStrike" u="non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it</a:t>
              </a:r>
              <a:r>
                <a:rPr lang="en-US" b="true" sz="2550" strike="noStrike" u="non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</a:t>
              </a:r>
              <a:r>
                <a:rPr lang="en-US" b="true" sz="2550" strike="noStrike" u="non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</a:t>
              </a:r>
              <a:r>
                <a:rPr lang="en-US" b="true" sz="2550" strike="noStrike" u="non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 </a:t>
              </a:r>
              <a:r>
                <a:rPr lang="en-US" sz="2550" strike="noStrike" u="non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d</a:t>
              </a:r>
              <a:r>
                <a:rPr lang="en-US" sz="2550" strike="noStrike" u="non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i</a:t>
              </a:r>
              <a:r>
                <a:rPr lang="en-US" sz="2550" strike="noStrike" u="non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band</a:t>
              </a:r>
              <a:r>
                <a:rPr lang="en-US" sz="2550" strike="noStrike" u="non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i</a:t>
              </a:r>
              <a:r>
                <a:rPr lang="en-US" sz="2550" strike="noStrike" u="non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ng metode </a:t>
              </a:r>
              <a:r>
                <a:rPr lang="en-US" sz="2550" i="true" strike="noStrike" u="none">
                  <a:solidFill>
                    <a:srgbClr val="FFFFFF"/>
                  </a:solidFill>
                  <a:latin typeface="Inter Italics"/>
                  <a:ea typeface="Inter Italics"/>
                  <a:cs typeface="Inter Italics"/>
                  <a:sym typeface="Inter Italics"/>
                </a:rPr>
                <a:t>Machine Learning.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764273" y="2846479"/>
              <a:ext cx="5321492" cy="14043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754"/>
                </a:lnSpc>
                <a:spcBef>
                  <a:spcPct val="0"/>
                </a:spcBef>
              </a:pPr>
              <a:r>
                <a:rPr lang="en-US" sz="25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Mamp</a:t>
              </a:r>
              <a:r>
                <a:rPr lang="en-US" sz="2550" strike="noStrike" u="non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u memodelkan </a:t>
              </a:r>
              <a:r>
                <a:rPr lang="en-US" b="true" sz="2550" strike="noStrike" u="non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dependensi spasial</a:t>
              </a:r>
              <a:r>
                <a:rPr lang="en-US" sz="2550" strike="noStrike" u="non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 secara </a:t>
              </a:r>
              <a:r>
                <a:rPr lang="en-US" b="true" sz="2550" strike="noStrike" u="non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probabilistik</a:t>
              </a:r>
              <a:r>
                <a:rPr lang="en-US" sz="2550" strike="noStrike" u="non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514852" y="2384517"/>
            <a:ext cx="5137529" cy="6400763"/>
            <a:chOff x="0" y="0"/>
            <a:chExt cx="6850038" cy="8534351"/>
          </a:xfrm>
        </p:grpSpPr>
        <p:grpSp>
          <p:nvGrpSpPr>
            <p:cNvPr name="Group 38" id="38"/>
            <p:cNvGrpSpPr/>
            <p:nvPr/>
          </p:nvGrpSpPr>
          <p:grpSpPr>
            <a:xfrm rot="0">
              <a:off x="0" y="772412"/>
              <a:ext cx="6850038" cy="7761939"/>
              <a:chOff x="0" y="0"/>
              <a:chExt cx="1353094" cy="1533222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1353094" cy="1533222"/>
              </a:xfrm>
              <a:custGeom>
                <a:avLst/>
                <a:gdLst/>
                <a:ahLst/>
                <a:cxnLst/>
                <a:rect r="r" b="b" t="t" l="l"/>
                <a:pathLst>
                  <a:path h="1533222" w="1353094">
                    <a:moveTo>
                      <a:pt x="76854" y="0"/>
                    </a:moveTo>
                    <a:lnTo>
                      <a:pt x="1276240" y="0"/>
                    </a:lnTo>
                    <a:cubicBezTo>
                      <a:pt x="1296623" y="0"/>
                      <a:pt x="1316171" y="8097"/>
                      <a:pt x="1330584" y="22510"/>
                    </a:cubicBezTo>
                    <a:cubicBezTo>
                      <a:pt x="1344997" y="36923"/>
                      <a:pt x="1353094" y="56471"/>
                      <a:pt x="1353094" y="76854"/>
                    </a:cubicBezTo>
                    <a:lnTo>
                      <a:pt x="1353094" y="1456369"/>
                    </a:lnTo>
                    <a:cubicBezTo>
                      <a:pt x="1353094" y="1476752"/>
                      <a:pt x="1344997" y="1496300"/>
                      <a:pt x="1330584" y="1510713"/>
                    </a:cubicBezTo>
                    <a:cubicBezTo>
                      <a:pt x="1316171" y="1525125"/>
                      <a:pt x="1296623" y="1533222"/>
                      <a:pt x="1276240" y="1533222"/>
                    </a:cubicBezTo>
                    <a:lnTo>
                      <a:pt x="76854" y="1533222"/>
                    </a:lnTo>
                    <a:cubicBezTo>
                      <a:pt x="56471" y="1533222"/>
                      <a:pt x="36923" y="1525125"/>
                      <a:pt x="22510" y="1510713"/>
                    </a:cubicBezTo>
                    <a:cubicBezTo>
                      <a:pt x="8097" y="1496300"/>
                      <a:pt x="0" y="1476752"/>
                      <a:pt x="0" y="1456369"/>
                    </a:cubicBezTo>
                    <a:lnTo>
                      <a:pt x="0" y="76854"/>
                    </a:lnTo>
                    <a:cubicBezTo>
                      <a:pt x="0" y="56471"/>
                      <a:pt x="8097" y="36923"/>
                      <a:pt x="22510" y="22510"/>
                    </a:cubicBezTo>
                    <a:cubicBezTo>
                      <a:pt x="36923" y="8097"/>
                      <a:pt x="56471" y="0"/>
                      <a:pt x="76854" y="0"/>
                    </a:cubicBezTo>
                    <a:close/>
                  </a:path>
                </a:pathLst>
              </a:custGeom>
              <a:solidFill>
                <a:srgbClr val="263C92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38100"/>
                <a:ext cx="1353094" cy="15713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13"/>
                  </a:lnSpc>
                </a:pPr>
              </a:p>
            </p:txBody>
          </p:sp>
        </p:grpSp>
        <p:sp>
          <p:nvSpPr>
            <p:cNvPr name="TextBox 41" id="41"/>
            <p:cNvSpPr txBox="true"/>
            <p:nvPr/>
          </p:nvSpPr>
          <p:spPr>
            <a:xfrm rot="0">
              <a:off x="1776558" y="5096203"/>
              <a:ext cx="3296922" cy="4668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538"/>
                </a:lnSpc>
                <a:spcBef>
                  <a:spcPct val="0"/>
                </a:spcBef>
              </a:pPr>
              <a:r>
                <a:rPr lang="en-US" b="true" sz="235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KELEMAHAN</a:t>
              </a:r>
            </a:p>
          </p:txBody>
        </p:sp>
        <p:grpSp>
          <p:nvGrpSpPr>
            <p:cNvPr name="Group 42" id="42"/>
            <p:cNvGrpSpPr/>
            <p:nvPr/>
          </p:nvGrpSpPr>
          <p:grpSpPr>
            <a:xfrm rot="0">
              <a:off x="0" y="0"/>
              <a:ext cx="6850038" cy="1309878"/>
              <a:chOff x="0" y="0"/>
              <a:chExt cx="1353058" cy="258826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1353058" cy="258826"/>
              </a:xfrm>
              <a:custGeom>
                <a:avLst/>
                <a:gdLst/>
                <a:ahLst/>
                <a:cxnLst/>
                <a:rect r="r" b="b" t="t" l="l"/>
                <a:pathLst>
                  <a:path h="258826" w="1353058">
                    <a:moveTo>
                      <a:pt x="1353058" y="42194"/>
                    </a:moveTo>
                    <a:lnTo>
                      <a:pt x="1353058" y="216632"/>
                    </a:lnTo>
                    <a:cubicBezTo>
                      <a:pt x="1353058" y="227822"/>
                      <a:pt x="1348613" y="238555"/>
                      <a:pt x="1340700" y="246468"/>
                    </a:cubicBezTo>
                    <a:cubicBezTo>
                      <a:pt x="1332787" y="254381"/>
                      <a:pt x="1322054" y="258826"/>
                      <a:pt x="1310864" y="258826"/>
                    </a:cubicBezTo>
                    <a:lnTo>
                      <a:pt x="42194" y="258826"/>
                    </a:lnTo>
                    <a:cubicBezTo>
                      <a:pt x="31004" y="258826"/>
                      <a:pt x="20271" y="254381"/>
                      <a:pt x="12358" y="246468"/>
                    </a:cubicBezTo>
                    <a:cubicBezTo>
                      <a:pt x="4445" y="238555"/>
                      <a:pt x="0" y="227822"/>
                      <a:pt x="0" y="216632"/>
                    </a:cubicBezTo>
                    <a:lnTo>
                      <a:pt x="0" y="42194"/>
                    </a:lnTo>
                    <a:cubicBezTo>
                      <a:pt x="0" y="31004"/>
                      <a:pt x="4445" y="20271"/>
                      <a:pt x="12358" y="12358"/>
                    </a:cubicBezTo>
                    <a:cubicBezTo>
                      <a:pt x="20271" y="4445"/>
                      <a:pt x="31004" y="0"/>
                      <a:pt x="42194" y="0"/>
                    </a:cubicBezTo>
                    <a:lnTo>
                      <a:pt x="1310864" y="0"/>
                    </a:lnTo>
                    <a:cubicBezTo>
                      <a:pt x="1322054" y="0"/>
                      <a:pt x="1332787" y="4445"/>
                      <a:pt x="1340700" y="12358"/>
                    </a:cubicBezTo>
                    <a:cubicBezTo>
                      <a:pt x="1348613" y="20271"/>
                      <a:pt x="1353058" y="31004"/>
                      <a:pt x="1353058" y="42194"/>
                    </a:cubicBezTo>
                    <a:close/>
                  </a:path>
                </a:pathLst>
              </a:custGeom>
              <a:solidFill>
                <a:srgbClr val="E4E8F8"/>
              </a:solidFill>
              <a:ln w="38100" cap="rnd">
                <a:solidFill>
                  <a:srgbClr val="263C92"/>
                </a:solidFill>
                <a:prstDash val="solid"/>
                <a:round/>
              </a:ln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38100"/>
                <a:ext cx="1353058" cy="29692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13"/>
                  </a:lnSpc>
                </a:pPr>
              </a:p>
            </p:txBody>
          </p:sp>
        </p:grpSp>
        <p:sp>
          <p:nvSpPr>
            <p:cNvPr name="TextBox 45" id="45"/>
            <p:cNvSpPr txBox="true"/>
            <p:nvPr/>
          </p:nvSpPr>
          <p:spPr>
            <a:xfrm rot="0">
              <a:off x="1940955" y="2119274"/>
              <a:ext cx="2968128" cy="4668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538"/>
                </a:lnSpc>
                <a:spcBef>
                  <a:spcPct val="0"/>
                </a:spcBef>
              </a:pPr>
              <a:r>
                <a:rPr lang="en-US" b="true" sz="235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KEUNGGULAN</a:t>
              </a:r>
            </a:p>
          </p:txBody>
        </p:sp>
        <p:sp>
          <p:nvSpPr>
            <p:cNvPr name="TextBox 46" id="46"/>
            <p:cNvSpPr txBox="true"/>
            <p:nvPr/>
          </p:nvSpPr>
          <p:spPr>
            <a:xfrm rot="0">
              <a:off x="152757" y="120141"/>
              <a:ext cx="6544524" cy="10981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186"/>
                </a:lnSpc>
                <a:spcBef>
                  <a:spcPct val="0"/>
                </a:spcBef>
              </a:pPr>
              <a:r>
                <a:rPr lang="en-US" b="true" sz="2950" i="true">
                  <a:solidFill>
                    <a:srgbClr val="0D0B8A"/>
                  </a:solidFill>
                  <a:latin typeface="Inter Bold Italics"/>
                  <a:ea typeface="Inter Bold Italics"/>
                  <a:cs typeface="Inter Bold Italics"/>
                  <a:sym typeface="Inter Bold Italics"/>
                </a:rPr>
                <a:t>Hybrid</a:t>
              </a:r>
              <a:r>
                <a:rPr lang="en-US" b="true" sz="2950" i="true" strike="noStrike" u="none">
                  <a:solidFill>
                    <a:srgbClr val="0D0B8A"/>
                  </a:solidFill>
                  <a:latin typeface="Inter Bold Italics"/>
                  <a:ea typeface="Inter Bold Italics"/>
                  <a:cs typeface="Inter Bold Italics"/>
                  <a:sym typeface="Inter Bold Italics"/>
                </a:rPr>
                <a:t> </a:t>
              </a:r>
              <a:r>
                <a:rPr lang="en-US" b="true" sz="2950" strike="noStrike" u="none">
                  <a:solidFill>
                    <a:srgbClr val="0D0B8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(</a:t>
              </a:r>
              <a:r>
                <a:rPr lang="en-US" b="true" sz="2950" i="true" strike="noStrike" u="none">
                  <a:solidFill>
                    <a:srgbClr val="0D0B8A"/>
                  </a:solidFill>
                  <a:latin typeface="Inter Bold Italics"/>
                  <a:ea typeface="Inter Bold Italics"/>
                  <a:cs typeface="Inter Bold Italics"/>
                  <a:sym typeface="Inter Bold Italics"/>
                </a:rPr>
                <a:t>Machine Learning </a:t>
              </a:r>
              <a:r>
                <a:rPr lang="en-US" b="true" sz="2950" strike="noStrike" u="none">
                  <a:solidFill>
                    <a:srgbClr val="0D0B8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+ </a:t>
              </a:r>
              <a:r>
                <a:rPr lang="en-US" b="true" sz="2950" i="true" strike="noStrike" u="none">
                  <a:solidFill>
                    <a:srgbClr val="0D0B8A"/>
                  </a:solidFill>
                  <a:latin typeface="Inter Bold Italics"/>
                  <a:ea typeface="Inter Bold Italics"/>
                  <a:cs typeface="Inter Bold Italics"/>
                  <a:sym typeface="Inter Bold Italics"/>
                </a:rPr>
                <a:t>Bayesian Spasial</a:t>
              </a:r>
              <a:r>
                <a:rPr lang="en-US" b="true" sz="2950" strike="noStrike" u="none">
                  <a:solidFill>
                    <a:srgbClr val="0D0B8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)</a:t>
              </a: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764273" y="5826962"/>
              <a:ext cx="5321492" cy="23187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754"/>
                </a:lnSpc>
                <a:spcBef>
                  <a:spcPct val="0"/>
                </a:spcBef>
              </a:pPr>
              <a:r>
                <a:rPr lang="en-US" b="true" sz="2550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Efektiv</a:t>
              </a:r>
              <a:r>
                <a:rPr lang="en-US" b="true" sz="2550" strike="noStrike" u="non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itasnya</a:t>
              </a:r>
              <a:r>
                <a:rPr lang="en-US" sz="2550" strike="noStrike" u="non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 pada jaringan pemantauan yang sangat j</a:t>
              </a:r>
              <a:r>
                <a:rPr lang="en-US" sz="2550" strike="noStrike" u="non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a</a:t>
              </a:r>
              <a:r>
                <a:rPr lang="en-US" sz="2550" strike="noStrike" u="non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r</a:t>
              </a:r>
              <a:r>
                <a:rPr lang="en-US" sz="2550" strike="noStrike" u="non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a</a:t>
              </a:r>
              <a:r>
                <a:rPr lang="en-US" sz="2550" strike="noStrike" u="non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ng</a:t>
              </a:r>
              <a:r>
                <a:rPr lang="en-US" sz="2550" strike="noStrike" u="non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2550" strike="noStrike" u="non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(</a:t>
              </a:r>
              <a:r>
                <a:rPr lang="en-US" sz="2550" strike="noStrike" u="non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se</a:t>
              </a:r>
              <a:r>
                <a:rPr lang="en-US" sz="2550" strike="noStrike" u="non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perti Jak</a:t>
              </a:r>
              <a:r>
                <a:rPr lang="en-US" sz="2550" strike="noStrike" u="non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ar</a:t>
              </a:r>
              <a:r>
                <a:rPr lang="en-US" sz="2550" strike="noStrike" u="non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t</a:t>
              </a:r>
              <a:r>
                <a:rPr lang="en-US" sz="2550" strike="noStrike" u="non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a</a:t>
              </a:r>
              <a:r>
                <a:rPr lang="en-US" sz="2550" strike="noStrike" u="non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)</a:t>
              </a:r>
              <a:r>
                <a:rPr lang="en-US" sz="2550" strike="noStrike" u="non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b="true" sz="2550" strike="noStrike" u="non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b</a:t>
              </a:r>
              <a:r>
                <a:rPr lang="en-US" b="true" sz="2550" strike="noStrike" u="non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el</a:t>
              </a:r>
              <a:r>
                <a:rPr lang="en-US" b="true" sz="2550" strike="noStrike" u="non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um banyak d</a:t>
              </a:r>
              <a:r>
                <a:rPr lang="en-US" b="true" sz="2550" strike="noStrike" u="non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i</a:t>
              </a:r>
              <a:r>
                <a:rPr lang="en-US" b="true" sz="2550" strike="noStrike" u="non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kaj</a:t>
              </a:r>
              <a:r>
                <a:rPr lang="en-US" b="true" sz="2550" strike="noStrike" u="non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i</a:t>
              </a:r>
            </a:p>
          </p:txBody>
        </p:sp>
        <p:sp>
          <p:nvSpPr>
            <p:cNvPr name="TextBox 48" id="48"/>
            <p:cNvSpPr txBox="true"/>
            <p:nvPr/>
          </p:nvSpPr>
          <p:spPr>
            <a:xfrm rot="0">
              <a:off x="764273" y="2846479"/>
              <a:ext cx="5321492" cy="14043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754"/>
                </a:lnSpc>
                <a:spcBef>
                  <a:spcPct val="0"/>
                </a:spcBef>
              </a:pPr>
              <a:r>
                <a:rPr lang="en-US" sz="25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Menjanjikan karena mengombinasikan kelebihan dua metode.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9779760"/>
            <a:ext cx="18288000" cy="507238"/>
            <a:chOff x="0" y="0"/>
            <a:chExt cx="24384000" cy="6763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676275"/>
            </a:xfrm>
            <a:custGeom>
              <a:avLst/>
              <a:gdLst/>
              <a:ahLst/>
              <a:cxnLst/>
              <a:rect r="r" b="b" t="t" l="l"/>
              <a:pathLst>
                <a:path h="6762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76275"/>
                  </a:lnTo>
                  <a:lnTo>
                    <a:pt x="0" y="676275"/>
                  </a:lnTo>
                  <a:close/>
                </a:path>
              </a:pathLst>
            </a:custGeom>
            <a:solidFill>
              <a:srgbClr val="263C92"/>
            </a:solid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0" y="9779762"/>
            <a:ext cx="18288000" cy="507238"/>
            <a:chOff x="0" y="0"/>
            <a:chExt cx="24384000" cy="6763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676275"/>
            </a:xfrm>
            <a:custGeom>
              <a:avLst/>
              <a:gdLst/>
              <a:ahLst/>
              <a:cxnLst/>
              <a:rect r="r" b="b" t="t" l="l"/>
              <a:pathLst>
                <a:path h="6762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76275"/>
                  </a:lnTo>
                  <a:lnTo>
                    <a:pt x="0" y="6762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9681099"/>
            <a:ext cx="18288000" cy="99327"/>
            <a:chOff x="0" y="0"/>
            <a:chExt cx="24384000" cy="13243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132461"/>
            </a:xfrm>
            <a:custGeom>
              <a:avLst/>
              <a:gdLst/>
              <a:ahLst/>
              <a:cxnLst/>
              <a:rect r="r" b="b" t="t" l="l"/>
              <a:pathLst>
                <a:path h="13246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2461"/>
                  </a:lnTo>
                  <a:lnTo>
                    <a:pt x="0" y="132461"/>
                  </a:lnTo>
                  <a:close/>
                </a:path>
              </a:pathLst>
            </a:custGeom>
            <a:solidFill>
              <a:srgbClr val="FED80B"/>
            </a:solid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635619" y="493260"/>
            <a:ext cx="2183244" cy="572066"/>
            <a:chOff x="0" y="0"/>
            <a:chExt cx="2910992" cy="762754"/>
          </a:xfrm>
        </p:grpSpPr>
        <p:sp>
          <p:nvSpPr>
            <p:cNvPr name="Freeform 9" id="9" descr="A blue and black logo  AI-generated content may be incorrect."/>
            <p:cNvSpPr/>
            <p:nvPr/>
          </p:nvSpPr>
          <p:spPr>
            <a:xfrm flipH="false" flipV="false" rot="0">
              <a:off x="0" y="0"/>
              <a:ext cx="2910967" cy="762762"/>
            </a:xfrm>
            <a:custGeom>
              <a:avLst/>
              <a:gdLst/>
              <a:ahLst/>
              <a:cxnLst/>
              <a:rect r="r" b="b" t="t" l="l"/>
              <a:pathLst>
                <a:path h="762762" w="2910967">
                  <a:moveTo>
                    <a:pt x="0" y="0"/>
                  </a:moveTo>
                  <a:lnTo>
                    <a:pt x="2910967" y="0"/>
                  </a:lnTo>
                  <a:lnTo>
                    <a:pt x="2910967" y="762762"/>
                  </a:lnTo>
                  <a:lnTo>
                    <a:pt x="0" y="762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5712649" y="492926"/>
            <a:ext cx="1939733" cy="572400"/>
            <a:chOff x="0" y="0"/>
            <a:chExt cx="2586310" cy="763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86355" cy="763143"/>
            </a:xfrm>
            <a:custGeom>
              <a:avLst/>
              <a:gdLst/>
              <a:ahLst/>
              <a:cxnLst/>
              <a:rect r="r" b="b" t="t" l="l"/>
              <a:pathLst>
                <a:path h="763143" w="2586355">
                  <a:moveTo>
                    <a:pt x="0" y="0"/>
                  </a:moveTo>
                  <a:lnTo>
                    <a:pt x="2586355" y="0"/>
                  </a:lnTo>
                  <a:lnTo>
                    <a:pt x="2586355" y="763143"/>
                  </a:lnTo>
                  <a:lnTo>
                    <a:pt x="0" y="7631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-7"/>
              </a:stretch>
            </a:blipFill>
          </p:spPr>
        </p:sp>
      </p:grpSp>
      <p:sp>
        <p:nvSpPr>
          <p:cNvPr name="AutoShape 12" id="12"/>
          <p:cNvSpPr/>
          <p:nvPr/>
        </p:nvSpPr>
        <p:spPr>
          <a:xfrm>
            <a:off x="9291650" y="5375540"/>
            <a:ext cx="0" cy="1071035"/>
          </a:xfrm>
          <a:prstGeom prst="line">
            <a:avLst/>
          </a:prstGeom>
          <a:ln cap="flat" w="66675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3" id="13"/>
          <p:cNvGrpSpPr/>
          <p:nvPr/>
        </p:nvGrpSpPr>
        <p:grpSpPr>
          <a:xfrm rot="0">
            <a:off x="9752297" y="5308443"/>
            <a:ext cx="7485350" cy="1794602"/>
            <a:chOff x="0" y="0"/>
            <a:chExt cx="1971450" cy="47265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71450" cy="472652"/>
            </a:xfrm>
            <a:custGeom>
              <a:avLst/>
              <a:gdLst/>
              <a:ahLst/>
              <a:cxnLst/>
              <a:rect r="r" b="b" t="t" l="l"/>
              <a:pathLst>
                <a:path h="472652" w="1971450">
                  <a:moveTo>
                    <a:pt x="52748" y="0"/>
                  </a:moveTo>
                  <a:lnTo>
                    <a:pt x="1918702" y="0"/>
                  </a:lnTo>
                  <a:cubicBezTo>
                    <a:pt x="1947834" y="0"/>
                    <a:pt x="1971450" y="23616"/>
                    <a:pt x="1971450" y="52748"/>
                  </a:cubicBezTo>
                  <a:lnTo>
                    <a:pt x="1971450" y="419904"/>
                  </a:lnTo>
                  <a:cubicBezTo>
                    <a:pt x="1971450" y="449036"/>
                    <a:pt x="1947834" y="472652"/>
                    <a:pt x="1918702" y="472652"/>
                  </a:cubicBezTo>
                  <a:lnTo>
                    <a:pt x="52748" y="472652"/>
                  </a:lnTo>
                  <a:cubicBezTo>
                    <a:pt x="23616" y="472652"/>
                    <a:pt x="0" y="449036"/>
                    <a:pt x="0" y="419904"/>
                  </a:cubicBezTo>
                  <a:lnTo>
                    <a:pt x="0" y="52748"/>
                  </a:lnTo>
                  <a:cubicBezTo>
                    <a:pt x="0" y="23616"/>
                    <a:pt x="23616" y="0"/>
                    <a:pt x="52748" y="0"/>
                  </a:cubicBezTo>
                  <a:close/>
                </a:path>
              </a:pathLst>
            </a:custGeom>
            <a:solidFill>
              <a:srgbClr val="E4E8F8"/>
            </a:solidFill>
            <a:ln w="38100" cap="rnd">
              <a:solidFill>
                <a:srgbClr val="263C92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19050"/>
              <a:ext cx="1971450" cy="4536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4"/>
                </a:lnSpc>
              </a:pPr>
            </a:p>
          </p:txBody>
        </p:sp>
      </p:grpSp>
      <p:sp>
        <p:nvSpPr>
          <p:cNvPr name="AutoShape 16" id="16"/>
          <p:cNvSpPr/>
          <p:nvPr/>
        </p:nvSpPr>
        <p:spPr>
          <a:xfrm flipV="true">
            <a:off x="9167812" y="2147409"/>
            <a:ext cx="4762" cy="7253621"/>
          </a:xfrm>
          <a:prstGeom prst="line">
            <a:avLst/>
          </a:prstGeom>
          <a:ln cap="flat" w="47625">
            <a:solidFill>
              <a:srgbClr val="263C92"/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1176350" y="2978903"/>
            <a:ext cx="7485350" cy="1839330"/>
            <a:chOff x="0" y="0"/>
            <a:chExt cx="1971450" cy="48443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71450" cy="484433"/>
            </a:xfrm>
            <a:custGeom>
              <a:avLst/>
              <a:gdLst/>
              <a:ahLst/>
              <a:cxnLst/>
              <a:rect r="r" b="b" t="t" l="l"/>
              <a:pathLst>
                <a:path h="484433" w="1971450">
                  <a:moveTo>
                    <a:pt x="52748" y="0"/>
                  </a:moveTo>
                  <a:lnTo>
                    <a:pt x="1918702" y="0"/>
                  </a:lnTo>
                  <a:cubicBezTo>
                    <a:pt x="1947834" y="0"/>
                    <a:pt x="1971450" y="23616"/>
                    <a:pt x="1971450" y="52748"/>
                  </a:cubicBezTo>
                  <a:lnTo>
                    <a:pt x="1971450" y="431684"/>
                  </a:lnTo>
                  <a:cubicBezTo>
                    <a:pt x="1971450" y="460816"/>
                    <a:pt x="1947834" y="484433"/>
                    <a:pt x="1918702" y="484433"/>
                  </a:cubicBezTo>
                  <a:lnTo>
                    <a:pt x="52748" y="484433"/>
                  </a:lnTo>
                  <a:cubicBezTo>
                    <a:pt x="23616" y="484433"/>
                    <a:pt x="0" y="460816"/>
                    <a:pt x="0" y="431684"/>
                  </a:cubicBezTo>
                  <a:lnTo>
                    <a:pt x="0" y="52748"/>
                  </a:lnTo>
                  <a:cubicBezTo>
                    <a:pt x="0" y="23616"/>
                    <a:pt x="23616" y="0"/>
                    <a:pt x="52748" y="0"/>
                  </a:cubicBezTo>
                  <a:close/>
                </a:path>
              </a:pathLst>
            </a:custGeom>
            <a:solidFill>
              <a:srgbClr val="E4E8F8"/>
            </a:solidFill>
            <a:ln w="38100" cap="rnd">
              <a:solidFill>
                <a:srgbClr val="263C92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19050"/>
              <a:ext cx="1971450" cy="4653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4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2923004" y="3653216"/>
            <a:ext cx="4263554" cy="1048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54"/>
              </a:lnSpc>
              <a:spcBef>
                <a:spcPct val="0"/>
              </a:spcBef>
            </a:pPr>
            <a:r>
              <a:rPr lang="en-US" sz="25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Keberadaan </a:t>
            </a:r>
            <a:r>
              <a:rPr lang="en-US" b="true" sz="255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autokorelasi spasial</a:t>
            </a:r>
            <a:r>
              <a:rPr lang="en-US" sz="25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(kemiripan antarwilayah)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176350" y="7231391"/>
            <a:ext cx="7485350" cy="1914118"/>
            <a:chOff x="0" y="0"/>
            <a:chExt cx="1971450" cy="50413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971450" cy="504130"/>
            </a:xfrm>
            <a:custGeom>
              <a:avLst/>
              <a:gdLst/>
              <a:ahLst/>
              <a:cxnLst/>
              <a:rect r="r" b="b" t="t" l="l"/>
              <a:pathLst>
                <a:path h="504130" w="1971450">
                  <a:moveTo>
                    <a:pt x="52748" y="0"/>
                  </a:moveTo>
                  <a:lnTo>
                    <a:pt x="1918702" y="0"/>
                  </a:lnTo>
                  <a:cubicBezTo>
                    <a:pt x="1947834" y="0"/>
                    <a:pt x="1971450" y="23616"/>
                    <a:pt x="1971450" y="52748"/>
                  </a:cubicBezTo>
                  <a:lnTo>
                    <a:pt x="1971450" y="451382"/>
                  </a:lnTo>
                  <a:cubicBezTo>
                    <a:pt x="1971450" y="480514"/>
                    <a:pt x="1947834" y="504130"/>
                    <a:pt x="1918702" y="504130"/>
                  </a:cubicBezTo>
                  <a:lnTo>
                    <a:pt x="52748" y="504130"/>
                  </a:lnTo>
                  <a:cubicBezTo>
                    <a:pt x="23616" y="504130"/>
                    <a:pt x="0" y="480514"/>
                    <a:pt x="0" y="451382"/>
                  </a:cubicBezTo>
                  <a:lnTo>
                    <a:pt x="0" y="52748"/>
                  </a:lnTo>
                  <a:cubicBezTo>
                    <a:pt x="0" y="23616"/>
                    <a:pt x="23616" y="0"/>
                    <a:pt x="52748" y="0"/>
                  </a:cubicBezTo>
                  <a:close/>
                </a:path>
              </a:pathLst>
            </a:custGeom>
            <a:solidFill>
              <a:srgbClr val="E4E8F8"/>
            </a:solidFill>
            <a:ln w="38100" cap="rnd">
              <a:solidFill>
                <a:srgbClr val="263C92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19050"/>
              <a:ext cx="1971450" cy="4850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4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76350" y="4991586"/>
            <a:ext cx="7485350" cy="2121197"/>
            <a:chOff x="0" y="0"/>
            <a:chExt cx="1971450" cy="55866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971450" cy="558669"/>
            </a:xfrm>
            <a:custGeom>
              <a:avLst/>
              <a:gdLst/>
              <a:ahLst/>
              <a:cxnLst/>
              <a:rect r="r" b="b" t="t" l="l"/>
              <a:pathLst>
                <a:path h="558669" w="1971450">
                  <a:moveTo>
                    <a:pt x="52748" y="0"/>
                  </a:moveTo>
                  <a:lnTo>
                    <a:pt x="1918702" y="0"/>
                  </a:lnTo>
                  <a:cubicBezTo>
                    <a:pt x="1947834" y="0"/>
                    <a:pt x="1971450" y="23616"/>
                    <a:pt x="1971450" y="52748"/>
                  </a:cubicBezTo>
                  <a:lnTo>
                    <a:pt x="1971450" y="505921"/>
                  </a:lnTo>
                  <a:cubicBezTo>
                    <a:pt x="1971450" y="535053"/>
                    <a:pt x="1947834" y="558669"/>
                    <a:pt x="1918702" y="558669"/>
                  </a:cubicBezTo>
                  <a:lnTo>
                    <a:pt x="52748" y="558669"/>
                  </a:lnTo>
                  <a:cubicBezTo>
                    <a:pt x="23616" y="558669"/>
                    <a:pt x="0" y="535053"/>
                    <a:pt x="0" y="505921"/>
                  </a:cubicBezTo>
                  <a:lnTo>
                    <a:pt x="0" y="52748"/>
                  </a:lnTo>
                  <a:cubicBezTo>
                    <a:pt x="0" y="23616"/>
                    <a:pt x="23616" y="0"/>
                    <a:pt x="52748" y="0"/>
                  </a:cubicBezTo>
                  <a:close/>
                </a:path>
              </a:pathLst>
            </a:custGeom>
            <a:solidFill>
              <a:srgbClr val="E4E8F8"/>
            </a:solidFill>
            <a:ln w="38100" cap="rnd">
              <a:solidFill>
                <a:srgbClr val="263C92"/>
              </a:soli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19050"/>
              <a:ext cx="1971450" cy="5396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4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752297" y="2967567"/>
            <a:ext cx="7485350" cy="2126186"/>
            <a:chOff x="0" y="0"/>
            <a:chExt cx="1971450" cy="55998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971450" cy="559983"/>
            </a:xfrm>
            <a:custGeom>
              <a:avLst/>
              <a:gdLst/>
              <a:ahLst/>
              <a:cxnLst/>
              <a:rect r="r" b="b" t="t" l="l"/>
              <a:pathLst>
                <a:path h="559983" w="1971450">
                  <a:moveTo>
                    <a:pt x="52748" y="0"/>
                  </a:moveTo>
                  <a:lnTo>
                    <a:pt x="1918702" y="0"/>
                  </a:lnTo>
                  <a:cubicBezTo>
                    <a:pt x="1947834" y="0"/>
                    <a:pt x="1971450" y="23616"/>
                    <a:pt x="1971450" y="52748"/>
                  </a:cubicBezTo>
                  <a:lnTo>
                    <a:pt x="1971450" y="507235"/>
                  </a:lnTo>
                  <a:cubicBezTo>
                    <a:pt x="1971450" y="536367"/>
                    <a:pt x="1947834" y="559983"/>
                    <a:pt x="1918702" y="559983"/>
                  </a:cubicBezTo>
                  <a:lnTo>
                    <a:pt x="52748" y="559983"/>
                  </a:lnTo>
                  <a:cubicBezTo>
                    <a:pt x="23616" y="559983"/>
                    <a:pt x="0" y="536367"/>
                    <a:pt x="0" y="507235"/>
                  </a:cubicBezTo>
                  <a:lnTo>
                    <a:pt x="0" y="52748"/>
                  </a:lnTo>
                  <a:cubicBezTo>
                    <a:pt x="0" y="23616"/>
                    <a:pt x="23616" y="0"/>
                    <a:pt x="52748" y="0"/>
                  </a:cubicBezTo>
                  <a:close/>
                </a:path>
              </a:pathLst>
            </a:custGeom>
            <a:solidFill>
              <a:srgbClr val="E4E8F8"/>
            </a:solidFill>
            <a:ln w="38100" cap="rnd">
              <a:solidFill>
                <a:srgbClr val="263C92"/>
              </a:solidFill>
              <a:prstDash val="solid"/>
              <a:round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19050"/>
              <a:ext cx="1971450" cy="5409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4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752297" y="7341170"/>
            <a:ext cx="7485350" cy="1794602"/>
            <a:chOff x="0" y="0"/>
            <a:chExt cx="1971450" cy="47265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971450" cy="472652"/>
            </a:xfrm>
            <a:custGeom>
              <a:avLst/>
              <a:gdLst/>
              <a:ahLst/>
              <a:cxnLst/>
              <a:rect r="r" b="b" t="t" l="l"/>
              <a:pathLst>
                <a:path h="472652" w="1971450">
                  <a:moveTo>
                    <a:pt x="52748" y="0"/>
                  </a:moveTo>
                  <a:lnTo>
                    <a:pt x="1918702" y="0"/>
                  </a:lnTo>
                  <a:cubicBezTo>
                    <a:pt x="1947834" y="0"/>
                    <a:pt x="1971450" y="23616"/>
                    <a:pt x="1971450" y="52748"/>
                  </a:cubicBezTo>
                  <a:lnTo>
                    <a:pt x="1971450" y="419904"/>
                  </a:lnTo>
                  <a:cubicBezTo>
                    <a:pt x="1971450" y="449036"/>
                    <a:pt x="1947834" y="472652"/>
                    <a:pt x="1918702" y="472652"/>
                  </a:cubicBezTo>
                  <a:lnTo>
                    <a:pt x="52748" y="472652"/>
                  </a:lnTo>
                  <a:cubicBezTo>
                    <a:pt x="23616" y="472652"/>
                    <a:pt x="0" y="449036"/>
                    <a:pt x="0" y="419904"/>
                  </a:cubicBezTo>
                  <a:lnTo>
                    <a:pt x="0" y="52748"/>
                  </a:lnTo>
                  <a:cubicBezTo>
                    <a:pt x="0" y="23616"/>
                    <a:pt x="23616" y="0"/>
                    <a:pt x="52748" y="0"/>
                  </a:cubicBezTo>
                  <a:close/>
                </a:path>
              </a:pathLst>
            </a:custGeom>
            <a:solidFill>
              <a:srgbClr val="E4E8F8"/>
            </a:solidFill>
            <a:ln w="38100" cap="rnd">
              <a:solidFill>
                <a:srgbClr val="263C92"/>
              </a:solidFill>
              <a:prstDash val="solid"/>
              <a:round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19050"/>
              <a:ext cx="1971450" cy="4536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4"/>
                </a:lnSpc>
              </a:pP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0">
            <a:off x="659826" y="2137582"/>
            <a:ext cx="1215065" cy="1227338"/>
          </a:xfrm>
          <a:custGeom>
            <a:avLst/>
            <a:gdLst/>
            <a:ahLst/>
            <a:cxnLst/>
            <a:rect r="r" b="b" t="t" l="l"/>
            <a:pathLst>
              <a:path h="1227338" w="1215065">
                <a:moveTo>
                  <a:pt x="0" y="0"/>
                </a:moveTo>
                <a:lnTo>
                  <a:pt x="1215065" y="0"/>
                </a:lnTo>
                <a:lnTo>
                  <a:pt x="1215065" y="1227339"/>
                </a:lnTo>
                <a:lnTo>
                  <a:pt x="0" y="122733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true" flipV="false" rot="0">
            <a:off x="15806736" y="1610652"/>
            <a:ext cx="1035291" cy="1365491"/>
          </a:xfrm>
          <a:custGeom>
            <a:avLst/>
            <a:gdLst/>
            <a:ahLst/>
            <a:cxnLst/>
            <a:rect r="r" b="b" t="t" l="l"/>
            <a:pathLst>
              <a:path h="1365491" w="1035291">
                <a:moveTo>
                  <a:pt x="1035290" y="0"/>
                </a:moveTo>
                <a:lnTo>
                  <a:pt x="0" y="0"/>
                </a:lnTo>
                <a:lnTo>
                  <a:pt x="0" y="1365492"/>
                </a:lnTo>
                <a:lnTo>
                  <a:pt x="1035290" y="1365492"/>
                </a:lnTo>
                <a:lnTo>
                  <a:pt x="103529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1176350" y="2185494"/>
            <a:ext cx="7825619" cy="565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18"/>
              </a:lnSpc>
            </a:pPr>
            <a:r>
              <a:rPr lang="en-US" b="true" sz="3998">
                <a:solidFill>
                  <a:srgbClr val="667ACD"/>
                </a:solidFill>
                <a:latin typeface="Inter Bold"/>
                <a:ea typeface="Inter Bold"/>
                <a:cs typeface="Inter Bold"/>
                <a:sym typeface="Inter Bold"/>
              </a:rPr>
              <a:t>Gap Penelitian Terdahulu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506718" y="7531225"/>
            <a:ext cx="6824614" cy="134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499" b="true">
                <a:solidFill>
                  <a:srgbClr val="0D0B8A"/>
                </a:solidFill>
                <a:latin typeface="Inter Bold"/>
                <a:ea typeface="Inter Bold"/>
                <a:cs typeface="Inter Bold"/>
                <a:sym typeface="Inter Bold"/>
              </a:rPr>
              <a:t>Stasiun pemantauan PM2.5</a:t>
            </a:r>
            <a:r>
              <a:rPr lang="en-US" sz="2499">
                <a:solidFill>
                  <a:srgbClr val="0D0B8A"/>
                </a:solidFill>
                <a:latin typeface="Inter"/>
                <a:ea typeface="Inter"/>
                <a:cs typeface="Inter"/>
                <a:sym typeface="Inter"/>
              </a:rPr>
              <a:t> di Jakarta  hanya terdiri dari </a:t>
            </a:r>
            <a:r>
              <a:rPr lang="en-US" sz="2499" b="true">
                <a:solidFill>
                  <a:srgbClr val="0D0B8A"/>
                </a:solidFill>
                <a:latin typeface="Inter Bold"/>
                <a:ea typeface="Inter Bold"/>
                <a:cs typeface="Inter Bold"/>
                <a:sym typeface="Inter Bold"/>
              </a:rPr>
              <a:t>5 stasiun resmi</a:t>
            </a:r>
            <a:r>
              <a:rPr lang="en-US" sz="2499">
                <a:solidFill>
                  <a:srgbClr val="0D0B8A"/>
                </a:solidFill>
                <a:latin typeface="Inter"/>
                <a:ea typeface="Inter"/>
                <a:cs typeface="Inter"/>
                <a:sym typeface="Inter"/>
              </a:rPr>
              <a:t> yang menyebabkan </a:t>
            </a:r>
            <a:r>
              <a:rPr lang="en-US" sz="2499" b="true">
                <a:solidFill>
                  <a:srgbClr val="0D0B8A"/>
                </a:solidFill>
                <a:latin typeface="Inter Bold"/>
                <a:ea typeface="Inter Bold"/>
                <a:cs typeface="Inter Bold"/>
                <a:sym typeface="Inter Bold"/>
              </a:rPr>
              <a:t>sparsitas spasial</a:t>
            </a:r>
            <a:r>
              <a:rPr lang="en-US" sz="2499">
                <a:solidFill>
                  <a:srgbClr val="0D0B8A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99" b="true">
                <a:solidFill>
                  <a:srgbClr val="0D0B8A"/>
                </a:solidFill>
                <a:latin typeface="Inter Bold"/>
                <a:ea typeface="Inter Bold"/>
                <a:cs typeface="Inter Bold"/>
                <a:sym typeface="Inter Bold"/>
              </a:rPr>
              <a:t>ekstrem</a:t>
            </a:r>
            <a:r>
              <a:rPr lang="en-US" sz="2499">
                <a:solidFill>
                  <a:srgbClr val="0D0B8A"/>
                </a:solidFill>
                <a:latin typeface="Inter"/>
                <a:ea typeface="Inter"/>
                <a:cs typeface="Inter"/>
                <a:sym typeface="Inter"/>
              </a:rPr>
              <a:t> dan </a:t>
            </a:r>
            <a:r>
              <a:rPr lang="en-US" sz="2499" b="true">
                <a:solidFill>
                  <a:srgbClr val="0D0B8A"/>
                </a:solidFill>
                <a:latin typeface="Inter Bold"/>
                <a:ea typeface="Inter Bold"/>
                <a:cs typeface="Inter Bold"/>
                <a:sym typeface="Inter Bold"/>
              </a:rPr>
              <a:t>lemahnya diagnostik konvensional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147918" y="5560237"/>
            <a:ext cx="6694109" cy="134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499">
                <a:solidFill>
                  <a:srgbClr val="0D0B8A"/>
                </a:solidFill>
                <a:latin typeface="Inter"/>
                <a:ea typeface="Inter"/>
                <a:cs typeface="Inter"/>
                <a:sym typeface="Inter"/>
              </a:rPr>
              <a:t>Membandingkan ketiga model menggunakan Leave One Station Out Cross Validation (</a:t>
            </a:r>
            <a:r>
              <a:rPr lang="en-US" sz="2499" b="true">
                <a:solidFill>
                  <a:srgbClr val="0D0B8A"/>
                </a:solidFill>
                <a:latin typeface="Inter Bold"/>
                <a:ea typeface="Inter Bold"/>
                <a:cs typeface="Inter Bold"/>
                <a:sym typeface="Inter Bold"/>
              </a:rPr>
              <a:t>LOSO-CV</a:t>
            </a:r>
            <a:r>
              <a:rPr lang="en-US" sz="2499">
                <a:solidFill>
                  <a:srgbClr val="0D0B8A"/>
                </a:solidFill>
                <a:latin typeface="Inter"/>
                <a:ea typeface="Inter"/>
                <a:cs typeface="Inter"/>
                <a:sym typeface="Inter"/>
              </a:rPr>
              <a:t>) pada lokasi yang tidak terpantau.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3659220" y="865313"/>
            <a:ext cx="10969561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6000" b="true">
                <a:solidFill>
                  <a:srgbClr val="263C92"/>
                </a:solidFill>
                <a:latin typeface="Inter Bold"/>
                <a:ea typeface="Inter Bold"/>
                <a:cs typeface="Inter Bold"/>
                <a:sym typeface="Inter Bold"/>
              </a:rPr>
              <a:t>Gap dan Tujuan Penelitan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582163" y="2182734"/>
            <a:ext cx="7825619" cy="565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18"/>
              </a:lnSpc>
              <a:spcBef>
                <a:spcPct val="0"/>
              </a:spcBef>
            </a:pPr>
            <a:r>
              <a:rPr lang="en-US" b="true" sz="3998" strike="noStrike" u="none">
                <a:solidFill>
                  <a:srgbClr val="667ACD"/>
                </a:solidFill>
                <a:latin typeface="Inter Bold"/>
                <a:ea typeface="Inter Bold"/>
                <a:cs typeface="Inter Bold"/>
                <a:sym typeface="Inter Bold"/>
              </a:rPr>
              <a:t>Tujuan Penelitian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727241" y="3229461"/>
            <a:ext cx="6824614" cy="134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499">
                <a:solidFill>
                  <a:srgbClr val="0D0B8A"/>
                </a:solidFill>
                <a:latin typeface="Inter"/>
                <a:ea typeface="Inter"/>
                <a:cs typeface="Inter"/>
                <a:sym typeface="Inter"/>
              </a:rPr>
              <a:t>Pendekatan </a:t>
            </a:r>
            <a:r>
              <a:rPr lang="en-US" sz="2499" i="true" b="true">
                <a:solidFill>
                  <a:srgbClr val="0D0B8A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hybrid</a:t>
            </a:r>
            <a:r>
              <a:rPr lang="en-US" sz="2499" b="true">
                <a:solidFill>
                  <a:srgbClr val="0D0B8A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sz="2499" i="true" b="true">
                <a:solidFill>
                  <a:srgbClr val="0D0B8A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machine-learning-Bayesian</a:t>
            </a:r>
            <a:r>
              <a:rPr lang="en-US" sz="2499">
                <a:solidFill>
                  <a:srgbClr val="0D0B8A"/>
                </a:solidFill>
                <a:latin typeface="Inter"/>
                <a:ea typeface="Inter"/>
                <a:cs typeface="Inter"/>
                <a:sym typeface="Inter"/>
              </a:rPr>
              <a:t> spasial umumnya diuji pada wilayah dengan jaringan pemantauan yang relatif </a:t>
            </a:r>
            <a:r>
              <a:rPr lang="en-US" sz="2499" b="true">
                <a:solidFill>
                  <a:srgbClr val="0D0B8A"/>
                </a:solidFill>
                <a:latin typeface="Inter Bold"/>
                <a:ea typeface="Inter Bold"/>
                <a:cs typeface="Inter Bold"/>
                <a:sym typeface="Inter Bold"/>
              </a:rPr>
              <a:t>padat</a:t>
            </a:r>
            <a:r>
              <a:rPr lang="en-US" sz="2499">
                <a:solidFill>
                  <a:srgbClr val="0D0B8A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506718" y="5284958"/>
            <a:ext cx="6824614" cy="1627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2400" b="true">
                <a:solidFill>
                  <a:srgbClr val="0D0B8A"/>
                </a:solidFill>
                <a:latin typeface="Inter Bold"/>
                <a:ea typeface="Inter Bold"/>
                <a:cs typeface="Inter Bold"/>
                <a:sym typeface="Inter Bold"/>
              </a:rPr>
              <a:t>Efektivitas</a:t>
            </a:r>
            <a:r>
              <a:rPr lang="en-US" sz="2400">
                <a:solidFill>
                  <a:srgbClr val="0D0B8A"/>
                </a:solidFill>
                <a:latin typeface="Inter"/>
                <a:ea typeface="Inter"/>
                <a:cs typeface="Inter"/>
                <a:sym typeface="Inter"/>
              </a:rPr>
              <a:t> pendekatan hybrid ML-Bayesian pada kondisi pemantauan yang sangat jarang masih </a:t>
            </a:r>
            <a:r>
              <a:rPr lang="en-US" sz="2400" b="true">
                <a:solidFill>
                  <a:srgbClr val="0D0B8A"/>
                </a:solidFill>
                <a:latin typeface="Inter Bold"/>
                <a:ea typeface="Inter Bold"/>
                <a:cs typeface="Inter Bold"/>
                <a:sym typeface="Inter Bold"/>
              </a:rPr>
              <a:t>belum banyak dieksplorasi</a:t>
            </a:r>
            <a:r>
              <a:rPr lang="en-US" sz="2400">
                <a:solidFill>
                  <a:srgbClr val="0D0B8A"/>
                </a:solidFill>
                <a:latin typeface="Inter"/>
                <a:ea typeface="Inter"/>
                <a:cs typeface="Inter"/>
                <a:sym typeface="Inter"/>
              </a:rPr>
              <a:t>, khususnya di wilayah dengan kondisi penduduk yang padat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147918" y="3206747"/>
            <a:ext cx="6694109" cy="167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499" b="true">
                <a:solidFill>
                  <a:srgbClr val="0D0B8A"/>
                </a:solidFill>
                <a:latin typeface="Inter Bold"/>
                <a:ea typeface="Inter Bold"/>
                <a:cs typeface="Inter Bold"/>
                <a:sym typeface="Inter Bold"/>
              </a:rPr>
              <a:t>Mengevaluasi performa</a:t>
            </a:r>
            <a:r>
              <a:rPr lang="en-US" sz="2499">
                <a:solidFill>
                  <a:srgbClr val="0D0B8A"/>
                </a:solidFill>
                <a:latin typeface="Inter"/>
                <a:ea typeface="Inter"/>
                <a:cs typeface="Inter"/>
                <a:sym typeface="Inter"/>
              </a:rPr>
              <a:t> model </a:t>
            </a:r>
            <a:r>
              <a:rPr lang="en-US" sz="2499" i="true">
                <a:solidFill>
                  <a:srgbClr val="0D0B8A"/>
                </a:solidFill>
                <a:latin typeface="Inter Italics"/>
                <a:ea typeface="Inter Italics"/>
                <a:cs typeface="Inter Italics"/>
                <a:sym typeface="Inter Italics"/>
              </a:rPr>
              <a:t>machine learning</a:t>
            </a:r>
            <a:r>
              <a:rPr lang="en-US" sz="2499">
                <a:solidFill>
                  <a:srgbClr val="0D0B8A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lang="en-US" sz="2499" b="true">
                <a:solidFill>
                  <a:srgbClr val="0D0B8A"/>
                </a:solidFill>
                <a:latin typeface="Inter Bold"/>
                <a:ea typeface="Inter Bold"/>
                <a:cs typeface="Inter Bold"/>
                <a:sym typeface="Inter Bold"/>
              </a:rPr>
              <a:t>XGBoost</a:t>
            </a:r>
            <a:r>
              <a:rPr lang="en-US" sz="2499">
                <a:solidFill>
                  <a:srgbClr val="0D0B8A"/>
                </a:solidFill>
                <a:latin typeface="Inter"/>
                <a:ea typeface="Inter"/>
                <a:cs typeface="Inter"/>
                <a:sym typeface="Inter"/>
              </a:rPr>
              <a:t>), Bayesian spasial hierarkis (</a:t>
            </a:r>
            <a:r>
              <a:rPr lang="en-US" sz="2499" b="true">
                <a:solidFill>
                  <a:srgbClr val="0D0B8A"/>
                </a:solidFill>
                <a:latin typeface="Inter Bold"/>
                <a:ea typeface="Inter Bold"/>
                <a:cs typeface="Inter Bold"/>
                <a:sym typeface="Inter Bold"/>
              </a:rPr>
              <a:t>INLA-SPDE</a:t>
            </a:r>
            <a:r>
              <a:rPr lang="en-US" sz="2499">
                <a:solidFill>
                  <a:srgbClr val="0D0B8A"/>
                </a:solidFill>
                <a:latin typeface="Inter"/>
                <a:ea typeface="Inter"/>
                <a:cs typeface="Inter"/>
                <a:sym typeface="Inter"/>
              </a:rPr>
              <a:t>) dan model hybrid </a:t>
            </a:r>
            <a:r>
              <a:rPr lang="en-US" sz="2499" b="true">
                <a:solidFill>
                  <a:srgbClr val="0D0B8A"/>
                </a:solidFill>
                <a:latin typeface="Inter Bold"/>
                <a:ea typeface="Inter Bold"/>
                <a:cs typeface="Inter Bold"/>
                <a:sym typeface="Inter Bold"/>
              </a:rPr>
              <a:t>XGBoost-SPDE</a:t>
            </a:r>
            <a:r>
              <a:rPr lang="en-US" sz="2499">
                <a:solidFill>
                  <a:srgbClr val="0D0B8A"/>
                </a:solidFill>
                <a:latin typeface="Inter"/>
                <a:ea typeface="Inter"/>
                <a:cs typeface="Inter"/>
                <a:sym typeface="Inter"/>
              </a:rPr>
              <a:t> untuk </a:t>
            </a:r>
            <a:r>
              <a:rPr lang="en-US" sz="2499" b="true">
                <a:solidFill>
                  <a:srgbClr val="0D0B8A"/>
                </a:solidFill>
                <a:latin typeface="Inter Bold"/>
                <a:ea typeface="Inter Bold"/>
                <a:cs typeface="Inter Bold"/>
                <a:sym typeface="Inter Bold"/>
              </a:rPr>
              <a:t>estimasi PM2.5</a:t>
            </a:r>
            <a:r>
              <a:rPr lang="en-US" sz="2499">
                <a:solidFill>
                  <a:srgbClr val="0D0B8A"/>
                </a:solidFill>
                <a:latin typeface="Inter"/>
                <a:ea typeface="Inter"/>
                <a:cs typeface="Inter"/>
                <a:sym typeface="Inter"/>
              </a:rPr>
              <a:t> di DKI Jakarta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147918" y="7581246"/>
            <a:ext cx="7038640" cy="134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499">
                <a:solidFill>
                  <a:srgbClr val="0D0B8A"/>
                </a:solidFill>
                <a:latin typeface="Inter"/>
                <a:ea typeface="Inter"/>
                <a:cs typeface="Inter"/>
                <a:sym typeface="Inter"/>
              </a:rPr>
              <a:t>Memberikan </a:t>
            </a:r>
            <a:r>
              <a:rPr lang="en-US" sz="2499" b="true">
                <a:solidFill>
                  <a:srgbClr val="0D0B8A"/>
                </a:solidFill>
                <a:latin typeface="Inter Bold"/>
                <a:ea typeface="Inter Bold"/>
                <a:cs typeface="Inter Bold"/>
                <a:sym typeface="Inter Bold"/>
              </a:rPr>
              <a:t>bukti</a:t>
            </a:r>
            <a:r>
              <a:rPr lang="en-US" sz="2499">
                <a:solidFill>
                  <a:srgbClr val="0D0B8A"/>
                </a:solidFill>
                <a:latin typeface="Inter"/>
                <a:ea typeface="Inter"/>
                <a:cs typeface="Inter"/>
                <a:sym typeface="Inter"/>
              </a:rPr>
              <a:t> empiris </a:t>
            </a:r>
            <a:r>
              <a:rPr lang="en-US" sz="2499" b="true">
                <a:solidFill>
                  <a:srgbClr val="0D0B8A"/>
                </a:solidFill>
                <a:latin typeface="Inter Bold"/>
                <a:ea typeface="Inter Bold"/>
                <a:cs typeface="Inter Bold"/>
                <a:sym typeface="Inter Bold"/>
              </a:rPr>
              <a:t>kesesuaian pendekatan</a:t>
            </a:r>
            <a:r>
              <a:rPr lang="en-US" sz="2499">
                <a:solidFill>
                  <a:srgbClr val="0D0B8A"/>
                </a:solidFill>
                <a:latin typeface="Inter"/>
                <a:ea typeface="Inter"/>
                <a:cs typeface="Inter"/>
                <a:sym typeface="Inter"/>
              </a:rPr>
              <a:t> Bayesian spatial dan hybrid ML-Bayesian pada kondisi pemantauan yang </a:t>
            </a:r>
            <a:r>
              <a:rPr lang="en-US" sz="2499" i="true">
                <a:solidFill>
                  <a:srgbClr val="0D0B8A"/>
                </a:solidFill>
                <a:latin typeface="Inter Italics"/>
                <a:ea typeface="Inter Italics"/>
                <a:cs typeface="Inter Italics"/>
                <a:sym typeface="Inter Italics"/>
              </a:rPr>
              <a:t>sparse</a:t>
            </a:r>
            <a:r>
              <a:rPr lang="en-US" sz="2499">
                <a:solidFill>
                  <a:srgbClr val="0D0B8A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63C9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1286"/>
            <a:ext cx="18288000" cy="10284429"/>
            <a:chOff x="0" y="0"/>
            <a:chExt cx="24384000" cy="13712572"/>
          </a:xfrm>
        </p:grpSpPr>
        <p:sp>
          <p:nvSpPr>
            <p:cNvPr name="Freeform 3" id="3" descr="A black background with blue and black border  AI-generated content may be incorrect.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634340" y="492926"/>
            <a:ext cx="2184524" cy="572400"/>
            <a:chOff x="0" y="0"/>
            <a:chExt cx="2912698" cy="763200"/>
          </a:xfrm>
        </p:grpSpPr>
        <p:sp>
          <p:nvSpPr>
            <p:cNvPr name="Freeform 5" id="5" descr="A black and white logo  AI-generated content may be incorrect."/>
            <p:cNvSpPr/>
            <p:nvPr/>
          </p:nvSpPr>
          <p:spPr>
            <a:xfrm flipH="false" flipV="false" rot="0">
              <a:off x="0" y="0"/>
              <a:ext cx="2912745" cy="763143"/>
            </a:xfrm>
            <a:custGeom>
              <a:avLst/>
              <a:gdLst/>
              <a:ahLst/>
              <a:cxnLst/>
              <a:rect r="r" b="b" t="t" l="l"/>
              <a:pathLst>
                <a:path h="763143" w="2912745">
                  <a:moveTo>
                    <a:pt x="0" y="0"/>
                  </a:moveTo>
                  <a:lnTo>
                    <a:pt x="2912745" y="0"/>
                  </a:lnTo>
                  <a:lnTo>
                    <a:pt x="2912745" y="763143"/>
                  </a:lnTo>
                  <a:lnTo>
                    <a:pt x="0" y="7631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-7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928812" y="4554490"/>
            <a:ext cx="12301041" cy="960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90"/>
              </a:lnSpc>
            </a:pPr>
            <a:r>
              <a:rPr lang="en-US" sz="675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Metodologi Penelitian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960169" y="3098445"/>
            <a:ext cx="1669160" cy="1100138"/>
            <a:chOff x="0" y="0"/>
            <a:chExt cx="2225546" cy="14668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25548" cy="1466850"/>
            </a:xfrm>
            <a:custGeom>
              <a:avLst/>
              <a:gdLst/>
              <a:ahLst/>
              <a:cxnLst/>
              <a:rect r="r" b="b" t="t" l="l"/>
              <a:pathLst>
                <a:path h="1466850" w="2225548">
                  <a:moveTo>
                    <a:pt x="0" y="0"/>
                  </a:moveTo>
                  <a:lnTo>
                    <a:pt x="2225548" y="0"/>
                  </a:lnTo>
                  <a:lnTo>
                    <a:pt x="2225548" y="1466850"/>
                  </a:lnTo>
                  <a:lnTo>
                    <a:pt x="0" y="1466850"/>
                  </a:lnTo>
                  <a:close/>
                </a:path>
              </a:pathLst>
            </a:custGeom>
            <a:solidFill>
              <a:srgbClr val="FED80B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2818863" y="3193695"/>
            <a:ext cx="478497" cy="1270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720"/>
              </a:lnSpc>
            </a:pPr>
            <a:r>
              <a:rPr lang="en-US" sz="9000" b="true">
                <a:solidFill>
                  <a:srgbClr val="263C92"/>
                </a:solidFill>
                <a:latin typeface="Inter Bold"/>
                <a:ea typeface="Inter Bold"/>
                <a:cs typeface="Inter Bold"/>
                <a:sym typeface="Inter Bold"/>
              </a:rPr>
              <a:t>2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360949" y="3098445"/>
            <a:ext cx="1198440" cy="1100137"/>
          </a:xfrm>
          <a:custGeom>
            <a:avLst/>
            <a:gdLst/>
            <a:ahLst/>
            <a:cxnLst/>
            <a:rect r="r" b="b" t="t" l="l"/>
            <a:pathLst>
              <a:path h="1100137" w="1198440">
                <a:moveTo>
                  <a:pt x="0" y="0"/>
                </a:moveTo>
                <a:lnTo>
                  <a:pt x="1198440" y="0"/>
                </a:lnTo>
                <a:lnTo>
                  <a:pt x="1198440" y="1100137"/>
                </a:lnTo>
                <a:lnTo>
                  <a:pt x="0" y="11001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15712649" y="492926"/>
            <a:ext cx="1939734" cy="572400"/>
            <a:chOff x="0" y="0"/>
            <a:chExt cx="2586312" cy="763200"/>
          </a:xfrm>
        </p:grpSpPr>
        <p:sp>
          <p:nvSpPr>
            <p:cNvPr name="Freeform 12" id="12" descr="A black background with white text  AI-generated content may be incorrect."/>
            <p:cNvSpPr/>
            <p:nvPr/>
          </p:nvSpPr>
          <p:spPr>
            <a:xfrm flipH="false" flipV="false" rot="0">
              <a:off x="0" y="0"/>
              <a:ext cx="2586355" cy="763143"/>
            </a:xfrm>
            <a:custGeom>
              <a:avLst/>
              <a:gdLst/>
              <a:ahLst/>
              <a:cxnLst/>
              <a:rect r="r" b="b" t="t" l="l"/>
              <a:pathLst>
                <a:path h="763143" w="2586355">
                  <a:moveTo>
                    <a:pt x="0" y="0"/>
                  </a:moveTo>
                  <a:lnTo>
                    <a:pt x="2586355" y="0"/>
                  </a:lnTo>
                  <a:lnTo>
                    <a:pt x="2586355" y="763143"/>
                  </a:lnTo>
                  <a:lnTo>
                    <a:pt x="0" y="7631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-7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9779760"/>
            <a:ext cx="18288000" cy="507238"/>
            <a:chOff x="0" y="0"/>
            <a:chExt cx="24384000" cy="6763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676275"/>
            </a:xfrm>
            <a:custGeom>
              <a:avLst/>
              <a:gdLst/>
              <a:ahLst/>
              <a:cxnLst/>
              <a:rect r="r" b="b" t="t" l="l"/>
              <a:pathLst>
                <a:path h="6762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76275"/>
                  </a:lnTo>
                  <a:lnTo>
                    <a:pt x="0" y="676275"/>
                  </a:lnTo>
                  <a:close/>
                </a:path>
              </a:pathLst>
            </a:custGeom>
            <a:solidFill>
              <a:srgbClr val="263C92"/>
            </a:solid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0" y="9779762"/>
            <a:ext cx="18288000" cy="507238"/>
            <a:chOff x="0" y="0"/>
            <a:chExt cx="24384000" cy="6763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676275"/>
            </a:xfrm>
            <a:custGeom>
              <a:avLst/>
              <a:gdLst/>
              <a:ahLst/>
              <a:cxnLst/>
              <a:rect r="r" b="b" t="t" l="l"/>
              <a:pathLst>
                <a:path h="6762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76275"/>
                  </a:lnTo>
                  <a:lnTo>
                    <a:pt x="0" y="6762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9681099"/>
            <a:ext cx="18288000" cy="99327"/>
            <a:chOff x="0" y="0"/>
            <a:chExt cx="24384000" cy="13243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132461"/>
            </a:xfrm>
            <a:custGeom>
              <a:avLst/>
              <a:gdLst/>
              <a:ahLst/>
              <a:cxnLst/>
              <a:rect r="r" b="b" t="t" l="l"/>
              <a:pathLst>
                <a:path h="13246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2461"/>
                  </a:lnTo>
                  <a:lnTo>
                    <a:pt x="0" y="132461"/>
                  </a:lnTo>
                  <a:close/>
                </a:path>
              </a:pathLst>
            </a:custGeom>
            <a:solidFill>
              <a:srgbClr val="FED80B"/>
            </a:solid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635619" y="493260"/>
            <a:ext cx="2183244" cy="572066"/>
            <a:chOff x="0" y="0"/>
            <a:chExt cx="2910992" cy="762754"/>
          </a:xfrm>
        </p:grpSpPr>
        <p:sp>
          <p:nvSpPr>
            <p:cNvPr name="Freeform 9" id="9" descr="A blue and black logo  AI-generated content may be incorrect."/>
            <p:cNvSpPr/>
            <p:nvPr/>
          </p:nvSpPr>
          <p:spPr>
            <a:xfrm flipH="false" flipV="false" rot="0">
              <a:off x="0" y="0"/>
              <a:ext cx="2910967" cy="762762"/>
            </a:xfrm>
            <a:custGeom>
              <a:avLst/>
              <a:gdLst/>
              <a:ahLst/>
              <a:cxnLst/>
              <a:rect r="r" b="b" t="t" l="l"/>
              <a:pathLst>
                <a:path h="762762" w="2910967">
                  <a:moveTo>
                    <a:pt x="0" y="0"/>
                  </a:moveTo>
                  <a:lnTo>
                    <a:pt x="2910967" y="0"/>
                  </a:lnTo>
                  <a:lnTo>
                    <a:pt x="2910967" y="762762"/>
                  </a:lnTo>
                  <a:lnTo>
                    <a:pt x="0" y="762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5712649" y="492926"/>
            <a:ext cx="1939733" cy="572400"/>
            <a:chOff x="0" y="0"/>
            <a:chExt cx="2586310" cy="763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86355" cy="763143"/>
            </a:xfrm>
            <a:custGeom>
              <a:avLst/>
              <a:gdLst/>
              <a:ahLst/>
              <a:cxnLst/>
              <a:rect r="r" b="b" t="t" l="l"/>
              <a:pathLst>
                <a:path h="763143" w="2586355">
                  <a:moveTo>
                    <a:pt x="0" y="0"/>
                  </a:moveTo>
                  <a:lnTo>
                    <a:pt x="2586355" y="0"/>
                  </a:lnTo>
                  <a:lnTo>
                    <a:pt x="2586355" y="763143"/>
                  </a:lnTo>
                  <a:lnTo>
                    <a:pt x="0" y="7631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-7"/>
              </a:stretch>
            </a:blipFill>
          </p:spPr>
        </p:sp>
      </p:grpSp>
      <p:graphicFrame>
        <p:nvGraphicFramePr>
          <p:cNvPr name="Object 12" id="12"/>
          <p:cNvGraphicFramePr/>
          <p:nvPr/>
        </p:nvGraphicFramePr>
        <p:xfrm>
          <a:off x="1143551" y="2959946"/>
          <a:ext cx="7586157" cy="4274588"/>
        </p:xfrm>
        <a:graphic>
          <a:graphicData uri="http://schemas.openxmlformats.org/presentationml/2006/ole">
            <p:oleObj imgW="9105900" imgH="57912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pSp>
        <p:nvGrpSpPr>
          <p:cNvPr name="Group 13" id="13"/>
          <p:cNvGrpSpPr/>
          <p:nvPr/>
        </p:nvGrpSpPr>
        <p:grpSpPr>
          <a:xfrm rot="0">
            <a:off x="1143551" y="7019298"/>
            <a:ext cx="8584080" cy="1881398"/>
            <a:chOff x="0" y="0"/>
            <a:chExt cx="2183126" cy="47848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83126" cy="478482"/>
            </a:xfrm>
            <a:custGeom>
              <a:avLst/>
              <a:gdLst/>
              <a:ahLst/>
              <a:cxnLst/>
              <a:rect r="r" b="b" t="t" l="l"/>
              <a:pathLst>
                <a:path h="478482" w="2183126">
                  <a:moveTo>
                    <a:pt x="15332" y="0"/>
                  </a:moveTo>
                  <a:lnTo>
                    <a:pt x="2167793" y="0"/>
                  </a:lnTo>
                  <a:cubicBezTo>
                    <a:pt x="2176261" y="0"/>
                    <a:pt x="2183126" y="6864"/>
                    <a:pt x="2183126" y="15332"/>
                  </a:cubicBezTo>
                  <a:lnTo>
                    <a:pt x="2183126" y="463150"/>
                  </a:lnTo>
                  <a:cubicBezTo>
                    <a:pt x="2183126" y="471618"/>
                    <a:pt x="2176261" y="478482"/>
                    <a:pt x="2167793" y="478482"/>
                  </a:cubicBezTo>
                  <a:lnTo>
                    <a:pt x="15332" y="478482"/>
                  </a:lnTo>
                  <a:cubicBezTo>
                    <a:pt x="6864" y="478482"/>
                    <a:pt x="0" y="471618"/>
                    <a:pt x="0" y="463150"/>
                  </a:cubicBezTo>
                  <a:lnTo>
                    <a:pt x="0" y="15332"/>
                  </a:lnTo>
                  <a:cubicBezTo>
                    <a:pt x="0" y="6864"/>
                    <a:pt x="6864" y="0"/>
                    <a:pt x="15332" y="0"/>
                  </a:cubicBezTo>
                  <a:close/>
                </a:path>
              </a:pathLst>
            </a:custGeom>
            <a:solidFill>
              <a:srgbClr val="C7E8FB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183126" cy="535632"/>
            </a:xfrm>
            <a:prstGeom prst="rect">
              <a:avLst/>
            </a:prstGeom>
          </p:spPr>
          <p:txBody>
            <a:bodyPr anchor="ctr" rtlCol="false" tIns="52608" lIns="52608" bIns="52608" rIns="52608"/>
            <a:lstStyle/>
            <a:p>
              <a:pPr algn="l" marL="410211" indent="-205106" lvl="1">
                <a:lnSpc>
                  <a:spcPts val="2660"/>
                </a:lnSpc>
                <a:buFont typeface="Arial"/>
                <a:buChar char="•"/>
              </a:pPr>
              <a:r>
                <a:rPr lang="en-US" b="true" sz="19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Sumber</a:t>
              </a:r>
              <a:r>
                <a:rPr lang="en-US" sz="19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: SPKU DLH DKI Jakarta</a:t>
              </a:r>
            </a:p>
            <a:p>
              <a:pPr algn="l" marL="410211" indent="-205106" lvl="1">
                <a:lnSpc>
                  <a:spcPts val="2660"/>
                </a:lnSpc>
                <a:buFont typeface="Arial"/>
                <a:buChar char="•"/>
              </a:pPr>
              <a:r>
                <a:rPr lang="en-US" b="true" sz="19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Variabel target</a:t>
              </a:r>
              <a:r>
                <a:rPr lang="en-US" sz="19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: Konsentrasi PM2.5</a:t>
              </a:r>
            </a:p>
            <a:p>
              <a:pPr algn="l" marL="410211" indent="-205106" lvl="1">
                <a:lnSpc>
                  <a:spcPts val="2660"/>
                </a:lnSpc>
                <a:buFont typeface="Arial"/>
                <a:buChar char="•"/>
              </a:pPr>
              <a:r>
                <a:rPr lang="en-US" b="true" sz="19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Periode</a:t>
              </a:r>
              <a:r>
                <a:rPr lang="en-US" sz="19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: 1 Januari 2024 - 28 Februari 2025 (424 hari)</a:t>
              </a:r>
            </a:p>
            <a:p>
              <a:pPr algn="l" marL="410211" indent="-205106" lvl="1">
                <a:lnSpc>
                  <a:spcPts val="2660"/>
                </a:lnSpc>
                <a:buFont typeface="Arial"/>
                <a:buChar char="•"/>
              </a:pPr>
              <a:r>
                <a:rPr lang="en-US" b="true" sz="19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Total observasi</a:t>
              </a:r>
              <a:r>
                <a:rPr lang="en-US" sz="19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: 2120 baris data</a:t>
              </a:r>
            </a:p>
            <a:p>
              <a:pPr algn="l" marL="410211" indent="-205106" lvl="1">
                <a:lnSpc>
                  <a:spcPts val="2660"/>
                </a:lnSpc>
                <a:buFont typeface="Arial"/>
                <a:buChar char="•"/>
              </a:pPr>
              <a:r>
                <a:rPr lang="en-US" b="true" sz="19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Missing values</a:t>
              </a:r>
              <a:r>
                <a:rPr lang="en-US" sz="19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: : ~1,22% ditangani dengan imputasi daily mean</a:t>
              </a:r>
            </a:p>
          </p:txBody>
        </p:sp>
      </p:grpSp>
      <p:graphicFrame>
        <p:nvGraphicFramePr>
          <p:cNvPr name="Object 16" id="16"/>
          <p:cNvGraphicFramePr/>
          <p:nvPr/>
        </p:nvGraphicFramePr>
        <p:xfrm>
          <a:off x="10226076" y="1429185"/>
          <a:ext cx="8273347" cy="4137965"/>
        </p:xfrm>
        <a:graphic>
          <a:graphicData uri="http://schemas.openxmlformats.org/presentationml/2006/ole">
            <p:oleObj imgW="9918700" imgH="5791200" r:id="rId9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7" id="17"/>
          <p:cNvSpPr txBox="true"/>
          <p:nvPr/>
        </p:nvSpPr>
        <p:spPr>
          <a:xfrm rot="0">
            <a:off x="1143551" y="1466815"/>
            <a:ext cx="10586000" cy="903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2"/>
              </a:lnSpc>
            </a:pPr>
            <a:r>
              <a:rPr lang="en-US" sz="6474" b="true">
                <a:solidFill>
                  <a:srgbClr val="263C92"/>
                </a:solidFill>
                <a:latin typeface="Inter Bold"/>
                <a:ea typeface="Inter Bold"/>
                <a:cs typeface="Inter Bold"/>
                <a:sym typeface="Inter Bold"/>
              </a:rPr>
              <a:t>Data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43551" y="2351696"/>
            <a:ext cx="5045322" cy="41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7"/>
              </a:lnSpc>
            </a:pPr>
            <a:r>
              <a:rPr lang="en-US" sz="2886" b="true">
                <a:solidFill>
                  <a:srgbClr val="263C92"/>
                </a:solidFill>
                <a:latin typeface="Inter Bold"/>
                <a:ea typeface="Inter Bold"/>
                <a:cs typeface="Inter Bold"/>
                <a:sym typeface="Inter Bold"/>
              </a:rPr>
              <a:t>5 Stasiun SPKU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26076" y="907277"/>
            <a:ext cx="4904359" cy="335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8"/>
              </a:lnSpc>
            </a:pPr>
            <a:r>
              <a:rPr lang="en-US" sz="2340" b="true">
                <a:solidFill>
                  <a:srgbClr val="263C92"/>
                </a:solidFill>
                <a:latin typeface="Inter Bold"/>
                <a:ea typeface="Inter Bold"/>
                <a:cs typeface="Inter Bold"/>
                <a:sym typeface="Inter Bold"/>
              </a:rPr>
              <a:t>Kovariat meteorologi ERA5-land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226076" y="7676067"/>
            <a:ext cx="6918376" cy="1582233"/>
            <a:chOff x="0" y="0"/>
            <a:chExt cx="1759499" cy="40239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759499" cy="402398"/>
            </a:xfrm>
            <a:custGeom>
              <a:avLst/>
              <a:gdLst/>
              <a:ahLst/>
              <a:cxnLst/>
              <a:rect r="r" b="b" t="t" l="l"/>
              <a:pathLst>
                <a:path h="402398" w="1759499">
                  <a:moveTo>
                    <a:pt x="17905" y="0"/>
                  </a:moveTo>
                  <a:lnTo>
                    <a:pt x="1741595" y="0"/>
                  </a:lnTo>
                  <a:cubicBezTo>
                    <a:pt x="1746343" y="0"/>
                    <a:pt x="1750898" y="1886"/>
                    <a:pt x="1754255" y="5244"/>
                  </a:cubicBezTo>
                  <a:cubicBezTo>
                    <a:pt x="1757613" y="8602"/>
                    <a:pt x="1759499" y="13156"/>
                    <a:pt x="1759499" y="17905"/>
                  </a:cubicBezTo>
                  <a:lnTo>
                    <a:pt x="1759499" y="384493"/>
                  </a:lnTo>
                  <a:cubicBezTo>
                    <a:pt x="1759499" y="394381"/>
                    <a:pt x="1751483" y="402398"/>
                    <a:pt x="1741595" y="402398"/>
                  </a:cubicBezTo>
                  <a:lnTo>
                    <a:pt x="17905" y="402398"/>
                  </a:lnTo>
                  <a:cubicBezTo>
                    <a:pt x="13156" y="402398"/>
                    <a:pt x="8602" y="400511"/>
                    <a:pt x="5244" y="397153"/>
                  </a:cubicBezTo>
                  <a:cubicBezTo>
                    <a:pt x="1886" y="393796"/>
                    <a:pt x="0" y="389242"/>
                    <a:pt x="0" y="384493"/>
                  </a:cubicBezTo>
                  <a:lnTo>
                    <a:pt x="0" y="17905"/>
                  </a:lnTo>
                  <a:cubicBezTo>
                    <a:pt x="0" y="13156"/>
                    <a:pt x="1886" y="8602"/>
                    <a:pt x="5244" y="5244"/>
                  </a:cubicBezTo>
                  <a:cubicBezTo>
                    <a:pt x="8602" y="1886"/>
                    <a:pt x="13156" y="0"/>
                    <a:pt x="17905" y="0"/>
                  </a:cubicBezTo>
                  <a:close/>
                </a:path>
              </a:pathLst>
            </a:custGeom>
            <a:solidFill>
              <a:srgbClr val="C7E8FB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759499" cy="459548"/>
            </a:xfrm>
            <a:prstGeom prst="rect">
              <a:avLst/>
            </a:prstGeom>
          </p:spPr>
          <p:txBody>
            <a:bodyPr anchor="ctr" rtlCol="false" tIns="52608" lIns="52608" bIns="52608" rIns="52608"/>
            <a:lstStyle/>
            <a:p>
              <a:pPr algn="l" marL="410211" indent="-205106" lvl="1">
                <a:lnSpc>
                  <a:spcPts val="2660"/>
                </a:lnSpc>
                <a:buFont typeface="Arial"/>
                <a:buChar char="•"/>
              </a:pPr>
              <a:r>
                <a:rPr lang="en-US" b="true" sz="19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Ekstraksi ERA5</a:t>
              </a:r>
              <a:r>
                <a:rPr lang="en-US" sz="19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: Resolusi 0,1° x 0,1°, nilai diekstraksi ke titik koordinat stasiun via nearest-neighbour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9779760"/>
            <a:ext cx="18288000" cy="507238"/>
            <a:chOff x="0" y="0"/>
            <a:chExt cx="24384000" cy="6763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676275"/>
            </a:xfrm>
            <a:custGeom>
              <a:avLst/>
              <a:gdLst/>
              <a:ahLst/>
              <a:cxnLst/>
              <a:rect r="r" b="b" t="t" l="l"/>
              <a:pathLst>
                <a:path h="6762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76275"/>
                  </a:lnTo>
                  <a:lnTo>
                    <a:pt x="0" y="676275"/>
                  </a:lnTo>
                  <a:close/>
                </a:path>
              </a:pathLst>
            </a:custGeom>
            <a:solidFill>
              <a:srgbClr val="263C92"/>
            </a:solid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0" y="9779762"/>
            <a:ext cx="18288000" cy="507238"/>
            <a:chOff x="0" y="0"/>
            <a:chExt cx="24384000" cy="6763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676275"/>
            </a:xfrm>
            <a:custGeom>
              <a:avLst/>
              <a:gdLst/>
              <a:ahLst/>
              <a:cxnLst/>
              <a:rect r="r" b="b" t="t" l="l"/>
              <a:pathLst>
                <a:path h="6762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76275"/>
                  </a:lnTo>
                  <a:lnTo>
                    <a:pt x="0" y="6762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9681099"/>
            <a:ext cx="18288000" cy="99327"/>
            <a:chOff x="0" y="0"/>
            <a:chExt cx="24384000" cy="13243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132461"/>
            </a:xfrm>
            <a:custGeom>
              <a:avLst/>
              <a:gdLst/>
              <a:ahLst/>
              <a:cxnLst/>
              <a:rect r="r" b="b" t="t" l="l"/>
              <a:pathLst>
                <a:path h="13246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2461"/>
                  </a:lnTo>
                  <a:lnTo>
                    <a:pt x="0" y="132461"/>
                  </a:lnTo>
                  <a:close/>
                </a:path>
              </a:pathLst>
            </a:custGeom>
            <a:solidFill>
              <a:srgbClr val="FED80B"/>
            </a:solid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635619" y="493260"/>
            <a:ext cx="2183244" cy="572066"/>
            <a:chOff x="0" y="0"/>
            <a:chExt cx="2910992" cy="762754"/>
          </a:xfrm>
        </p:grpSpPr>
        <p:sp>
          <p:nvSpPr>
            <p:cNvPr name="Freeform 9" id="9" descr="A blue and black logo  AI-generated content may be incorrect."/>
            <p:cNvSpPr/>
            <p:nvPr/>
          </p:nvSpPr>
          <p:spPr>
            <a:xfrm flipH="false" flipV="false" rot="0">
              <a:off x="0" y="0"/>
              <a:ext cx="2910967" cy="762762"/>
            </a:xfrm>
            <a:custGeom>
              <a:avLst/>
              <a:gdLst/>
              <a:ahLst/>
              <a:cxnLst/>
              <a:rect r="r" b="b" t="t" l="l"/>
              <a:pathLst>
                <a:path h="762762" w="2910967">
                  <a:moveTo>
                    <a:pt x="0" y="0"/>
                  </a:moveTo>
                  <a:lnTo>
                    <a:pt x="2910967" y="0"/>
                  </a:lnTo>
                  <a:lnTo>
                    <a:pt x="2910967" y="762762"/>
                  </a:lnTo>
                  <a:lnTo>
                    <a:pt x="0" y="762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5712649" y="492926"/>
            <a:ext cx="1939733" cy="572400"/>
            <a:chOff x="0" y="0"/>
            <a:chExt cx="2586310" cy="763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86355" cy="763143"/>
            </a:xfrm>
            <a:custGeom>
              <a:avLst/>
              <a:gdLst/>
              <a:ahLst/>
              <a:cxnLst/>
              <a:rect r="r" b="b" t="t" l="l"/>
              <a:pathLst>
                <a:path h="763143" w="2586355">
                  <a:moveTo>
                    <a:pt x="0" y="0"/>
                  </a:moveTo>
                  <a:lnTo>
                    <a:pt x="2586355" y="0"/>
                  </a:lnTo>
                  <a:lnTo>
                    <a:pt x="2586355" y="763143"/>
                  </a:lnTo>
                  <a:lnTo>
                    <a:pt x="0" y="7631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-7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60212" y="1679902"/>
            <a:ext cx="9522532" cy="1224697"/>
            <a:chOff x="0" y="0"/>
            <a:chExt cx="2421795" cy="31146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21795" cy="311468"/>
            </a:xfrm>
            <a:custGeom>
              <a:avLst/>
              <a:gdLst/>
              <a:ahLst/>
              <a:cxnLst/>
              <a:rect r="r" b="b" t="t" l="l"/>
              <a:pathLst>
                <a:path h="311468" w="2421795">
                  <a:moveTo>
                    <a:pt x="68293" y="0"/>
                  </a:moveTo>
                  <a:lnTo>
                    <a:pt x="2353502" y="0"/>
                  </a:lnTo>
                  <a:cubicBezTo>
                    <a:pt x="2391219" y="0"/>
                    <a:pt x="2421795" y="30576"/>
                    <a:pt x="2421795" y="68293"/>
                  </a:cubicBezTo>
                  <a:lnTo>
                    <a:pt x="2421795" y="243175"/>
                  </a:lnTo>
                  <a:cubicBezTo>
                    <a:pt x="2421795" y="261288"/>
                    <a:pt x="2414600" y="278658"/>
                    <a:pt x="2401793" y="291466"/>
                  </a:cubicBezTo>
                  <a:cubicBezTo>
                    <a:pt x="2388985" y="304273"/>
                    <a:pt x="2371615" y="311468"/>
                    <a:pt x="2353502" y="311468"/>
                  </a:cubicBezTo>
                  <a:lnTo>
                    <a:pt x="68293" y="311468"/>
                  </a:lnTo>
                  <a:cubicBezTo>
                    <a:pt x="30576" y="311468"/>
                    <a:pt x="0" y="280892"/>
                    <a:pt x="0" y="243175"/>
                  </a:cubicBezTo>
                  <a:lnTo>
                    <a:pt x="0" y="68293"/>
                  </a:lnTo>
                  <a:cubicBezTo>
                    <a:pt x="0" y="30576"/>
                    <a:pt x="30576" y="0"/>
                    <a:pt x="68293" y="0"/>
                  </a:cubicBezTo>
                  <a:close/>
                </a:path>
              </a:pathLst>
            </a:custGeom>
            <a:solidFill>
              <a:srgbClr val="FED80B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2421795" cy="368618"/>
            </a:xfrm>
            <a:prstGeom prst="rect">
              <a:avLst/>
            </a:prstGeom>
          </p:spPr>
          <p:txBody>
            <a:bodyPr anchor="ctr" rtlCol="false" tIns="52608" lIns="52608" bIns="52608" rIns="52608"/>
            <a:lstStyle/>
            <a:p>
              <a:pPr algn="l">
                <a:lnSpc>
                  <a:spcPts val="266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40993" y="3840245"/>
            <a:ext cx="2576018" cy="830300"/>
            <a:chOff x="0" y="0"/>
            <a:chExt cx="3434691" cy="1107066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3434691" cy="1107066"/>
              <a:chOff x="0" y="0"/>
              <a:chExt cx="778331" cy="250871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778331" cy="250871"/>
              </a:xfrm>
              <a:custGeom>
                <a:avLst/>
                <a:gdLst/>
                <a:ahLst/>
                <a:cxnLst/>
                <a:rect r="r" b="b" t="t" l="l"/>
                <a:pathLst>
                  <a:path h="250871" w="778331">
                    <a:moveTo>
                      <a:pt x="48323" y="0"/>
                    </a:moveTo>
                    <a:lnTo>
                      <a:pt x="730008" y="0"/>
                    </a:lnTo>
                    <a:cubicBezTo>
                      <a:pt x="742824" y="0"/>
                      <a:pt x="755115" y="5091"/>
                      <a:pt x="764177" y="14153"/>
                    </a:cubicBezTo>
                    <a:cubicBezTo>
                      <a:pt x="773240" y="23216"/>
                      <a:pt x="778331" y="35507"/>
                      <a:pt x="778331" y="48323"/>
                    </a:cubicBezTo>
                    <a:lnTo>
                      <a:pt x="778331" y="202548"/>
                    </a:lnTo>
                    <a:cubicBezTo>
                      <a:pt x="778331" y="215364"/>
                      <a:pt x="773240" y="227655"/>
                      <a:pt x="764177" y="236717"/>
                    </a:cubicBezTo>
                    <a:cubicBezTo>
                      <a:pt x="755115" y="245780"/>
                      <a:pt x="742824" y="250871"/>
                      <a:pt x="730008" y="250871"/>
                    </a:cubicBezTo>
                    <a:lnTo>
                      <a:pt x="48323" y="250871"/>
                    </a:lnTo>
                    <a:cubicBezTo>
                      <a:pt x="35507" y="250871"/>
                      <a:pt x="23216" y="245780"/>
                      <a:pt x="14153" y="236717"/>
                    </a:cubicBezTo>
                    <a:cubicBezTo>
                      <a:pt x="5091" y="227655"/>
                      <a:pt x="0" y="215364"/>
                      <a:pt x="0" y="202548"/>
                    </a:cubicBezTo>
                    <a:lnTo>
                      <a:pt x="0" y="48323"/>
                    </a:lnTo>
                    <a:cubicBezTo>
                      <a:pt x="0" y="35507"/>
                      <a:pt x="5091" y="23216"/>
                      <a:pt x="14153" y="14153"/>
                    </a:cubicBezTo>
                    <a:cubicBezTo>
                      <a:pt x="23216" y="5091"/>
                      <a:pt x="35507" y="0"/>
                      <a:pt x="48323" y="0"/>
                    </a:cubicBezTo>
                    <a:close/>
                  </a:path>
                </a:pathLst>
              </a:custGeom>
              <a:ln w="285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104775"/>
                <a:ext cx="778331" cy="355646"/>
              </a:xfrm>
              <a:prstGeom prst="rect">
                <a:avLst/>
              </a:prstGeom>
            </p:spPr>
            <p:txBody>
              <a:bodyPr anchor="ctr" rtlCol="false" tIns="33048" lIns="33048" bIns="33048" rIns="33048"/>
              <a:lstStyle/>
              <a:p>
                <a:pPr algn="ctr" marL="0" indent="0" lvl="0">
                  <a:lnSpc>
                    <a:spcPts val="3401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11263" y="111314"/>
              <a:ext cx="889669" cy="884438"/>
              <a:chOff x="0" y="0"/>
              <a:chExt cx="201607" cy="200421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201607" cy="200421"/>
              </a:xfrm>
              <a:custGeom>
                <a:avLst/>
                <a:gdLst/>
                <a:ahLst/>
                <a:cxnLst/>
                <a:rect r="r" b="b" t="t" l="l"/>
                <a:pathLst>
                  <a:path h="200421" w="201607">
                    <a:moveTo>
                      <a:pt x="93278" y="0"/>
                    </a:moveTo>
                    <a:lnTo>
                      <a:pt x="108328" y="0"/>
                    </a:lnTo>
                    <a:cubicBezTo>
                      <a:pt x="159845" y="0"/>
                      <a:pt x="201607" y="41762"/>
                      <a:pt x="201607" y="93278"/>
                    </a:cubicBezTo>
                    <a:lnTo>
                      <a:pt x="201607" y="107143"/>
                    </a:lnTo>
                    <a:cubicBezTo>
                      <a:pt x="201607" y="131882"/>
                      <a:pt x="191779" y="155608"/>
                      <a:pt x="174286" y="173101"/>
                    </a:cubicBezTo>
                    <a:cubicBezTo>
                      <a:pt x="156793" y="190594"/>
                      <a:pt x="133067" y="200421"/>
                      <a:pt x="108328" y="200421"/>
                    </a:cubicBezTo>
                    <a:lnTo>
                      <a:pt x="93278" y="200421"/>
                    </a:lnTo>
                    <a:cubicBezTo>
                      <a:pt x="68539" y="200421"/>
                      <a:pt x="44814" y="190594"/>
                      <a:pt x="27321" y="173101"/>
                    </a:cubicBezTo>
                    <a:cubicBezTo>
                      <a:pt x="9828" y="155608"/>
                      <a:pt x="0" y="131882"/>
                      <a:pt x="0" y="107143"/>
                    </a:cubicBezTo>
                    <a:lnTo>
                      <a:pt x="0" y="93278"/>
                    </a:lnTo>
                    <a:cubicBezTo>
                      <a:pt x="0" y="68539"/>
                      <a:pt x="9828" y="44814"/>
                      <a:pt x="27321" y="27321"/>
                    </a:cubicBezTo>
                    <a:cubicBezTo>
                      <a:pt x="44814" y="9828"/>
                      <a:pt x="68539" y="0"/>
                      <a:pt x="93278" y="0"/>
                    </a:cubicBezTo>
                    <a:close/>
                  </a:path>
                </a:pathLst>
              </a:custGeom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104775"/>
                <a:ext cx="201607" cy="305196"/>
              </a:xfrm>
              <a:prstGeom prst="rect">
                <a:avLst/>
              </a:prstGeom>
            </p:spPr>
            <p:txBody>
              <a:bodyPr anchor="ctr" rtlCol="false" tIns="33048" lIns="33048" bIns="33048" rIns="33048"/>
              <a:lstStyle/>
              <a:p>
                <a:pPr algn="ctr" marL="0" indent="0" lvl="0">
                  <a:lnSpc>
                    <a:spcPts val="3401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1132494" y="276419"/>
              <a:ext cx="2109337" cy="4875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001"/>
                </a:lnSpc>
                <a:spcBef>
                  <a:spcPct val="0"/>
                </a:spcBef>
              </a:pPr>
              <a:r>
                <a:rPr lang="en-US" b="true" sz="2143" i="true">
                  <a:solidFill>
                    <a:srgbClr val="000000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Raw data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1132494" y="645629"/>
              <a:ext cx="2109337" cy="2751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763"/>
                </a:lnSpc>
                <a:spcBef>
                  <a:spcPct val="0"/>
                </a:spcBef>
              </a:pPr>
            </a:p>
          </p:txBody>
        </p:sp>
        <p:sp>
          <p:nvSpPr>
            <p:cNvPr name="Freeform 24" id="24"/>
            <p:cNvSpPr/>
            <p:nvPr/>
          </p:nvSpPr>
          <p:spPr>
            <a:xfrm flipH="false" flipV="false" rot="0">
              <a:off x="276235" y="247455"/>
              <a:ext cx="538697" cy="612156"/>
            </a:xfrm>
            <a:custGeom>
              <a:avLst/>
              <a:gdLst/>
              <a:ahLst/>
              <a:cxnLst/>
              <a:rect r="r" b="b" t="t" l="l"/>
              <a:pathLst>
                <a:path h="612156" w="538697">
                  <a:moveTo>
                    <a:pt x="0" y="0"/>
                  </a:moveTo>
                  <a:lnTo>
                    <a:pt x="538698" y="0"/>
                  </a:lnTo>
                  <a:lnTo>
                    <a:pt x="538698" y="612156"/>
                  </a:lnTo>
                  <a:lnTo>
                    <a:pt x="0" y="6121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25" id="25"/>
          <p:cNvSpPr/>
          <p:nvPr/>
        </p:nvSpPr>
        <p:spPr>
          <a:xfrm>
            <a:off x="4776571" y="4255395"/>
            <a:ext cx="559560" cy="0"/>
          </a:xfrm>
          <a:custGeom>
            <a:avLst/>
            <a:gdLst/>
            <a:ahLst/>
            <a:cxnLst/>
            <a:rect r="r" b="b" t="t" l="l"/>
            <a:pathLst>
              <a:path h="0" w="559560">
                <a:moveTo>
                  <a:pt x="0" y="0"/>
                </a:moveTo>
                <a:lnTo>
                  <a:pt x="559560" y="0"/>
                </a:lnTo>
              </a:path>
            </a:pathLst>
          </a:custGeom>
          <a:ln cap="flat" w="4762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6" id="26"/>
          <p:cNvGrpSpPr/>
          <p:nvPr/>
        </p:nvGrpSpPr>
        <p:grpSpPr>
          <a:xfrm rot="0">
            <a:off x="5542466" y="3840245"/>
            <a:ext cx="2576018" cy="830300"/>
            <a:chOff x="0" y="0"/>
            <a:chExt cx="3434691" cy="1107066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3434691" cy="1107066"/>
              <a:chOff x="0" y="0"/>
              <a:chExt cx="778331" cy="250871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778331" cy="250871"/>
              </a:xfrm>
              <a:custGeom>
                <a:avLst/>
                <a:gdLst/>
                <a:ahLst/>
                <a:cxnLst/>
                <a:rect r="r" b="b" t="t" l="l"/>
                <a:pathLst>
                  <a:path h="250871" w="778331">
                    <a:moveTo>
                      <a:pt x="48323" y="0"/>
                    </a:moveTo>
                    <a:lnTo>
                      <a:pt x="730008" y="0"/>
                    </a:lnTo>
                    <a:cubicBezTo>
                      <a:pt x="742824" y="0"/>
                      <a:pt x="755115" y="5091"/>
                      <a:pt x="764177" y="14153"/>
                    </a:cubicBezTo>
                    <a:cubicBezTo>
                      <a:pt x="773240" y="23216"/>
                      <a:pt x="778331" y="35507"/>
                      <a:pt x="778331" y="48323"/>
                    </a:cubicBezTo>
                    <a:lnTo>
                      <a:pt x="778331" y="202548"/>
                    </a:lnTo>
                    <a:cubicBezTo>
                      <a:pt x="778331" y="215364"/>
                      <a:pt x="773240" y="227655"/>
                      <a:pt x="764177" y="236717"/>
                    </a:cubicBezTo>
                    <a:cubicBezTo>
                      <a:pt x="755115" y="245780"/>
                      <a:pt x="742824" y="250871"/>
                      <a:pt x="730008" y="250871"/>
                    </a:cubicBezTo>
                    <a:lnTo>
                      <a:pt x="48323" y="250871"/>
                    </a:lnTo>
                    <a:cubicBezTo>
                      <a:pt x="35507" y="250871"/>
                      <a:pt x="23216" y="245780"/>
                      <a:pt x="14153" y="236717"/>
                    </a:cubicBezTo>
                    <a:cubicBezTo>
                      <a:pt x="5091" y="227655"/>
                      <a:pt x="0" y="215364"/>
                      <a:pt x="0" y="202548"/>
                    </a:cubicBezTo>
                    <a:lnTo>
                      <a:pt x="0" y="48323"/>
                    </a:lnTo>
                    <a:cubicBezTo>
                      <a:pt x="0" y="35507"/>
                      <a:pt x="5091" y="23216"/>
                      <a:pt x="14153" y="14153"/>
                    </a:cubicBezTo>
                    <a:cubicBezTo>
                      <a:pt x="23216" y="5091"/>
                      <a:pt x="35507" y="0"/>
                      <a:pt x="48323" y="0"/>
                    </a:cubicBezTo>
                    <a:close/>
                  </a:path>
                </a:pathLst>
              </a:custGeom>
              <a:ln w="285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104775"/>
                <a:ext cx="778331" cy="355646"/>
              </a:xfrm>
              <a:prstGeom prst="rect">
                <a:avLst/>
              </a:prstGeom>
            </p:spPr>
            <p:txBody>
              <a:bodyPr anchor="ctr" rtlCol="false" tIns="33048" lIns="33048" bIns="33048" rIns="33048"/>
              <a:lstStyle/>
              <a:p>
                <a:pPr algn="ctr" marL="0" indent="0" lvl="0">
                  <a:lnSpc>
                    <a:spcPts val="3401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111263" y="111314"/>
              <a:ext cx="889669" cy="884438"/>
              <a:chOff x="0" y="0"/>
              <a:chExt cx="201607" cy="200421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201607" cy="200421"/>
              </a:xfrm>
              <a:custGeom>
                <a:avLst/>
                <a:gdLst/>
                <a:ahLst/>
                <a:cxnLst/>
                <a:rect r="r" b="b" t="t" l="l"/>
                <a:pathLst>
                  <a:path h="200421" w="201607">
                    <a:moveTo>
                      <a:pt x="93278" y="0"/>
                    </a:moveTo>
                    <a:lnTo>
                      <a:pt x="108328" y="0"/>
                    </a:lnTo>
                    <a:cubicBezTo>
                      <a:pt x="159845" y="0"/>
                      <a:pt x="201607" y="41762"/>
                      <a:pt x="201607" y="93278"/>
                    </a:cubicBezTo>
                    <a:lnTo>
                      <a:pt x="201607" y="107143"/>
                    </a:lnTo>
                    <a:cubicBezTo>
                      <a:pt x="201607" y="131882"/>
                      <a:pt x="191779" y="155608"/>
                      <a:pt x="174286" y="173101"/>
                    </a:cubicBezTo>
                    <a:cubicBezTo>
                      <a:pt x="156793" y="190594"/>
                      <a:pt x="133067" y="200421"/>
                      <a:pt x="108328" y="200421"/>
                    </a:cubicBezTo>
                    <a:lnTo>
                      <a:pt x="93278" y="200421"/>
                    </a:lnTo>
                    <a:cubicBezTo>
                      <a:pt x="68539" y="200421"/>
                      <a:pt x="44814" y="190594"/>
                      <a:pt x="27321" y="173101"/>
                    </a:cubicBezTo>
                    <a:cubicBezTo>
                      <a:pt x="9828" y="155608"/>
                      <a:pt x="0" y="131882"/>
                      <a:pt x="0" y="107143"/>
                    </a:cubicBezTo>
                    <a:lnTo>
                      <a:pt x="0" y="93278"/>
                    </a:lnTo>
                    <a:cubicBezTo>
                      <a:pt x="0" y="68539"/>
                      <a:pt x="9828" y="44814"/>
                      <a:pt x="27321" y="27321"/>
                    </a:cubicBezTo>
                    <a:cubicBezTo>
                      <a:pt x="44814" y="9828"/>
                      <a:pt x="68539" y="0"/>
                      <a:pt x="93278" y="0"/>
                    </a:cubicBezTo>
                    <a:close/>
                  </a:path>
                </a:pathLst>
              </a:custGeom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104775"/>
                <a:ext cx="201607" cy="305196"/>
              </a:xfrm>
              <a:prstGeom prst="rect">
                <a:avLst/>
              </a:prstGeom>
            </p:spPr>
            <p:txBody>
              <a:bodyPr anchor="ctr" rtlCol="false" tIns="33048" lIns="33048" bIns="33048" rIns="33048"/>
              <a:lstStyle/>
              <a:p>
                <a:pPr algn="ctr" marL="0" indent="0" lvl="0">
                  <a:lnSpc>
                    <a:spcPts val="3401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1132494" y="192194"/>
              <a:ext cx="2109337" cy="6053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875"/>
                </a:lnSpc>
                <a:spcBef>
                  <a:spcPct val="0"/>
                </a:spcBef>
              </a:pPr>
              <a:r>
                <a:rPr lang="en-US" b="true" sz="1339" i="true">
                  <a:solidFill>
                    <a:srgbClr val="000000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Imputasi Missing Values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1132494" y="645629"/>
              <a:ext cx="2109337" cy="2751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763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5" id="35"/>
          <p:cNvSpPr/>
          <p:nvPr/>
        </p:nvSpPr>
        <p:spPr>
          <a:xfrm>
            <a:off x="8118484" y="5316327"/>
            <a:ext cx="0" cy="1060933"/>
          </a:xfrm>
          <a:custGeom>
            <a:avLst/>
            <a:gdLst/>
            <a:ahLst/>
            <a:cxnLst/>
            <a:rect r="r" b="b" t="t" l="l"/>
            <a:pathLst>
              <a:path h="1060933" w="0">
                <a:moveTo>
                  <a:pt x="0" y="0"/>
                </a:moveTo>
                <a:lnTo>
                  <a:pt x="0" y="1060932"/>
                </a:lnTo>
              </a:path>
            </a:pathLst>
          </a:custGeom>
          <a:ln cap="flat" w="4762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6" id="36"/>
          <p:cNvGrpSpPr/>
          <p:nvPr/>
        </p:nvGrpSpPr>
        <p:grpSpPr>
          <a:xfrm rot="0">
            <a:off x="5542466" y="5962109"/>
            <a:ext cx="2576018" cy="830300"/>
            <a:chOff x="0" y="0"/>
            <a:chExt cx="3434691" cy="1107066"/>
          </a:xfrm>
        </p:grpSpPr>
        <p:grpSp>
          <p:nvGrpSpPr>
            <p:cNvPr name="Group 37" id="37"/>
            <p:cNvGrpSpPr/>
            <p:nvPr/>
          </p:nvGrpSpPr>
          <p:grpSpPr>
            <a:xfrm rot="0">
              <a:off x="0" y="0"/>
              <a:ext cx="3434691" cy="1107066"/>
              <a:chOff x="0" y="0"/>
              <a:chExt cx="778331" cy="250871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778331" cy="250871"/>
              </a:xfrm>
              <a:custGeom>
                <a:avLst/>
                <a:gdLst/>
                <a:ahLst/>
                <a:cxnLst/>
                <a:rect r="r" b="b" t="t" l="l"/>
                <a:pathLst>
                  <a:path h="250871" w="778331">
                    <a:moveTo>
                      <a:pt x="48323" y="0"/>
                    </a:moveTo>
                    <a:lnTo>
                      <a:pt x="730008" y="0"/>
                    </a:lnTo>
                    <a:cubicBezTo>
                      <a:pt x="742824" y="0"/>
                      <a:pt x="755115" y="5091"/>
                      <a:pt x="764177" y="14153"/>
                    </a:cubicBezTo>
                    <a:cubicBezTo>
                      <a:pt x="773240" y="23216"/>
                      <a:pt x="778331" y="35507"/>
                      <a:pt x="778331" y="48323"/>
                    </a:cubicBezTo>
                    <a:lnTo>
                      <a:pt x="778331" y="202548"/>
                    </a:lnTo>
                    <a:cubicBezTo>
                      <a:pt x="778331" y="215364"/>
                      <a:pt x="773240" y="227655"/>
                      <a:pt x="764177" y="236717"/>
                    </a:cubicBezTo>
                    <a:cubicBezTo>
                      <a:pt x="755115" y="245780"/>
                      <a:pt x="742824" y="250871"/>
                      <a:pt x="730008" y="250871"/>
                    </a:cubicBezTo>
                    <a:lnTo>
                      <a:pt x="48323" y="250871"/>
                    </a:lnTo>
                    <a:cubicBezTo>
                      <a:pt x="35507" y="250871"/>
                      <a:pt x="23216" y="245780"/>
                      <a:pt x="14153" y="236717"/>
                    </a:cubicBezTo>
                    <a:cubicBezTo>
                      <a:pt x="5091" y="227655"/>
                      <a:pt x="0" y="215364"/>
                      <a:pt x="0" y="202548"/>
                    </a:cubicBezTo>
                    <a:lnTo>
                      <a:pt x="0" y="48323"/>
                    </a:lnTo>
                    <a:cubicBezTo>
                      <a:pt x="0" y="35507"/>
                      <a:pt x="5091" y="23216"/>
                      <a:pt x="14153" y="14153"/>
                    </a:cubicBezTo>
                    <a:cubicBezTo>
                      <a:pt x="23216" y="5091"/>
                      <a:pt x="35507" y="0"/>
                      <a:pt x="48323" y="0"/>
                    </a:cubicBezTo>
                    <a:close/>
                  </a:path>
                </a:pathLst>
              </a:custGeom>
              <a:ln w="285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104775"/>
                <a:ext cx="778331" cy="355646"/>
              </a:xfrm>
              <a:prstGeom prst="rect">
                <a:avLst/>
              </a:prstGeom>
            </p:spPr>
            <p:txBody>
              <a:bodyPr anchor="ctr" rtlCol="false" tIns="33048" lIns="33048" bIns="33048" rIns="33048"/>
              <a:lstStyle/>
              <a:p>
                <a:pPr algn="ctr" marL="0" indent="0" lvl="0">
                  <a:lnSpc>
                    <a:spcPts val="3401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111263" y="111314"/>
              <a:ext cx="889669" cy="884438"/>
              <a:chOff x="0" y="0"/>
              <a:chExt cx="201607" cy="200421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201607" cy="200421"/>
              </a:xfrm>
              <a:custGeom>
                <a:avLst/>
                <a:gdLst/>
                <a:ahLst/>
                <a:cxnLst/>
                <a:rect r="r" b="b" t="t" l="l"/>
                <a:pathLst>
                  <a:path h="200421" w="201607">
                    <a:moveTo>
                      <a:pt x="93278" y="0"/>
                    </a:moveTo>
                    <a:lnTo>
                      <a:pt x="108328" y="0"/>
                    </a:lnTo>
                    <a:cubicBezTo>
                      <a:pt x="159845" y="0"/>
                      <a:pt x="201607" y="41762"/>
                      <a:pt x="201607" y="93278"/>
                    </a:cubicBezTo>
                    <a:lnTo>
                      <a:pt x="201607" y="107143"/>
                    </a:lnTo>
                    <a:cubicBezTo>
                      <a:pt x="201607" y="131882"/>
                      <a:pt x="191779" y="155608"/>
                      <a:pt x="174286" y="173101"/>
                    </a:cubicBezTo>
                    <a:cubicBezTo>
                      <a:pt x="156793" y="190594"/>
                      <a:pt x="133067" y="200421"/>
                      <a:pt x="108328" y="200421"/>
                    </a:cubicBezTo>
                    <a:lnTo>
                      <a:pt x="93278" y="200421"/>
                    </a:lnTo>
                    <a:cubicBezTo>
                      <a:pt x="68539" y="200421"/>
                      <a:pt x="44814" y="190594"/>
                      <a:pt x="27321" y="173101"/>
                    </a:cubicBezTo>
                    <a:cubicBezTo>
                      <a:pt x="9828" y="155608"/>
                      <a:pt x="0" y="131882"/>
                      <a:pt x="0" y="107143"/>
                    </a:cubicBezTo>
                    <a:lnTo>
                      <a:pt x="0" y="93278"/>
                    </a:lnTo>
                    <a:cubicBezTo>
                      <a:pt x="0" y="68539"/>
                      <a:pt x="9828" y="44814"/>
                      <a:pt x="27321" y="27321"/>
                    </a:cubicBezTo>
                    <a:cubicBezTo>
                      <a:pt x="44814" y="9828"/>
                      <a:pt x="68539" y="0"/>
                      <a:pt x="93278" y="0"/>
                    </a:cubicBezTo>
                    <a:close/>
                  </a:path>
                </a:pathLst>
              </a:custGeom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104775"/>
                <a:ext cx="201607" cy="305196"/>
              </a:xfrm>
              <a:prstGeom prst="rect">
                <a:avLst/>
              </a:prstGeom>
            </p:spPr>
            <p:txBody>
              <a:bodyPr anchor="ctr" rtlCol="false" tIns="33048" lIns="33048" bIns="33048" rIns="33048"/>
              <a:lstStyle/>
              <a:p>
                <a:pPr algn="ctr" marL="0" indent="0" lvl="0">
                  <a:lnSpc>
                    <a:spcPts val="3401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43" id="43"/>
            <p:cNvSpPr txBox="true"/>
            <p:nvPr/>
          </p:nvSpPr>
          <p:spPr>
            <a:xfrm rot="0">
              <a:off x="1132494" y="192194"/>
              <a:ext cx="2109337" cy="6053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875"/>
                </a:lnSpc>
                <a:spcBef>
                  <a:spcPct val="0"/>
                </a:spcBef>
              </a:pPr>
              <a:r>
                <a:rPr lang="en-US" b="true" sz="1339" i="true">
                  <a:solidFill>
                    <a:srgbClr val="000000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XGBoost Meteorologi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1132494" y="645629"/>
              <a:ext cx="2109337" cy="2751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763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45" id="45"/>
          <p:cNvSpPr/>
          <p:nvPr/>
        </p:nvSpPr>
        <p:spPr>
          <a:xfrm>
            <a:off x="4210629" y="6377259"/>
            <a:ext cx="665919" cy="0"/>
          </a:xfrm>
          <a:custGeom>
            <a:avLst/>
            <a:gdLst/>
            <a:ahLst/>
            <a:cxnLst/>
            <a:rect r="r" b="b" t="t" l="l"/>
            <a:pathLst>
              <a:path h="0" w="665919">
                <a:moveTo>
                  <a:pt x="665919" y="0"/>
                </a:moveTo>
                <a:lnTo>
                  <a:pt x="0" y="0"/>
                </a:lnTo>
              </a:path>
            </a:pathLst>
          </a:custGeom>
          <a:ln cap="flat" w="4762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46" id="46"/>
          <p:cNvGrpSpPr/>
          <p:nvPr/>
        </p:nvGrpSpPr>
        <p:grpSpPr>
          <a:xfrm rot="0">
            <a:off x="1634612" y="5962109"/>
            <a:ext cx="2576018" cy="830300"/>
            <a:chOff x="0" y="0"/>
            <a:chExt cx="3434691" cy="1107066"/>
          </a:xfrm>
        </p:grpSpPr>
        <p:grpSp>
          <p:nvGrpSpPr>
            <p:cNvPr name="Group 47" id="47"/>
            <p:cNvGrpSpPr/>
            <p:nvPr/>
          </p:nvGrpSpPr>
          <p:grpSpPr>
            <a:xfrm rot="0">
              <a:off x="0" y="0"/>
              <a:ext cx="3434691" cy="1107066"/>
              <a:chOff x="0" y="0"/>
              <a:chExt cx="778331" cy="250871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778331" cy="250871"/>
              </a:xfrm>
              <a:custGeom>
                <a:avLst/>
                <a:gdLst/>
                <a:ahLst/>
                <a:cxnLst/>
                <a:rect r="r" b="b" t="t" l="l"/>
                <a:pathLst>
                  <a:path h="250871" w="778331">
                    <a:moveTo>
                      <a:pt x="48323" y="0"/>
                    </a:moveTo>
                    <a:lnTo>
                      <a:pt x="730008" y="0"/>
                    </a:lnTo>
                    <a:cubicBezTo>
                      <a:pt x="742824" y="0"/>
                      <a:pt x="755115" y="5091"/>
                      <a:pt x="764177" y="14153"/>
                    </a:cubicBezTo>
                    <a:cubicBezTo>
                      <a:pt x="773240" y="23216"/>
                      <a:pt x="778331" y="35507"/>
                      <a:pt x="778331" y="48323"/>
                    </a:cubicBezTo>
                    <a:lnTo>
                      <a:pt x="778331" y="202548"/>
                    </a:lnTo>
                    <a:cubicBezTo>
                      <a:pt x="778331" y="215364"/>
                      <a:pt x="773240" y="227655"/>
                      <a:pt x="764177" y="236717"/>
                    </a:cubicBezTo>
                    <a:cubicBezTo>
                      <a:pt x="755115" y="245780"/>
                      <a:pt x="742824" y="250871"/>
                      <a:pt x="730008" y="250871"/>
                    </a:cubicBezTo>
                    <a:lnTo>
                      <a:pt x="48323" y="250871"/>
                    </a:lnTo>
                    <a:cubicBezTo>
                      <a:pt x="35507" y="250871"/>
                      <a:pt x="23216" y="245780"/>
                      <a:pt x="14153" y="236717"/>
                    </a:cubicBezTo>
                    <a:cubicBezTo>
                      <a:pt x="5091" y="227655"/>
                      <a:pt x="0" y="215364"/>
                      <a:pt x="0" y="202548"/>
                    </a:cubicBezTo>
                    <a:lnTo>
                      <a:pt x="0" y="48323"/>
                    </a:lnTo>
                    <a:cubicBezTo>
                      <a:pt x="0" y="35507"/>
                      <a:pt x="5091" y="23216"/>
                      <a:pt x="14153" y="14153"/>
                    </a:cubicBezTo>
                    <a:cubicBezTo>
                      <a:pt x="23216" y="5091"/>
                      <a:pt x="35507" y="0"/>
                      <a:pt x="48323" y="0"/>
                    </a:cubicBezTo>
                    <a:close/>
                  </a:path>
                </a:pathLst>
              </a:custGeom>
              <a:ln w="285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-104775"/>
                <a:ext cx="778331" cy="355646"/>
              </a:xfrm>
              <a:prstGeom prst="rect">
                <a:avLst/>
              </a:prstGeom>
            </p:spPr>
            <p:txBody>
              <a:bodyPr anchor="ctr" rtlCol="false" tIns="33048" lIns="33048" bIns="33048" rIns="33048"/>
              <a:lstStyle/>
              <a:p>
                <a:pPr algn="ctr" marL="0" indent="0" lvl="0">
                  <a:lnSpc>
                    <a:spcPts val="3401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50" id="50"/>
            <p:cNvGrpSpPr/>
            <p:nvPr/>
          </p:nvGrpSpPr>
          <p:grpSpPr>
            <a:xfrm rot="0">
              <a:off x="111263" y="111314"/>
              <a:ext cx="889669" cy="884438"/>
              <a:chOff x="0" y="0"/>
              <a:chExt cx="201607" cy="200421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201607" cy="200421"/>
              </a:xfrm>
              <a:custGeom>
                <a:avLst/>
                <a:gdLst/>
                <a:ahLst/>
                <a:cxnLst/>
                <a:rect r="r" b="b" t="t" l="l"/>
                <a:pathLst>
                  <a:path h="200421" w="201607">
                    <a:moveTo>
                      <a:pt x="93278" y="0"/>
                    </a:moveTo>
                    <a:lnTo>
                      <a:pt x="108328" y="0"/>
                    </a:lnTo>
                    <a:cubicBezTo>
                      <a:pt x="159845" y="0"/>
                      <a:pt x="201607" y="41762"/>
                      <a:pt x="201607" y="93278"/>
                    </a:cubicBezTo>
                    <a:lnTo>
                      <a:pt x="201607" y="107143"/>
                    </a:lnTo>
                    <a:cubicBezTo>
                      <a:pt x="201607" y="131882"/>
                      <a:pt x="191779" y="155608"/>
                      <a:pt x="174286" y="173101"/>
                    </a:cubicBezTo>
                    <a:cubicBezTo>
                      <a:pt x="156793" y="190594"/>
                      <a:pt x="133067" y="200421"/>
                      <a:pt x="108328" y="200421"/>
                    </a:cubicBezTo>
                    <a:lnTo>
                      <a:pt x="93278" y="200421"/>
                    </a:lnTo>
                    <a:cubicBezTo>
                      <a:pt x="68539" y="200421"/>
                      <a:pt x="44814" y="190594"/>
                      <a:pt x="27321" y="173101"/>
                    </a:cubicBezTo>
                    <a:cubicBezTo>
                      <a:pt x="9828" y="155608"/>
                      <a:pt x="0" y="131882"/>
                      <a:pt x="0" y="107143"/>
                    </a:cubicBezTo>
                    <a:lnTo>
                      <a:pt x="0" y="93278"/>
                    </a:lnTo>
                    <a:cubicBezTo>
                      <a:pt x="0" y="68539"/>
                      <a:pt x="9828" y="44814"/>
                      <a:pt x="27321" y="27321"/>
                    </a:cubicBezTo>
                    <a:cubicBezTo>
                      <a:pt x="44814" y="9828"/>
                      <a:pt x="68539" y="0"/>
                      <a:pt x="93278" y="0"/>
                    </a:cubicBezTo>
                    <a:close/>
                  </a:path>
                </a:pathLst>
              </a:custGeom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0" y="-104775"/>
                <a:ext cx="201607" cy="305196"/>
              </a:xfrm>
              <a:prstGeom prst="rect">
                <a:avLst/>
              </a:prstGeom>
            </p:spPr>
            <p:txBody>
              <a:bodyPr anchor="ctr" rtlCol="false" tIns="33048" lIns="33048" bIns="33048" rIns="33048"/>
              <a:lstStyle/>
              <a:p>
                <a:pPr algn="ctr" marL="0" indent="0" lvl="0">
                  <a:lnSpc>
                    <a:spcPts val="3401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53" id="53"/>
            <p:cNvSpPr txBox="true"/>
            <p:nvPr/>
          </p:nvSpPr>
          <p:spPr>
            <a:xfrm rot="0">
              <a:off x="1132494" y="192194"/>
              <a:ext cx="2109337" cy="6053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75"/>
                </a:lnSpc>
              </a:pPr>
              <a:r>
                <a:rPr lang="en-US" b="true" sz="1339" i="true">
                  <a:solidFill>
                    <a:srgbClr val="000000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Output Model</a:t>
              </a:r>
            </a:p>
            <a:p>
              <a:pPr algn="ctr" marL="0" indent="0" lvl="0">
                <a:lnSpc>
                  <a:spcPts val="1875"/>
                </a:lnSpc>
                <a:spcBef>
                  <a:spcPct val="0"/>
                </a:spcBef>
              </a:pPr>
              <a:r>
                <a:rPr lang="en-US" b="true" sz="1339" i="true">
                  <a:solidFill>
                    <a:srgbClr val="000000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f̂_ML(x_it) </a:t>
              </a:r>
            </a:p>
          </p:txBody>
        </p:sp>
      </p:grpSp>
      <p:sp>
        <p:nvSpPr>
          <p:cNvPr name="Freeform 54" id="54"/>
          <p:cNvSpPr/>
          <p:nvPr/>
        </p:nvSpPr>
        <p:spPr>
          <a:xfrm>
            <a:off x="1634612" y="7438192"/>
            <a:ext cx="0" cy="1060932"/>
          </a:xfrm>
          <a:custGeom>
            <a:avLst/>
            <a:gdLst/>
            <a:ahLst/>
            <a:cxnLst/>
            <a:rect r="r" b="b" t="t" l="l"/>
            <a:pathLst>
              <a:path h="1060932" w="0">
                <a:moveTo>
                  <a:pt x="0" y="0"/>
                </a:moveTo>
                <a:lnTo>
                  <a:pt x="0" y="1060932"/>
                </a:lnTo>
              </a:path>
            </a:pathLst>
          </a:custGeom>
          <a:ln cap="flat" w="4762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55" id="55"/>
          <p:cNvGrpSpPr/>
          <p:nvPr/>
        </p:nvGrpSpPr>
        <p:grpSpPr>
          <a:xfrm rot="0">
            <a:off x="1634612" y="8083974"/>
            <a:ext cx="2576018" cy="830300"/>
            <a:chOff x="0" y="0"/>
            <a:chExt cx="3434691" cy="1107066"/>
          </a:xfrm>
        </p:grpSpPr>
        <p:grpSp>
          <p:nvGrpSpPr>
            <p:cNvPr name="Group 56" id="56"/>
            <p:cNvGrpSpPr/>
            <p:nvPr/>
          </p:nvGrpSpPr>
          <p:grpSpPr>
            <a:xfrm rot="0">
              <a:off x="0" y="0"/>
              <a:ext cx="3434691" cy="1107066"/>
              <a:chOff x="0" y="0"/>
              <a:chExt cx="778331" cy="250871"/>
            </a:xfrm>
          </p:grpSpPr>
          <p:sp>
            <p:nvSpPr>
              <p:cNvPr name="Freeform 57" id="57"/>
              <p:cNvSpPr/>
              <p:nvPr/>
            </p:nvSpPr>
            <p:spPr>
              <a:xfrm flipH="false" flipV="false" rot="0">
                <a:off x="0" y="0"/>
                <a:ext cx="778331" cy="250871"/>
              </a:xfrm>
              <a:custGeom>
                <a:avLst/>
                <a:gdLst/>
                <a:ahLst/>
                <a:cxnLst/>
                <a:rect r="r" b="b" t="t" l="l"/>
                <a:pathLst>
                  <a:path h="250871" w="778331">
                    <a:moveTo>
                      <a:pt x="48323" y="0"/>
                    </a:moveTo>
                    <a:lnTo>
                      <a:pt x="730008" y="0"/>
                    </a:lnTo>
                    <a:cubicBezTo>
                      <a:pt x="742824" y="0"/>
                      <a:pt x="755115" y="5091"/>
                      <a:pt x="764177" y="14153"/>
                    </a:cubicBezTo>
                    <a:cubicBezTo>
                      <a:pt x="773240" y="23216"/>
                      <a:pt x="778331" y="35507"/>
                      <a:pt x="778331" y="48323"/>
                    </a:cubicBezTo>
                    <a:lnTo>
                      <a:pt x="778331" y="202548"/>
                    </a:lnTo>
                    <a:cubicBezTo>
                      <a:pt x="778331" y="215364"/>
                      <a:pt x="773240" y="227655"/>
                      <a:pt x="764177" y="236717"/>
                    </a:cubicBezTo>
                    <a:cubicBezTo>
                      <a:pt x="755115" y="245780"/>
                      <a:pt x="742824" y="250871"/>
                      <a:pt x="730008" y="250871"/>
                    </a:cubicBezTo>
                    <a:lnTo>
                      <a:pt x="48323" y="250871"/>
                    </a:lnTo>
                    <a:cubicBezTo>
                      <a:pt x="35507" y="250871"/>
                      <a:pt x="23216" y="245780"/>
                      <a:pt x="14153" y="236717"/>
                    </a:cubicBezTo>
                    <a:cubicBezTo>
                      <a:pt x="5091" y="227655"/>
                      <a:pt x="0" y="215364"/>
                      <a:pt x="0" y="202548"/>
                    </a:cubicBezTo>
                    <a:lnTo>
                      <a:pt x="0" y="48323"/>
                    </a:lnTo>
                    <a:cubicBezTo>
                      <a:pt x="0" y="35507"/>
                      <a:pt x="5091" y="23216"/>
                      <a:pt x="14153" y="14153"/>
                    </a:cubicBezTo>
                    <a:cubicBezTo>
                      <a:pt x="23216" y="5091"/>
                      <a:pt x="35507" y="0"/>
                      <a:pt x="48323" y="0"/>
                    </a:cubicBezTo>
                    <a:close/>
                  </a:path>
                </a:pathLst>
              </a:custGeom>
              <a:ln w="285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58" id="58"/>
              <p:cNvSpPr txBox="true"/>
              <p:nvPr/>
            </p:nvSpPr>
            <p:spPr>
              <a:xfrm>
                <a:off x="0" y="-104775"/>
                <a:ext cx="778331" cy="355646"/>
              </a:xfrm>
              <a:prstGeom prst="rect">
                <a:avLst/>
              </a:prstGeom>
            </p:spPr>
            <p:txBody>
              <a:bodyPr anchor="ctr" rtlCol="false" tIns="33048" lIns="33048" bIns="33048" rIns="33048"/>
              <a:lstStyle/>
              <a:p>
                <a:pPr algn="ctr" marL="0" indent="0" lvl="0">
                  <a:lnSpc>
                    <a:spcPts val="3401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59" id="59"/>
            <p:cNvGrpSpPr/>
            <p:nvPr/>
          </p:nvGrpSpPr>
          <p:grpSpPr>
            <a:xfrm rot="0">
              <a:off x="111263" y="111314"/>
              <a:ext cx="889669" cy="884438"/>
              <a:chOff x="0" y="0"/>
              <a:chExt cx="201607" cy="200421"/>
            </a:xfrm>
          </p:grpSpPr>
          <p:sp>
            <p:nvSpPr>
              <p:cNvPr name="Freeform 60" id="60"/>
              <p:cNvSpPr/>
              <p:nvPr/>
            </p:nvSpPr>
            <p:spPr>
              <a:xfrm flipH="false" flipV="false" rot="0">
                <a:off x="0" y="0"/>
                <a:ext cx="201607" cy="200421"/>
              </a:xfrm>
              <a:custGeom>
                <a:avLst/>
                <a:gdLst/>
                <a:ahLst/>
                <a:cxnLst/>
                <a:rect r="r" b="b" t="t" l="l"/>
                <a:pathLst>
                  <a:path h="200421" w="201607">
                    <a:moveTo>
                      <a:pt x="93278" y="0"/>
                    </a:moveTo>
                    <a:lnTo>
                      <a:pt x="108328" y="0"/>
                    </a:lnTo>
                    <a:cubicBezTo>
                      <a:pt x="159845" y="0"/>
                      <a:pt x="201607" y="41762"/>
                      <a:pt x="201607" y="93278"/>
                    </a:cubicBezTo>
                    <a:lnTo>
                      <a:pt x="201607" y="107143"/>
                    </a:lnTo>
                    <a:cubicBezTo>
                      <a:pt x="201607" y="131882"/>
                      <a:pt x="191779" y="155608"/>
                      <a:pt x="174286" y="173101"/>
                    </a:cubicBezTo>
                    <a:cubicBezTo>
                      <a:pt x="156793" y="190594"/>
                      <a:pt x="133067" y="200421"/>
                      <a:pt x="108328" y="200421"/>
                    </a:cubicBezTo>
                    <a:lnTo>
                      <a:pt x="93278" y="200421"/>
                    </a:lnTo>
                    <a:cubicBezTo>
                      <a:pt x="68539" y="200421"/>
                      <a:pt x="44814" y="190594"/>
                      <a:pt x="27321" y="173101"/>
                    </a:cubicBezTo>
                    <a:cubicBezTo>
                      <a:pt x="9828" y="155608"/>
                      <a:pt x="0" y="131882"/>
                      <a:pt x="0" y="107143"/>
                    </a:cubicBezTo>
                    <a:lnTo>
                      <a:pt x="0" y="93278"/>
                    </a:lnTo>
                    <a:cubicBezTo>
                      <a:pt x="0" y="68539"/>
                      <a:pt x="9828" y="44814"/>
                      <a:pt x="27321" y="27321"/>
                    </a:cubicBezTo>
                    <a:cubicBezTo>
                      <a:pt x="44814" y="9828"/>
                      <a:pt x="68539" y="0"/>
                      <a:pt x="93278" y="0"/>
                    </a:cubicBezTo>
                    <a:close/>
                  </a:path>
                </a:pathLst>
              </a:custGeom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61" id="61"/>
              <p:cNvSpPr txBox="true"/>
              <p:nvPr/>
            </p:nvSpPr>
            <p:spPr>
              <a:xfrm>
                <a:off x="0" y="-104775"/>
                <a:ext cx="201607" cy="305196"/>
              </a:xfrm>
              <a:prstGeom prst="rect">
                <a:avLst/>
              </a:prstGeom>
            </p:spPr>
            <p:txBody>
              <a:bodyPr anchor="ctr" rtlCol="false" tIns="33048" lIns="33048" bIns="33048" rIns="33048"/>
              <a:lstStyle/>
              <a:p>
                <a:pPr algn="ctr" marL="0" indent="0" lvl="0">
                  <a:lnSpc>
                    <a:spcPts val="3401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62" id="62"/>
            <p:cNvSpPr txBox="true"/>
            <p:nvPr/>
          </p:nvSpPr>
          <p:spPr>
            <a:xfrm rot="0">
              <a:off x="1132494" y="192194"/>
              <a:ext cx="2109337" cy="6053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875"/>
                </a:lnSpc>
                <a:spcBef>
                  <a:spcPct val="0"/>
                </a:spcBef>
              </a:pPr>
              <a:r>
                <a:rPr lang="en-US" b="true" sz="1339" i="true">
                  <a:solidFill>
                    <a:srgbClr val="000000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R-INLA SPDE Bayesian</a:t>
              </a:r>
            </a:p>
          </p:txBody>
        </p:sp>
        <p:sp>
          <p:nvSpPr>
            <p:cNvPr name="TextBox 63" id="63"/>
            <p:cNvSpPr txBox="true"/>
            <p:nvPr/>
          </p:nvSpPr>
          <p:spPr>
            <a:xfrm rot="0">
              <a:off x="1132494" y="645629"/>
              <a:ext cx="2109337" cy="2751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763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4" id="64"/>
          <p:cNvSpPr/>
          <p:nvPr/>
        </p:nvSpPr>
        <p:spPr>
          <a:xfrm>
            <a:off x="4873357" y="8499124"/>
            <a:ext cx="662728" cy="0"/>
          </a:xfrm>
          <a:custGeom>
            <a:avLst/>
            <a:gdLst/>
            <a:ahLst/>
            <a:cxnLst/>
            <a:rect r="r" b="b" t="t" l="l"/>
            <a:pathLst>
              <a:path h="0" w="662728">
                <a:moveTo>
                  <a:pt x="0" y="0"/>
                </a:moveTo>
                <a:lnTo>
                  <a:pt x="662728" y="0"/>
                </a:lnTo>
              </a:path>
            </a:pathLst>
          </a:custGeom>
          <a:ln cap="flat" w="4762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65" id="65"/>
          <p:cNvGrpSpPr/>
          <p:nvPr/>
        </p:nvGrpSpPr>
        <p:grpSpPr>
          <a:xfrm rot="0">
            <a:off x="5536085" y="8083974"/>
            <a:ext cx="2576018" cy="830300"/>
            <a:chOff x="0" y="0"/>
            <a:chExt cx="3434691" cy="1107066"/>
          </a:xfrm>
        </p:grpSpPr>
        <p:grpSp>
          <p:nvGrpSpPr>
            <p:cNvPr name="Group 66" id="66"/>
            <p:cNvGrpSpPr/>
            <p:nvPr/>
          </p:nvGrpSpPr>
          <p:grpSpPr>
            <a:xfrm rot="0">
              <a:off x="0" y="0"/>
              <a:ext cx="3434691" cy="1107066"/>
              <a:chOff x="0" y="0"/>
              <a:chExt cx="778331" cy="250871"/>
            </a:xfrm>
          </p:grpSpPr>
          <p:sp>
            <p:nvSpPr>
              <p:cNvPr name="Freeform 67" id="67"/>
              <p:cNvSpPr/>
              <p:nvPr/>
            </p:nvSpPr>
            <p:spPr>
              <a:xfrm flipH="false" flipV="false" rot="0">
                <a:off x="0" y="0"/>
                <a:ext cx="778331" cy="250871"/>
              </a:xfrm>
              <a:custGeom>
                <a:avLst/>
                <a:gdLst/>
                <a:ahLst/>
                <a:cxnLst/>
                <a:rect r="r" b="b" t="t" l="l"/>
                <a:pathLst>
                  <a:path h="250871" w="778331">
                    <a:moveTo>
                      <a:pt x="48323" y="0"/>
                    </a:moveTo>
                    <a:lnTo>
                      <a:pt x="730008" y="0"/>
                    </a:lnTo>
                    <a:cubicBezTo>
                      <a:pt x="742824" y="0"/>
                      <a:pt x="755115" y="5091"/>
                      <a:pt x="764177" y="14153"/>
                    </a:cubicBezTo>
                    <a:cubicBezTo>
                      <a:pt x="773240" y="23216"/>
                      <a:pt x="778331" y="35507"/>
                      <a:pt x="778331" y="48323"/>
                    </a:cubicBezTo>
                    <a:lnTo>
                      <a:pt x="778331" y="202548"/>
                    </a:lnTo>
                    <a:cubicBezTo>
                      <a:pt x="778331" y="215364"/>
                      <a:pt x="773240" y="227655"/>
                      <a:pt x="764177" y="236717"/>
                    </a:cubicBezTo>
                    <a:cubicBezTo>
                      <a:pt x="755115" y="245780"/>
                      <a:pt x="742824" y="250871"/>
                      <a:pt x="730008" y="250871"/>
                    </a:cubicBezTo>
                    <a:lnTo>
                      <a:pt x="48323" y="250871"/>
                    </a:lnTo>
                    <a:cubicBezTo>
                      <a:pt x="35507" y="250871"/>
                      <a:pt x="23216" y="245780"/>
                      <a:pt x="14153" y="236717"/>
                    </a:cubicBezTo>
                    <a:cubicBezTo>
                      <a:pt x="5091" y="227655"/>
                      <a:pt x="0" y="215364"/>
                      <a:pt x="0" y="202548"/>
                    </a:cubicBezTo>
                    <a:lnTo>
                      <a:pt x="0" y="48323"/>
                    </a:lnTo>
                    <a:cubicBezTo>
                      <a:pt x="0" y="35507"/>
                      <a:pt x="5091" y="23216"/>
                      <a:pt x="14153" y="14153"/>
                    </a:cubicBezTo>
                    <a:cubicBezTo>
                      <a:pt x="23216" y="5091"/>
                      <a:pt x="35507" y="0"/>
                      <a:pt x="48323" y="0"/>
                    </a:cubicBezTo>
                    <a:close/>
                  </a:path>
                </a:pathLst>
              </a:custGeom>
              <a:ln w="285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68" id="68"/>
              <p:cNvSpPr txBox="true"/>
              <p:nvPr/>
            </p:nvSpPr>
            <p:spPr>
              <a:xfrm>
                <a:off x="0" y="-104775"/>
                <a:ext cx="778331" cy="355646"/>
              </a:xfrm>
              <a:prstGeom prst="rect">
                <a:avLst/>
              </a:prstGeom>
            </p:spPr>
            <p:txBody>
              <a:bodyPr anchor="ctr" rtlCol="false" tIns="33048" lIns="33048" bIns="33048" rIns="33048"/>
              <a:lstStyle/>
              <a:p>
                <a:pPr algn="ctr" marL="0" indent="0" lvl="0">
                  <a:lnSpc>
                    <a:spcPts val="3401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9" id="69"/>
            <p:cNvGrpSpPr/>
            <p:nvPr/>
          </p:nvGrpSpPr>
          <p:grpSpPr>
            <a:xfrm rot="0">
              <a:off x="111263" y="111314"/>
              <a:ext cx="889669" cy="884438"/>
              <a:chOff x="0" y="0"/>
              <a:chExt cx="201607" cy="200421"/>
            </a:xfrm>
          </p:grpSpPr>
          <p:sp>
            <p:nvSpPr>
              <p:cNvPr name="Freeform 70" id="70"/>
              <p:cNvSpPr/>
              <p:nvPr/>
            </p:nvSpPr>
            <p:spPr>
              <a:xfrm flipH="false" flipV="false" rot="0">
                <a:off x="0" y="0"/>
                <a:ext cx="201607" cy="200421"/>
              </a:xfrm>
              <a:custGeom>
                <a:avLst/>
                <a:gdLst/>
                <a:ahLst/>
                <a:cxnLst/>
                <a:rect r="r" b="b" t="t" l="l"/>
                <a:pathLst>
                  <a:path h="200421" w="201607">
                    <a:moveTo>
                      <a:pt x="93278" y="0"/>
                    </a:moveTo>
                    <a:lnTo>
                      <a:pt x="108328" y="0"/>
                    </a:lnTo>
                    <a:cubicBezTo>
                      <a:pt x="159845" y="0"/>
                      <a:pt x="201607" y="41762"/>
                      <a:pt x="201607" y="93278"/>
                    </a:cubicBezTo>
                    <a:lnTo>
                      <a:pt x="201607" y="107143"/>
                    </a:lnTo>
                    <a:cubicBezTo>
                      <a:pt x="201607" y="131882"/>
                      <a:pt x="191779" y="155608"/>
                      <a:pt x="174286" y="173101"/>
                    </a:cubicBezTo>
                    <a:cubicBezTo>
                      <a:pt x="156793" y="190594"/>
                      <a:pt x="133067" y="200421"/>
                      <a:pt x="108328" y="200421"/>
                    </a:cubicBezTo>
                    <a:lnTo>
                      <a:pt x="93278" y="200421"/>
                    </a:lnTo>
                    <a:cubicBezTo>
                      <a:pt x="68539" y="200421"/>
                      <a:pt x="44814" y="190594"/>
                      <a:pt x="27321" y="173101"/>
                    </a:cubicBezTo>
                    <a:cubicBezTo>
                      <a:pt x="9828" y="155608"/>
                      <a:pt x="0" y="131882"/>
                      <a:pt x="0" y="107143"/>
                    </a:cubicBezTo>
                    <a:lnTo>
                      <a:pt x="0" y="93278"/>
                    </a:lnTo>
                    <a:cubicBezTo>
                      <a:pt x="0" y="68539"/>
                      <a:pt x="9828" y="44814"/>
                      <a:pt x="27321" y="27321"/>
                    </a:cubicBezTo>
                    <a:cubicBezTo>
                      <a:pt x="44814" y="9828"/>
                      <a:pt x="68539" y="0"/>
                      <a:pt x="93278" y="0"/>
                    </a:cubicBezTo>
                    <a:close/>
                  </a:path>
                </a:pathLst>
              </a:custGeom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71" id="71"/>
              <p:cNvSpPr txBox="true"/>
              <p:nvPr/>
            </p:nvSpPr>
            <p:spPr>
              <a:xfrm>
                <a:off x="0" y="-104775"/>
                <a:ext cx="201607" cy="305196"/>
              </a:xfrm>
              <a:prstGeom prst="rect">
                <a:avLst/>
              </a:prstGeom>
            </p:spPr>
            <p:txBody>
              <a:bodyPr anchor="ctr" rtlCol="false" tIns="33048" lIns="33048" bIns="33048" rIns="33048"/>
              <a:lstStyle/>
              <a:p>
                <a:pPr algn="ctr" marL="0" indent="0" lvl="0">
                  <a:lnSpc>
                    <a:spcPts val="3401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72" id="72"/>
            <p:cNvSpPr txBox="true"/>
            <p:nvPr/>
          </p:nvSpPr>
          <p:spPr>
            <a:xfrm rot="0">
              <a:off x="1132494" y="306666"/>
              <a:ext cx="2109337" cy="3675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251"/>
                </a:lnSpc>
                <a:spcBef>
                  <a:spcPct val="0"/>
                </a:spcBef>
              </a:pPr>
              <a:r>
                <a:rPr lang="en-US" b="true" sz="1607" i="true">
                  <a:solidFill>
                    <a:srgbClr val="000000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Evaluasi Model</a:t>
              </a:r>
            </a:p>
          </p:txBody>
        </p:sp>
        <p:sp>
          <p:nvSpPr>
            <p:cNvPr name="TextBox 73" id="73"/>
            <p:cNvSpPr txBox="true"/>
            <p:nvPr/>
          </p:nvSpPr>
          <p:spPr>
            <a:xfrm rot="0">
              <a:off x="1132494" y="645629"/>
              <a:ext cx="2109337" cy="2751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76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9842479" y="3847727"/>
            <a:ext cx="7983497" cy="1743977"/>
            <a:chOff x="0" y="0"/>
            <a:chExt cx="2030384" cy="443533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030384" cy="443533"/>
            </a:xfrm>
            <a:custGeom>
              <a:avLst/>
              <a:gdLst/>
              <a:ahLst/>
              <a:cxnLst/>
              <a:rect r="r" b="b" t="t" l="l"/>
              <a:pathLst>
                <a:path h="443533" w="2030384">
                  <a:moveTo>
                    <a:pt x="16486" y="0"/>
                  </a:moveTo>
                  <a:lnTo>
                    <a:pt x="2013898" y="0"/>
                  </a:lnTo>
                  <a:cubicBezTo>
                    <a:pt x="2018270" y="0"/>
                    <a:pt x="2022464" y="1737"/>
                    <a:pt x="2025555" y="4829"/>
                  </a:cubicBezTo>
                  <a:cubicBezTo>
                    <a:pt x="2028647" y="7920"/>
                    <a:pt x="2030384" y="12113"/>
                    <a:pt x="2030384" y="16486"/>
                  </a:cubicBezTo>
                  <a:lnTo>
                    <a:pt x="2030384" y="427047"/>
                  </a:lnTo>
                  <a:cubicBezTo>
                    <a:pt x="2030384" y="431419"/>
                    <a:pt x="2028647" y="435613"/>
                    <a:pt x="2025555" y="438704"/>
                  </a:cubicBezTo>
                  <a:cubicBezTo>
                    <a:pt x="2022464" y="441796"/>
                    <a:pt x="2018270" y="443533"/>
                    <a:pt x="2013898" y="443533"/>
                  </a:cubicBezTo>
                  <a:lnTo>
                    <a:pt x="16486" y="443533"/>
                  </a:lnTo>
                  <a:cubicBezTo>
                    <a:pt x="12113" y="443533"/>
                    <a:pt x="7920" y="441796"/>
                    <a:pt x="4829" y="438704"/>
                  </a:cubicBezTo>
                  <a:cubicBezTo>
                    <a:pt x="1737" y="435613"/>
                    <a:pt x="0" y="431419"/>
                    <a:pt x="0" y="427047"/>
                  </a:cubicBezTo>
                  <a:lnTo>
                    <a:pt x="0" y="16486"/>
                  </a:lnTo>
                  <a:cubicBezTo>
                    <a:pt x="0" y="12113"/>
                    <a:pt x="1737" y="7920"/>
                    <a:pt x="4829" y="4829"/>
                  </a:cubicBezTo>
                  <a:cubicBezTo>
                    <a:pt x="7920" y="1737"/>
                    <a:pt x="12113" y="0"/>
                    <a:pt x="16486" y="0"/>
                  </a:cubicBezTo>
                  <a:close/>
                </a:path>
              </a:pathLst>
            </a:custGeom>
            <a:solidFill>
              <a:srgbClr val="C7E8FB"/>
            </a:solid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57150"/>
              <a:ext cx="2030384" cy="500683"/>
            </a:xfrm>
            <a:prstGeom prst="rect">
              <a:avLst/>
            </a:prstGeom>
          </p:spPr>
          <p:txBody>
            <a:bodyPr anchor="ctr" rtlCol="false" tIns="52608" lIns="52608" bIns="52608" rIns="52608"/>
            <a:lstStyle/>
            <a:p>
              <a:pPr algn="l" marL="453392" indent="-226696" lvl="1">
                <a:lnSpc>
                  <a:spcPts val="2940"/>
                </a:lnSpc>
                <a:buFont typeface="Arial"/>
                <a:buChar char="•"/>
              </a:pPr>
              <a:r>
                <a:rPr lang="en-US" b="true" sz="21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Koordinat dihapus </a:t>
              </a:r>
              <a:r>
                <a:rPr lang="en-US" sz="21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→</a:t>
              </a:r>
              <a:r>
                <a:rPr lang="en-US" sz="21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mencegah spatial confounding</a:t>
              </a:r>
            </a:p>
            <a:p>
              <a:pPr algn="l" marL="453392" indent="-226696" lvl="1">
                <a:lnSpc>
                  <a:spcPts val="2940"/>
                </a:lnSpc>
                <a:buFont typeface="Arial"/>
                <a:buChar char="•"/>
              </a:pPr>
              <a:r>
                <a:rPr lang="en-US" b="true" sz="21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Evaluasi LOSO-CV</a:t>
              </a:r>
              <a:r>
                <a:rPr lang="en-US" sz="21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→</a:t>
              </a:r>
              <a:r>
                <a:rPr lang="en-US" sz="21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generalisasi ke lokasi tanpa sensor</a:t>
              </a:r>
              <a:r>
                <a:rPr lang="en-US" b="true" sz="21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9796159" y="6634434"/>
            <a:ext cx="7983497" cy="1864690"/>
            <a:chOff x="0" y="0"/>
            <a:chExt cx="2030384" cy="474233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030384" cy="474233"/>
            </a:xfrm>
            <a:custGeom>
              <a:avLst/>
              <a:gdLst/>
              <a:ahLst/>
              <a:cxnLst/>
              <a:rect r="r" b="b" t="t" l="l"/>
              <a:pathLst>
                <a:path h="474233" w="2030384">
                  <a:moveTo>
                    <a:pt x="16486" y="0"/>
                  </a:moveTo>
                  <a:lnTo>
                    <a:pt x="2013898" y="0"/>
                  </a:lnTo>
                  <a:cubicBezTo>
                    <a:pt x="2018270" y="0"/>
                    <a:pt x="2022464" y="1737"/>
                    <a:pt x="2025555" y="4829"/>
                  </a:cubicBezTo>
                  <a:cubicBezTo>
                    <a:pt x="2028647" y="7920"/>
                    <a:pt x="2030384" y="12113"/>
                    <a:pt x="2030384" y="16486"/>
                  </a:cubicBezTo>
                  <a:lnTo>
                    <a:pt x="2030384" y="457747"/>
                  </a:lnTo>
                  <a:cubicBezTo>
                    <a:pt x="2030384" y="462119"/>
                    <a:pt x="2028647" y="466313"/>
                    <a:pt x="2025555" y="469404"/>
                  </a:cubicBezTo>
                  <a:cubicBezTo>
                    <a:pt x="2022464" y="472496"/>
                    <a:pt x="2018270" y="474233"/>
                    <a:pt x="2013898" y="474233"/>
                  </a:cubicBezTo>
                  <a:lnTo>
                    <a:pt x="16486" y="474233"/>
                  </a:lnTo>
                  <a:cubicBezTo>
                    <a:pt x="12113" y="474233"/>
                    <a:pt x="7920" y="472496"/>
                    <a:pt x="4829" y="469404"/>
                  </a:cubicBezTo>
                  <a:cubicBezTo>
                    <a:pt x="1737" y="466313"/>
                    <a:pt x="0" y="462119"/>
                    <a:pt x="0" y="457747"/>
                  </a:cubicBezTo>
                  <a:lnTo>
                    <a:pt x="0" y="16486"/>
                  </a:lnTo>
                  <a:cubicBezTo>
                    <a:pt x="0" y="12113"/>
                    <a:pt x="1737" y="7920"/>
                    <a:pt x="4829" y="4829"/>
                  </a:cubicBezTo>
                  <a:cubicBezTo>
                    <a:pt x="7920" y="1737"/>
                    <a:pt x="12113" y="0"/>
                    <a:pt x="16486" y="0"/>
                  </a:cubicBezTo>
                  <a:close/>
                </a:path>
              </a:pathLst>
            </a:custGeom>
            <a:solidFill>
              <a:srgbClr val="C7E8FB"/>
            </a:solid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57150"/>
              <a:ext cx="2030384" cy="531383"/>
            </a:xfrm>
            <a:prstGeom prst="rect">
              <a:avLst/>
            </a:prstGeom>
          </p:spPr>
          <p:txBody>
            <a:bodyPr anchor="ctr" rtlCol="false" tIns="52608" lIns="52608" bIns="52608" rIns="52608"/>
            <a:lstStyle/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b="true" sz="21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XGBoost </a:t>
              </a:r>
              <a:r>
                <a:rPr lang="en-US" sz="21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→ baseline model</a:t>
              </a:r>
            </a:p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b="true" sz="21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INLA SPDE </a:t>
              </a:r>
              <a:r>
                <a:rPr lang="en-US" sz="21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→ efek acak spasial dengan memori temporal</a:t>
              </a:r>
            </a:p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b="true" sz="21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XGBoost-INLA SPDE</a:t>
              </a:r>
              <a:r>
                <a:rPr lang="en-US" sz="21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→ hybrid model</a:t>
              </a:r>
            </a:p>
          </p:txBody>
        </p:sp>
      </p:grpSp>
      <p:sp>
        <p:nvSpPr>
          <p:cNvPr name="Freeform 80" id="80"/>
          <p:cNvSpPr/>
          <p:nvPr/>
        </p:nvSpPr>
        <p:spPr>
          <a:xfrm flipH="false" flipV="false" rot="0">
            <a:off x="5664734" y="4032734"/>
            <a:ext cx="550773" cy="450257"/>
          </a:xfrm>
          <a:custGeom>
            <a:avLst/>
            <a:gdLst/>
            <a:ahLst/>
            <a:cxnLst/>
            <a:rect r="r" b="b" t="t" l="l"/>
            <a:pathLst>
              <a:path h="450257" w="550773">
                <a:moveTo>
                  <a:pt x="0" y="0"/>
                </a:moveTo>
                <a:lnTo>
                  <a:pt x="550773" y="0"/>
                </a:lnTo>
                <a:lnTo>
                  <a:pt x="550773" y="450257"/>
                </a:lnTo>
                <a:lnTo>
                  <a:pt x="0" y="4502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1" id="81"/>
          <p:cNvSpPr/>
          <p:nvPr/>
        </p:nvSpPr>
        <p:spPr>
          <a:xfrm flipH="false" flipV="false" rot="0">
            <a:off x="5694655" y="6104924"/>
            <a:ext cx="520852" cy="520852"/>
          </a:xfrm>
          <a:custGeom>
            <a:avLst/>
            <a:gdLst/>
            <a:ahLst/>
            <a:cxnLst/>
            <a:rect r="r" b="b" t="t" l="l"/>
            <a:pathLst>
              <a:path h="520852" w="520852">
                <a:moveTo>
                  <a:pt x="0" y="0"/>
                </a:moveTo>
                <a:lnTo>
                  <a:pt x="520852" y="0"/>
                </a:lnTo>
                <a:lnTo>
                  <a:pt x="520852" y="520852"/>
                </a:lnTo>
                <a:lnTo>
                  <a:pt x="0" y="52085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2" id="82"/>
          <p:cNvSpPr/>
          <p:nvPr/>
        </p:nvSpPr>
        <p:spPr>
          <a:xfrm flipH="false" flipV="false" rot="0">
            <a:off x="1791438" y="8250607"/>
            <a:ext cx="497034" cy="497034"/>
          </a:xfrm>
          <a:custGeom>
            <a:avLst/>
            <a:gdLst/>
            <a:ahLst/>
            <a:cxnLst/>
            <a:rect r="r" b="b" t="t" l="l"/>
            <a:pathLst>
              <a:path h="497034" w="497034">
                <a:moveTo>
                  <a:pt x="0" y="0"/>
                </a:moveTo>
                <a:lnTo>
                  <a:pt x="497033" y="0"/>
                </a:lnTo>
                <a:lnTo>
                  <a:pt x="497033" y="497034"/>
                </a:lnTo>
                <a:lnTo>
                  <a:pt x="0" y="49703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3" id="83"/>
          <p:cNvSpPr/>
          <p:nvPr/>
        </p:nvSpPr>
        <p:spPr>
          <a:xfrm flipH="false" flipV="false" rot="0">
            <a:off x="1791438" y="6128742"/>
            <a:ext cx="497034" cy="497034"/>
          </a:xfrm>
          <a:custGeom>
            <a:avLst/>
            <a:gdLst/>
            <a:ahLst/>
            <a:cxnLst/>
            <a:rect r="r" b="b" t="t" l="l"/>
            <a:pathLst>
              <a:path h="497034" w="497034">
                <a:moveTo>
                  <a:pt x="0" y="0"/>
                </a:moveTo>
                <a:lnTo>
                  <a:pt x="497033" y="0"/>
                </a:lnTo>
                <a:lnTo>
                  <a:pt x="497033" y="497034"/>
                </a:lnTo>
                <a:lnTo>
                  <a:pt x="0" y="49703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4" id="84"/>
          <p:cNvSpPr/>
          <p:nvPr/>
        </p:nvSpPr>
        <p:spPr>
          <a:xfrm flipH="false" flipV="false" rot="0">
            <a:off x="5731666" y="8275709"/>
            <a:ext cx="446830" cy="446830"/>
          </a:xfrm>
          <a:custGeom>
            <a:avLst/>
            <a:gdLst/>
            <a:ahLst/>
            <a:cxnLst/>
            <a:rect r="r" b="b" t="t" l="l"/>
            <a:pathLst>
              <a:path h="446830" w="446830">
                <a:moveTo>
                  <a:pt x="0" y="0"/>
                </a:moveTo>
                <a:lnTo>
                  <a:pt x="446830" y="0"/>
                </a:lnTo>
                <a:lnTo>
                  <a:pt x="446830" y="446830"/>
                </a:lnTo>
                <a:lnTo>
                  <a:pt x="0" y="44683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5" id="85"/>
          <p:cNvSpPr txBox="true"/>
          <p:nvPr/>
        </p:nvSpPr>
        <p:spPr>
          <a:xfrm rot="0">
            <a:off x="4851960" y="688658"/>
            <a:ext cx="8584080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70"/>
              </a:lnSpc>
            </a:pPr>
            <a:r>
              <a:rPr lang="en-US" sz="5250" b="true">
                <a:solidFill>
                  <a:srgbClr val="263C92"/>
                </a:solidFill>
                <a:latin typeface="Inter Bold"/>
                <a:ea typeface="Inter Bold"/>
                <a:cs typeface="Inter Bold"/>
                <a:sym typeface="Inter Bold"/>
              </a:rPr>
              <a:t>Prosedur Penelitian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446796" y="1887508"/>
            <a:ext cx="8349362" cy="485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9"/>
              </a:lnSpc>
            </a:pPr>
            <a:r>
              <a:rPr lang="en-US" sz="3462" b="true">
                <a:solidFill>
                  <a:srgbClr val="263C92"/>
                </a:solidFill>
                <a:latin typeface="Inter Bold"/>
                <a:ea typeface="Inter Bold"/>
                <a:cs typeface="Inter Bold"/>
                <a:sym typeface="Inter Bold"/>
              </a:rPr>
              <a:t>Bayesian First Hierarchical Modelling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1153599" y="3171085"/>
            <a:ext cx="2757782" cy="416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6"/>
              </a:lnSpc>
            </a:pPr>
            <a:r>
              <a:rPr lang="en-US" sz="2940" b="true">
                <a:solidFill>
                  <a:srgbClr val="263C92"/>
                </a:solidFill>
                <a:latin typeface="Inter Bold"/>
                <a:ea typeface="Inter Bold"/>
                <a:cs typeface="Inter Bold"/>
                <a:sym typeface="Inter Bold"/>
              </a:rPr>
              <a:t>Pipeline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5809934" y="3520703"/>
            <a:ext cx="2041082" cy="298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11"/>
              </a:lnSpc>
            </a:pPr>
            <a:r>
              <a:rPr lang="en-US" sz="1607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Daily mean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5809934" y="4629394"/>
            <a:ext cx="2041082" cy="298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11"/>
              </a:lnSpc>
            </a:pPr>
            <a:r>
              <a:rPr lang="en-US" sz="1607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*tanpa koordinat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5803553" y="6751259"/>
            <a:ext cx="2041082" cy="298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11"/>
              </a:lnSpc>
            </a:pPr>
            <a:r>
              <a:rPr lang="en-US" sz="1607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LOSO-CV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1634612" y="6760784"/>
            <a:ext cx="2576018" cy="269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10"/>
              </a:lnSpc>
            </a:pPr>
            <a:r>
              <a:rPr lang="en-US" sz="1473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sinyal meteorologi regional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5809934" y="8873124"/>
            <a:ext cx="2041082" cy="298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11"/>
              </a:lnSpc>
            </a:pPr>
            <a:r>
              <a:rPr lang="en-US" sz="1607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LOSO-CV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9842479" y="5960966"/>
            <a:ext cx="4986396" cy="416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6"/>
              </a:lnSpc>
            </a:pPr>
            <a:r>
              <a:rPr lang="en-US" sz="2940" b="true">
                <a:solidFill>
                  <a:srgbClr val="263C92"/>
                </a:solidFill>
                <a:latin typeface="Inter Bold"/>
                <a:ea typeface="Inter Bold"/>
                <a:cs typeface="Inter Bold"/>
                <a:sym typeface="Inter Bold"/>
              </a:rPr>
              <a:t>Model yang dibandingkan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9842479" y="3287223"/>
            <a:ext cx="4102635" cy="416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6"/>
              </a:lnSpc>
            </a:pPr>
            <a:r>
              <a:rPr lang="en-US" sz="2940" b="true">
                <a:solidFill>
                  <a:srgbClr val="263C92"/>
                </a:solidFill>
                <a:latin typeface="Inter Bold"/>
                <a:ea typeface="Inter Bold"/>
                <a:cs typeface="Inter Bold"/>
                <a:sym typeface="Inter Bold"/>
              </a:rPr>
              <a:t>Prinsip Metodologis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1446796" y="2401800"/>
            <a:ext cx="6494385" cy="333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5"/>
              </a:lnSpc>
            </a:pPr>
            <a:r>
              <a:rPr lang="en-US" sz="2403" b="true">
                <a:solidFill>
                  <a:srgbClr val="263C92"/>
                </a:solidFill>
                <a:latin typeface="Inter Bold"/>
                <a:ea typeface="Inter Bold"/>
                <a:cs typeface="Inter Bold"/>
                <a:sym typeface="Inter Bold"/>
              </a:rPr>
              <a:t>XGBoost → R-INLA SPDE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9779760"/>
            <a:ext cx="18288000" cy="507238"/>
            <a:chOff x="0" y="0"/>
            <a:chExt cx="24384000" cy="6763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676275"/>
            </a:xfrm>
            <a:custGeom>
              <a:avLst/>
              <a:gdLst/>
              <a:ahLst/>
              <a:cxnLst/>
              <a:rect r="r" b="b" t="t" l="l"/>
              <a:pathLst>
                <a:path h="6762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76275"/>
                  </a:lnTo>
                  <a:lnTo>
                    <a:pt x="0" y="676275"/>
                  </a:lnTo>
                  <a:close/>
                </a:path>
              </a:pathLst>
            </a:custGeom>
            <a:solidFill>
              <a:srgbClr val="263C92"/>
            </a:solid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0" y="9779762"/>
            <a:ext cx="18288000" cy="507238"/>
            <a:chOff x="0" y="0"/>
            <a:chExt cx="24384000" cy="6763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676275"/>
            </a:xfrm>
            <a:custGeom>
              <a:avLst/>
              <a:gdLst/>
              <a:ahLst/>
              <a:cxnLst/>
              <a:rect r="r" b="b" t="t" l="l"/>
              <a:pathLst>
                <a:path h="6762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76275"/>
                  </a:lnTo>
                  <a:lnTo>
                    <a:pt x="0" y="6762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9681099"/>
            <a:ext cx="18288000" cy="99327"/>
            <a:chOff x="0" y="0"/>
            <a:chExt cx="24384000" cy="13243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132461"/>
            </a:xfrm>
            <a:custGeom>
              <a:avLst/>
              <a:gdLst/>
              <a:ahLst/>
              <a:cxnLst/>
              <a:rect r="r" b="b" t="t" l="l"/>
              <a:pathLst>
                <a:path h="13246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2461"/>
                  </a:lnTo>
                  <a:lnTo>
                    <a:pt x="0" y="132461"/>
                  </a:lnTo>
                  <a:close/>
                </a:path>
              </a:pathLst>
            </a:custGeom>
            <a:solidFill>
              <a:srgbClr val="FED80B"/>
            </a:solid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635619" y="493260"/>
            <a:ext cx="2183244" cy="572066"/>
            <a:chOff x="0" y="0"/>
            <a:chExt cx="2910992" cy="762754"/>
          </a:xfrm>
        </p:grpSpPr>
        <p:sp>
          <p:nvSpPr>
            <p:cNvPr name="Freeform 9" id="9" descr="A blue and black logo  AI-generated content may be incorrect."/>
            <p:cNvSpPr/>
            <p:nvPr/>
          </p:nvSpPr>
          <p:spPr>
            <a:xfrm flipH="false" flipV="false" rot="0">
              <a:off x="0" y="0"/>
              <a:ext cx="2910967" cy="762762"/>
            </a:xfrm>
            <a:custGeom>
              <a:avLst/>
              <a:gdLst/>
              <a:ahLst/>
              <a:cxnLst/>
              <a:rect r="r" b="b" t="t" l="l"/>
              <a:pathLst>
                <a:path h="762762" w="2910967">
                  <a:moveTo>
                    <a:pt x="0" y="0"/>
                  </a:moveTo>
                  <a:lnTo>
                    <a:pt x="2910967" y="0"/>
                  </a:lnTo>
                  <a:lnTo>
                    <a:pt x="2910967" y="762762"/>
                  </a:lnTo>
                  <a:lnTo>
                    <a:pt x="0" y="762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5712649" y="492926"/>
            <a:ext cx="1939733" cy="572400"/>
            <a:chOff x="0" y="0"/>
            <a:chExt cx="2586310" cy="763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86355" cy="763143"/>
            </a:xfrm>
            <a:custGeom>
              <a:avLst/>
              <a:gdLst/>
              <a:ahLst/>
              <a:cxnLst/>
              <a:rect r="r" b="b" t="t" l="l"/>
              <a:pathLst>
                <a:path h="763143" w="2586355">
                  <a:moveTo>
                    <a:pt x="0" y="0"/>
                  </a:moveTo>
                  <a:lnTo>
                    <a:pt x="2586355" y="0"/>
                  </a:lnTo>
                  <a:lnTo>
                    <a:pt x="2586355" y="763143"/>
                  </a:lnTo>
                  <a:lnTo>
                    <a:pt x="0" y="7631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-7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475063" y="2126475"/>
            <a:ext cx="8583545" cy="3876960"/>
            <a:chOff x="0" y="0"/>
            <a:chExt cx="2109110" cy="9526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09110" cy="952629"/>
            </a:xfrm>
            <a:custGeom>
              <a:avLst/>
              <a:gdLst/>
              <a:ahLst/>
              <a:cxnLst/>
              <a:rect r="r" b="b" t="t" l="l"/>
              <a:pathLst>
                <a:path h="952629" w="2109110">
                  <a:moveTo>
                    <a:pt x="20745" y="0"/>
                  </a:moveTo>
                  <a:lnTo>
                    <a:pt x="2088365" y="0"/>
                  </a:lnTo>
                  <a:cubicBezTo>
                    <a:pt x="2099822" y="0"/>
                    <a:pt x="2109110" y="9288"/>
                    <a:pt x="2109110" y="20745"/>
                  </a:cubicBezTo>
                  <a:lnTo>
                    <a:pt x="2109110" y="931884"/>
                  </a:lnTo>
                  <a:cubicBezTo>
                    <a:pt x="2109110" y="943341"/>
                    <a:pt x="2099822" y="952629"/>
                    <a:pt x="2088365" y="952629"/>
                  </a:cubicBezTo>
                  <a:lnTo>
                    <a:pt x="20745" y="952629"/>
                  </a:lnTo>
                  <a:cubicBezTo>
                    <a:pt x="15243" y="952629"/>
                    <a:pt x="9966" y="950444"/>
                    <a:pt x="6076" y="946553"/>
                  </a:cubicBezTo>
                  <a:cubicBezTo>
                    <a:pt x="2186" y="942663"/>
                    <a:pt x="0" y="937386"/>
                    <a:pt x="0" y="931884"/>
                  </a:cubicBezTo>
                  <a:lnTo>
                    <a:pt x="0" y="20745"/>
                  </a:lnTo>
                  <a:cubicBezTo>
                    <a:pt x="0" y="9288"/>
                    <a:pt x="9288" y="0"/>
                    <a:pt x="20745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dash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0"/>
              <a:ext cx="2109110" cy="1047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3"/>
                </a:lnSpc>
              </a:pPr>
            </a:p>
          </p:txBody>
        </p:sp>
      </p:grpSp>
      <p:graphicFrame>
        <p:nvGraphicFramePr>
          <p:cNvPr name="Object 15" id="15"/>
          <p:cNvGraphicFramePr/>
          <p:nvPr/>
        </p:nvGraphicFramePr>
        <p:xfrm>
          <a:off x="8891456" y="2692459"/>
          <a:ext cx="7586157" cy="4274588"/>
        </p:xfrm>
        <a:graphic>
          <a:graphicData uri="http://schemas.openxmlformats.org/presentationml/2006/ole">
            <p:oleObj imgW="9105900" imgH="57912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pSp>
        <p:nvGrpSpPr>
          <p:cNvPr name="Group 16" id="16"/>
          <p:cNvGrpSpPr/>
          <p:nvPr/>
        </p:nvGrpSpPr>
        <p:grpSpPr>
          <a:xfrm rot="0">
            <a:off x="869924" y="2130859"/>
            <a:ext cx="7019814" cy="3799876"/>
            <a:chOff x="0" y="0"/>
            <a:chExt cx="1742752" cy="94336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42752" cy="943364"/>
            </a:xfrm>
            <a:custGeom>
              <a:avLst/>
              <a:gdLst/>
              <a:ahLst/>
              <a:cxnLst/>
              <a:rect r="r" b="b" t="t" l="l"/>
              <a:pathLst>
                <a:path h="943364" w="1742752">
                  <a:moveTo>
                    <a:pt x="25366" y="0"/>
                  </a:moveTo>
                  <a:lnTo>
                    <a:pt x="1717386" y="0"/>
                  </a:lnTo>
                  <a:cubicBezTo>
                    <a:pt x="1731395" y="0"/>
                    <a:pt x="1742752" y="11357"/>
                    <a:pt x="1742752" y="25366"/>
                  </a:cubicBezTo>
                  <a:lnTo>
                    <a:pt x="1742752" y="917998"/>
                  </a:lnTo>
                  <a:cubicBezTo>
                    <a:pt x="1742752" y="932007"/>
                    <a:pt x="1731395" y="943364"/>
                    <a:pt x="1717386" y="943364"/>
                  </a:cubicBezTo>
                  <a:lnTo>
                    <a:pt x="25366" y="943364"/>
                  </a:lnTo>
                  <a:cubicBezTo>
                    <a:pt x="11357" y="943364"/>
                    <a:pt x="0" y="932007"/>
                    <a:pt x="0" y="917998"/>
                  </a:cubicBezTo>
                  <a:lnTo>
                    <a:pt x="0" y="25366"/>
                  </a:lnTo>
                  <a:cubicBezTo>
                    <a:pt x="0" y="11357"/>
                    <a:pt x="11357" y="0"/>
                    <a:pt x="25366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dash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19050"/>
              <a:ext cx="1742752" cy="9243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4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862442" y="3862282"/>
            <a:ext cx="4037100" cy="1209081"/>
          </a:xfrm>
          <a:custGeom>
            <a:avLst/>
            <a:gdLst/>
            <a:ahLst/>
            <a:cxnLst/>
            <a:rect r="r" b="b" t="t" l="l"/>
            <a:pathLst>
              <a:path h="1209081" w="4037100">
                <a:moveTo>
                  <a:pt x="0" y="0"/>
                </a:moveTo>
                <a:lnTo>
                  <a:pt x="4037100" y="0"/>
                </a:lnTo>
                <a:lnTo>
                  <a:pt x="4037100" y="1209081"/>
                </a:lnTo>
                <a:lnTo>
                  <a:pt x="0" y="120908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6708410" y="6897820"/>
            <a:ext cx="4563072" cy="2153157"/>
            <a:chOff x="0" y="0"/>
            <a:chExt cx="6084096" cy="2870877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6084096" cy="2870877"/>
              <a:chOff x="0" y="0"/>
              <a:chExt cx="1858473" cy="87695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858473" cy="876950"/>
              </a:xfrm>
              <a:custGeom>
                <a:avLst/>
                <a:gdLst/>
                <a:ahLst/>
                <a:cxnLst/>
                <a:rect r="r" b="b" t="t" l="l"/>
                <a:pathLst>
                  <a:path h="876950" w="1858473">
                    <a:moveTo>
                      <a:pt x="27822" y="0"/>
                    </a:moveTo>
                    <a:lnTo>
                      <a:pt x="1830652" y="0"/>
                    </a:lnTo>
                    <a:cubicBezTo>
                      <a:pt x="1838030" y="0"/>
                      <a:pt x="1845107" y="2931"/>
                      <a:pt x="1850324" y="8149"/>
                    </a:cubicBezTo>
                    <a:cubicBezTo>
                      <a:pt x="1855542" y="13366"/>
                      <a:pt x="1858473" y="20443"/>
                      <a:pt x="1858473" y="27822"/>
                    </a:cubicBezTo>
                    <a:lnTo>
                      <a:pt x="1858473" y="849128"/>
                    </a:lnTo>
                    <a:cubicBezTo>
                      <a:pt x="1858473" y="856507"/>
                      <a:pt x="1855542" y="863584"/>
                      <a:pt x="1850324" y="868801"/>
                    </a:cubicBezTo>
                    <a:cubicBezTo>
                      <a:pt x="1845107" y="874019"/>
                      <a:pt x="1838030" y="876950"/>
                      <a:pt x="1830652" y="876950"/>
                    </a:cubicBezTo>
                    <a:lnTo>
                      <a:pt x="27822" y="876950"/>
                    </a:lnTo>
                    <a:cubicBezTo>
                      <a:pt x="20443" y="876950"/>
                      <a:pt x="13366" y="874019"/>
                      <a:pt x="8149" y="868801"/>
                    </a:cubicBezTo>
                    <a:cubicBezTo>
                      <a:pt x="2931" y="863584"/>
                      <a:pt x="0" y="856507"/>
                      <a:pt x="0" y="849128"/>
                    </a:cubicBezTo>
                    <a:lnTo>
                      <a:pt x="0" y="27822"/>
                    </a:lnTo>
                    <a:cubicBezTo>
                      <a:pt x="0" y="20443"/>
                      <a:pt x="2931" y="13366"/>
                      <a:pt x="8149" y="8149"/>
                    </a:cubicBezTo>
                    <a:cubicBezTo>
                      <a:pt x="13366" y="2931"/>
                      <a:pt x="20443" y="0"/>
                      <a:pt x="27822" y="0"/>
                    </a:cubicBezTo>
                    <a:close/>
                  </a:path>
                </a:pathLst>
              </a:custGeom>
              <a:ln w="38100" cap="rnd">
                <a:solidFill>
                  <a:srgbClr val="000000"/>
                </a:solidFill>
                <a:prstDash val="dash"/>
                <a:round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95250"/>
                <a:ext cx="1858473" cy="9722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23"/>
                  </a:lnSpc>
                </a:pPr>
              </a:p>
            </p:txBody>
          </p:sp>
        </p:grpSp>
        <p:sp>
          <p:nvSpPr>
            <p:cNvPr name="Freeform 24" id="24"/>
            <p:cNvSpPr/>
            <p:nvPr/>
          </p:nvSpPr>
          <p:spPr>
            <a:xfrm flipH="false" flipV="false" rot="0">
              <a:off x="358353" y="702284"/>
              <a:ext cx="5564999" cy="2021635"/>
            </a:xfrm>
            <a:custGeom>
              <a:avLst/>
              <a:gdLst/>
              <a:ahLst/>
              <a:cxnLst/>
              <a:rect r="r" b="b" t="t" l="l"/>
              <a:pathLst>
                <a:path h="2021635" w="5564999">
                  <a:moveTo>
                    <a:pt x="0" y="0"/>
                  </a:moveTo>
                  <a:lnTo>
                    <a:pt x="5564999" y="0"/>
                  </a:lnTo>
                  <a:lnTo>
                    <a:pt x="5564999" y="2021636"/>
                  </a:lnTo>
                  <a:lnTo>
                    <a:pt x="0" y="20216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1043" t="0" r="-13878" b="-423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 rot="0">
              <a:off x="358353" y="258168"/>
              <a:ext cx="5725743" cy="2652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594"/>
                </a:lnSpc>
              </a:pPr>
              <a:r>
                <a:rPr lang="en-US" sz="1328" b="true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Metrik Akurasi Titik: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67742" y="7925204"/>
            <a:ext cx="5800747" cy="1444105"/>
            <a:chOff x="0" y="0"/>
            <a:chExt cx="7734329" cy="1925473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7734329" cy="1925473"/>
              <a:chOff x="0" y="0"/>
              <a:chExt cx="2206545" cy="549323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2206545" cy="549323"/>
              </a:xfrm>
              <a:custGeom>
                <a:avLst/>
                <a:gdLst/>
                <a:ahLst/>
                <a:cxnLst/>
                <a:rect r="r" b="b" t="t" l="l"/>
                <a:pathLst>
                  <a:path h="549323" w="2206545">
                    <a:moveTo>
                      <a:pt x="23433" y="0"/>
                    </a:moveTo>
                    <a:lnTo>
                      <a:pt x="2183112" y="0"/>
                    </a:lnTo>
                    <a:cubicBezTo>
                      <a:pt x="2196054" y="0"/>
                      <a:pt x="2206545" y="10491"/>
                      <a:pt x="2206545" y="23433"/>
                    </a:cubicBezTo>
                    <a:lnTo>
                      <a:pt x="2206545" y="525890"/>
                    </a:lnTo>
                    <a:cubicBezTo>
                      <a:pt x="2206545" y="532105"/>
                      <a:pt x="2204076" y="538065"/>
                      <a:pt x="2199682" y="542460"/>
                    </a:cubicBezTo>
                    <a:cubicBezTo>
                      <a:pt x="2195287" y="546854"/>
                      <a:pt x="2189327" y="549323"/>
                      <a:pt x="2183112" y="549323"/>
                    </a:cubicBezTo>
                    <a:lnTo>
                      <a:pt x="23433" y="549323"/>
                    </a:lnTo>
                    <a:cubicBezTo>
                      <a:pt x="10491" y="549323"/>
                      <a:pt x="0" y="538832"/>
                      <a:pt x="0" y="525890"/>
                    </a:cubicBezTo>
                    <a:lnTo>
                      <a:pt x="0" y="23433"/>
                    </a:lnTo>
                    <a:cubicBezTo>
                      <a:pt x="0" y="10491"/>
                      <a:pt x="10491" y="0"/>
                      <a:pt x="23433" y="0"/>
                    </a:cubicBezTo>
                    <a:close/>
                  </a:path>
                </a:pathLst>
              </a:custGeom>
              <a:ln w="38100" cap="rnd">
                <a:solidFill>
                  <a:srgbClr val="000000"/>
                </a:solidFill>
                <a:prstDash val="dash"/>
                <a:round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95250"/>
                <a:ext cx="2206545" cy="64457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23"/>
                  </a:lnSpc>
                </a:pPr>
              </a:p>
            </p:txBody>
          </p:sp>
        </p:grpSp>
        <p:sp>
          <p:nvSpPr>
            <p:cNvPr name="Freeform 30" id="30"/>
            <p:cNvSpPr/>
            <p:nvPr/>
          </p:nvSpPr>
          <p:spPr>
            <a:xfrm flipH="false" flipV="false" rot="0">
              <a:off x="391726" y="438913"/>
              <a:ext cx="6950878" cy="875987"/>
            </a:xfrm>
            <a:custGeom>
              <a:avLst/>
              <a:gdLst/>
              <a:ahLst/>
              <a:cxnLst/>
              <a:rect r="r" b="b" t="t" l="l"/>
              <a:pathLst>
                <a:path h="875987" w="6950878">
                  <a:moveTo>
                    <a:pt x="0" y="0"/>
                  </a:moveTo>
                  <a:lnTo>
                    <a:pt x="6950877" y="0"/>
                  </a:lnTo>
                  <a:lnTo>
                    <a:pt x="6950877" y="875986"/>
                  </a:lnTo>
                  <a:lnTo>
                    <a:pt x="0" y="875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5530" r="0" b="-553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 rot="0">
              <a:off x="435029" y="77220"/>
              <a:ext cx="6950878" cy="2934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707"/>
                </a:lnSpc>
              </a:pPr>
              <a:r>
                <a:rPr lang="en-US" sz="1422" b="true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Metrik Kalibrasi Bayesian: 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391726" y="1286502"/>
              <a:ext cx="6950878" cy="2934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707"/>
                </a:lnSpc>
              </a:pPr>
              <a:r>
                <a:rPr lang="en-US" sz="1422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Coverage mendekati 95% → Model Terkalibrasi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67742" y="6365083"/>
            <a:ext cx="5800747" cy="1417246"/>
            <a:chOff x="0" y="0"/>
            <a:chExt cx="7734329" cy="1889661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7734329" cy="1889661"/>
              <a:chOff x="0" y="0"/>
              <a:chExt cx="1684397" cy="411534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1684397" cy="411534"/>
              </a:xfrm>
              <a:custGeom>
                <a:avLst/>
                <a:gdLst/>
                <a:ahLst/>
                <a:cxnLst/>
                <a:rect r="r" b="b" t="t" l="l"/>
                <a:pathLst>
                  <a:path h="411534" w="1684397">
                    <a:moveTo>
                      <a:pt x="30697" y="0"/>
                    </a:moveTo>
                    <a:lnTo>
                      <a:pt x="1653701" y="0"/>
                    </a:lnTo>
                    <a:cubicBezTo>
                      <a:pt x="1661842" y="0"/>
                      <a:pt x="1669650" y="3234"/>
                      <a:pt x="1675406" y="8991"/>
                    </a:cubicBezTo>
                    <a:cubicBezTo>
                      <a:pt x="1681163" y="14748"/>
                      <a:pt x="1684397" y="22555"/>
                      <a:pt x="1684397" y="30697"/>
                    </a:cubicBezTo>
                    <a:lnTo>
                      <a:pt x="1684397" y="380837"/>
                    </a:lnTo>
                    <a:cubicBezTo>
                      <a:pt x="1684397" y="388979"/>
                      <a:pt x="1681163" y="396787"/>
                      <a:pt x="1675406" y="402543"/>
                    </a:cubicBezTo>
                    <a:cubicBezTo>
                      <a:pt x="1669650" y="408300"/>
                      <a:pt x="1661842" y="411534"/>
                      <a:pt x="1653701" y="411534"/>
                    </a:cubicBezTo>
                    <a:lnTo>
                      <a:pt x="30697" y="411534"/>
                    </a:lnTo>
                    <a:cubicBezTo>
                      <a:pt x="22555" y="411534"/>
                      <a:pt x="14748" y="408300"/>
                      <a:pt x="8991" y="402543"/>
                    </a:cubicBezTo>
                    <a:cubicBezTo>
                      <a:pt x="3234" y="396787"/>
                      <a:pt x="0" y="388979"/>
                      <a:pt x="0" y="380837"/>
                    </a:cubicBezTo>
                    <a:lnTo>
                      <a:pt x="0" y="30697"/>
                    </a:lnTo>
                    <a:cubicBezTo>
                      <a:pt x="0" y="22555"/>
                      <a:pt x="3234" y="14748"/>
                      <a:pt x="8991" y="8991"/>
                    </a:cubicBezTo>
                    <a:cubicBezTo>
                      <a:pt x="14748" y="3234"/>
                      <a:pt x="22555" y="0"/>
                      <a:pt x="30697" y="0"/>
                    </a:cubicBezTo>
                    <a:close/>
                  </a:path>
                </a:pathLst>
              </a:custGeom>
              <a:ln w="38100" cap="rnd">
                <a:solidFill>
                  <a:srgbClr val="000000"/>
                </a:solidFill>
                <a:prstDash val="dash"/>
                <a:round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95250"/>
                <a:ext cx="1684397" cy="50678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23"/>
                  </a:lnSpc>
                </a:pPr>
              </a:p>
            </p:txBody>
          </p:sp>
        </p:grpSp>
        <p:sp>
          <p:nvSpPr>
            <p:cNvPr name="TextBox 37" id="37"/>
            <p:cNvSpPr txBox="true"/>
            <p:nvPr/>
          </p:nvSpPr>
          <p:spPr>
            <a:xfrm rot="0">
              <a:off x="443515" y="200500"/>
              <a:ext cx="7086470" cy="3815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236"/>
                </a:lnSpc>
              </a:pPr>
              <a:r>
                <a:rPr lang="en-US" sz="1863" b="true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Uji Residual Spasial: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443515" y="572478"/>
              <a:ext cx="7086470" cy="1125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236"/>
                </a:lnSpc>
              </a:pPr>
              <a:r>
                <a:rPr lang="en-US" sz="1863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Global Moran’s I pada residual LOSO-CV untuk memverifikasi residual bersifat </a:t>
              </a:r>
              <a:r>
                <a:rPr lang="en-US" sz="1863" i="true">
                  <a:solidFill>
                    <a:srgbClr val="000000"/>
                  </a:solidFill>
                  <a:latin typeface="Inter Italics"/>
                  <a:ea typeface="Inter Italics"/>
                  <a:cs typeface="Inter Italics"/>
                  <a:sym typeface="Inter Italics"/>
                </a:rPr>
                <a:t>spatial white noise </a:t>
              </a:r>
              <a:r>
                <a:rPr lang="en-US" sz="1863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setelah pemodelan.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1717311" y="6527779"/>
            <a:ext cx="6336105" cy="3037431"/>
            <a:chOff x="0" y="0"/>
            <a:chExt cx="1668768" cy="79998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668768" cy="799982"/>
            </a:xfrm>
            <a:custGeom>
              <a:avLst/>
              <a:gdLst/>
              <a:ahLst/>
              <a:cxnLst/>
              <a:rect r="r" b="b" t="t" l="l"/>
              <a:pathLst>
                <a:path h="799982" w="1668768">
                  <a:moveTo>
                    <a:pt x="62316" y="0"/>
                  </a:moveTo>
                  <a:lnTo>
                    <a:pt x="1606453" y="0"/>
                  </a:lnTo>
                  <a:cubicBezTo>
                    <a:pt x="1622980" y="0"/>
                    <a:pt x="1638830" y="6565"/>
                    <a:pt x="1650517" y="18252"/>
                  </a:cubicBezTo>
                  <a:cubicBezTo>
                    <a:pt x="1662203" y="29938"/>
                    <a:pt x="1668768" y="45788"/>
                    <a:pt x="1668768" y="62316"/>
                  </a:cubicBezTo>
                  <a:lnTo>
                    <a:pt x="1668768" y="737666"/>
                  </a:lnTo>
                  <a:cubicBezTo>
                    <a:pt x="1668768" y="772082"/>
                    <a:pt x="1640869" y="799982"/>
                    <a:pt x="1606453" y="799982"/>
                  </a:cubicBezTo>
                  <a:lnTo>
                    <a:pt x="62316" y="799982"/>
                  </a:lnTo>
                  <a:cubicBezTo>
                    <a:pt x="45788" y="799982"/>
                    <a:pt x="29938" y="793416"/>
                    <a:pt x="18252" y="781730"/>
                  </a:cubicBezTo>
                  <a:cubicBezTo>
                    <a:pt x="6565" y="770044"/>
                    <a:pt x="0" y="754193"/>
                    <a:pt x="0" y="737666"/>
                  </a:cubicBezTo>
                  <a:lnTo>
                    <a:pt x="0" y="62316"/>
                  </a:lnTo>
                  <a:cubicBezTo>
                    <a:pt x="0" y="45788"/>
                    <a:pt x="6565" y="29938"/>
                    <a:pt x="18252" y="18252"/>
                  </a:cubicBezTo>
                  <a:cubicBezTo>
                    <a:pt x="29938" y="6565"/>
                    <a:pt x="45788" y="0"/>
                    <a:pt x="62316" y="0"/>
                  </a:cubicBezTo>
                  <a:close/>
                </a:path>
              </a:pathLst>
            </a:custGeom>
            <a:solidFill>
              <a:srgbClr val="FCDF21"/>
            </a:solidFill>
            <a:ln w="38100" cap="rnd">
              <a:solidFill>
                <a:srgbClr val="000000"/>
              </a:solidFill>
              <a:prstDash val="sysDot"/>
              <a:round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0"/>
              <a:ext cx="1668768" cy="8952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3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1376681" y="6834465"/>
            <a:ext cx="470752" cy="216856"/>
            <a:chOff x="0" y="0"/>
            <a:chExt cx="123984" cy="5711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23984" cy="57114"/>
            </a:xfrm>
            <a:custGeom>
              <a:avLst/>
              <a:gdLst/>
              <a:ahLst/>
              <a:cxnLst/>
              <a:rect r="r" b="b" t="t" l="l"/>
              <a:pathLst>
                <a:path h="57114" w="123984">
                  <a:moveTo>
                    <a:pt x="0" y="0"/>
                  </a:moveTo>
                  <a:lnTo>
                    <a:pt x="123984" y="0"/>
                  </a:lnTo>
                  <a:lnTo>
                    <a:pt x="123984" y="57114"/>
                  </a:lnTo>
                  <a:lnTo>
                    <a:pt x="0" y="57114"/>
                  </a:lnTo>
                  <a:close/>
                </a:path>
              </a:pathLst>
            </a:custGeom>
            <a:solidFill>
              <a:srgbClr val="768ADB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0"/>
              <a:ext cx="123984" cy="152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3401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1366732" y="7307529"/>
            <a:ext cx="470752" cy="216856"/>
            <a:chOff x="0" y="0"/>
            <a:chExt cx="123984" cy="5711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23984" cy="57114"/>
            </a:xfrm>
            <a:custGeom>
              <a:avLst/>
              <a:gdLst/>
              <a:ahLst/>
              <a:cxnLst/>
              <a:rect r="r" b="b" t="t" l="l"/>
              <a:pathLst>
                <a:path h="57114" w="123984">
                  <a:moveTo>
                    <a:pt x="0" y="0"/>
                  </a:moveTo>
                  <a:lnTo>
                    <a:pt x="123984" y="0"/>
                  </a:lnTo>
                  <a:lnTo>
                    <a:pt x="123984" y="57114"/>
                  </a:lnTo>
                  <a:lnTo>
                    <a:pt x="0" y="57114"/>
                  </a:lnTo>
                  <a:close/>
                </a:path>
              </a:pathLst>
            </a:custGeom>
            <a:solidFill>
              <a:srgbClr val="768ADB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0"/>
              <a:ext cx="123984" cy="152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3401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1366732" y="8046494"/>
            <a:ext cx="470752" cy="216856"/>
            <a:chOff x="0" y="0"/>
            <a:chExt cx="123984" cy="5711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23984" cy="57114"/>
            </a:xfrm>
            <a:custGeom>
              <a:avLst/>
              <a:gdLst/>
              <a:ahLst/>
              <a:cxnLst/>
              <a:rect r="r" b="b" t="t" l="l"/>
              <a:pathLst>
                <a:path h="57114" w="123984">
                  <a:moveTo>
                    <a:pt x="0" y="0"/>
                  </a:moveTo>
                  <a:lnTo>
                    <a:pt x="123984" y="0"/>
                  </a:lnTo>
                  <a:lnTo>
                    <a:pt x="123984" y="57114"/>
                  </a:lnTo>
                  <a:lnTo>
                    <a:pt x="0" y="57114"/>
                  </a:lnTo>
                  <a:close/>
                </a:path>
              </a:pathLst>
            </a:custGeom>
            <a:solidFill>
              <a:srgbClr val="768ADB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0"/>
              <a:ext cx="123984" cy="152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3401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1376681" y="8815072"/>
            <a:ext cx="470752" cy="216856"/>
            <a:chOff x="0" y="0"/>
            <a:chExt cx="123984" cy="5711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23984" cy="57114"/>
            </a:xfrm>
            <a:custGeom>
              <a:avLst/>
              <a:gdLst/>
              <a:ahLst/>
              <a:cxnLst/>
              <a:rect r="r" b="b" t="t" l="l"/>
              <a:pathLst>
                <a:path h="57114" w="123984">
                  <a:moveTo>
                    <a:pt x="0" y="0"/>
                  </a:moveTo>
                  <a:lnTo>
                    <a:pt x="123984" y="0"/>
                  </a:lnTo>
                  <a:lnTo>
                    <a:pt x="123984" y="57114"/>
                  </a:lnTo>
                  <a:lnTo>
                    <a:pt x="0" y="57114"/>
                  </a:lnTo>
                  <a:close/>
                </a:path>
              </a:pathLst>
            </a:custGeom>
            <a:solidFill>
              <a:srgbClr val="768ADB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95250"/>
              <a:ext cx="123984" cy="152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3401"/>
                </a:lnSpc>
              </a:pP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1717311" y="6213806"/>
            <a:ext cx="3086100" cy="494595"/>
            <a:chOff x="0" y="0"/>
            <a:chExt cx="812800" cy="13026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12800" cy="130264"/>
            </a:xfrm>
            <a:custGeom>
              <a:avLst/>
              <a:gdLst/>
              <a:ahLst/>
              <a:cxnLst/>
              <a:rect r="r" b="b" t="t" l="l"/>
              <a:pathLst>
                <a:path h="130264" w="812800">
                  <a:moveTo>
                    <a:pt x="65132" y="0"/>
                  </a:moveTo>
                  <a:lnTo>
                    <a:pt x="747668" y="0"/>
                  </a:lnTo>
                  <a:cubicBezTo>
                    <a:pt x="783639" y="0"/>
                    <a:pt x="812800" y="29161"/>
                    <a:pt x="812800" y="65132"/>
                  </a:cubicBezTo>
                  <a:lnTo>
                    <a:pt x="812800" y="65132"/>
                  </a:lnTo>
                  <a:cubicBezTo>
                    <a:pt x="812800" y="101103"/>
                    <a:pt x="783639" y="130264"/>
                    <a:pt x="747668" y="130264"/>
                  </a:cubicBezTo>
                  <a:lnTo>
                    <a:pt x="65132" y="130264"/>
                  </a:lnTo>
                  <a:cubicBezTo>
                    <a:pt x="29161" y="130264"/>
                    <a:pt x="0" y="101103"/>
                    <a:pt x="0" y="65132"/>
                  </a:cubicBezTo>
                  <a:lnTo>
                    <a:pt x="0" y="65132"/>
                  </a:lnTo>
                  <a:cubicBezTo>
                    <a:pt x="0" y="29161"/>
                    <a:pt x="29161" y="0"/>
                    <a:pt x="65132" y="0"/>
                  </a:cubicBezTo>
                  <a:close/>
                </a:path>
              </a:pathLst>
            </a:custGeom>
            <a:solidFill>
              <a:srgbClr val="263C92"/>
            </a:solidFill>
            <a:ln w="38100" cap="rnd">
              <a:solidFill>
                <a:srgbClr val="000000"/>
              </a:solidFill>
              <a:prstDash val="sysDot"/>
              <a:round/>
            </a:ln>
          </p:spPr>
        </p:sp>
        <p:sp>
          <p:nvSpPr>
            <p:cNvPr name="TextBox 56" id="56"/>
            <p:cNvSpPr txBox="true"/>
            <p:nvPr/>
          </p:nvSpPr>
          <p:spPr>
            <a:xfrm>
              <a:off x="0" y="-66675"/>
              <a:ext cx="812800" cy="1969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61"/>
                </a:lnSpc>
              </a:pPr>
              <a:r>
                <a:rPr lang="en-US" b="true" sz="1581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Pengunaan LOSO-CV</a:t>
              </a: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3761177" y="871754"/>
            <a:ext cx="9427772" cy="854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67"/>
              </a:lnSpc>
            </a:pPr>
            <a:r>
              <a:rPr lang="en-US" sz="6080" b="true">
                <a:solidFill>
                  <a:srgbClr val="263C92"/>
                </a:solidFill>
                <a:latin typeface="Inter Bold"/>
                <a:ea typeface="Inter Bold"/>
                <a:cs typeface="Inter Bold"/>
                <a:sym typeface="Inter Bold"/>
              </a:rPr>
              <a:t>Prosedur Validasi 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218228" y="3175731"/>
            <a:ext cx="6414539" cy="666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782"/>
              </a:lnSpc>
            </a:pPr>
            <a:r>
              <a:rPr lang="en-US" sz="1485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LOSO-CV </a:t>
            </a:r>
            <a:r>
              <a:rPr lang="en-US" sz="148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valid untuk mengevaluasi estimasi di wilayah tanpa sensor, karena sepenuhnya memisahkan data pelatihan dan data pengujian secara spasial.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218228" y="2292992"/>
            <a:ext cx="5027074" cy="414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sz="2949" b="true">
                <a:solidFill>
                  <a:srgbClr val="263C92"/>
                </a:solidFill>
                <a:latin typeface="Inter Bold"/>
                <a:ea typeface="Inter Bold"/>
                <a:cs typeface="Inter Bold"/>
                <a:sym typeface="Inter Bold"/>
              </a:rPr>
              <a:t>Leave-One-Station-Out CV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218228" y="3842649"/>
            <a:ext cx="4899776" cy="222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782"/>
              </a:lnSpc>
            </a:pPr>
            <a:r>
              <a:rPr lang="en-US" sz="1485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Mekanisme Masking (5 Fold):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218228" y="5071363"/>
            <a:ext cx="4672274" cy="666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782"/>
              </a:lnSpc>
            </a:pPr>
            <a:r>
              <a:rPr lang="en-US" sz="1485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R-INLA </a:t>
            </a:r>
            <a:r>
              <a:rPr lang="en-US" sz="148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memperlakukan NA sebagai </a:t>
            </a:r>
            <a:r>
              <a:rPr lang="en-US" sz="1485" i="true">
                <a:solidFill>
                  <a:srgbClr val="000000"/>
                </a:solidFill>
                <a:latin typeface="Inter Italics"/>
                <a:ea typeface="Inter Italics"/>
                <a:cs typeface="Inter Italics"/>
                <a:sym typeface="Inter Italics"/>
              </a:rPr>
              <a:t>missing at random </a:t>
            </a:r>
            <a:r>
              <a:rPr lang="en-US" sz="148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dan menghasilkan distribusi prediktif posterior via Bayesian Kriging Matèrn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8891456" y="2328092"/>
            <a:ext cx="4950551" cy="234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</a:pPr>
            <a:r>
              <a:rPr lang="en-US" sz="15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Ilustrasi LOSO-CV: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1936007" y="6757032"/>
            <a:ext cx="5932446" cy="290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53"/>
              </a:lnSpc>
              <a:spcBef>
                <a:spcPct val="0"/>
              </a:spcBef>
            </a:pPr>
            <a:r>
              <a:rPr lang="en-US" sz="151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Meniru kondisi nyata prediksi PM2.5 pada wilayah tanpa sensor.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1936007" y="7221870"/>
            <a:ext cx="5932446" cy="595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53"/>
              </a:lnSpc>
              <a:spcBef>
                <a:spcPct val="0"/>
              </a:spcBef>
            </a:pPr>
            <a:r>
              <a:rPr lang="en-US" sz="151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Memisahkan data latih dan data uji secara spasial sehingga tidak terjadi spatial data leakage.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1936007" y="7979819"/>
            <a:ext cx="5932446" cy="595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53"/>
              </a:lnSpc>
              <a:spcBef>
                <a:spcPct val="0"/>
              </a:spcBef>
            </a:pPr>
            <a:r>
              <a:rPr lang="en-US" sz="151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Memberikan evaluasi yang lebih realistis dibandingkan </a:t>
            </a:r>
            <a:r>
              <a:rPr lang="en-US" sz="1514" i="true">
                <a:solidFill>
                  <a:srgbClr val="000000"/>
                </a:solidFill>
                <a:latin typeface="Inter Italics"/>
                <a:ea typeface="Inter Italics"/>
                <a:cs typeface="Inter Italics"/>
                <a:sym typeface="Inter Italics"/>
              </a:rPr>
              <a:t>random train-test split.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1936007" y="8719887"/>
            <a:ext cx="5932446" cy="595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53"/>
              </a:lnSpc>
              <a:spcBef>
                <a:spcPct val="0"/>
              </a:spcBef>
            </a:pPr>
            <a:r>
              <a:rPr lang="en-US" sz="151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</a:t>
            </a:r>
            <a:r>
              <a:rPr lang="en-US" sz="151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etiap stasiun bergantian menjadi lokasi uji sehingga kemampuan generalisasi model dapat dinilai secara menyeluruh.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63C9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1286"/>
            <a:ext cx="18288000" cy="10284429"/>
            <a:chOff x="0" y="0"/>
            <a:chExt cx="24384000" cy="13712572"/>
          </a:xfrm>
        </p:grpSpPr>
        <p:sp>
          <p:nvSpPr>
            <p:cNvPr name="Freeform 3" id="3" descr="A black background with blue and black border  AI-generated content may be incorrect.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634340" y="492926"/>
            <a:ext cx="2184524" cy="572400"/>
            <a:chOff x="0" y="0"/>
            <a:chExt cx="2912698" cy="763200"/>
          </a:xfrm>
        </p:grpSpPr>
        <p:sp>
          <p:nvSpPr>
            <p:cNvPr name="Freeform 5" id="5" descr="A black and white logo  AI-generated content may be incorrect."/>
            <p:cNvSpPr/>
            <p:nvPr/>
          </p:nvSpPr>
          <p:spPr>
            <a:xfrm flipH="false" flipV="false" rot="0">
              <a:off x="0" y="0"/>
              <a:ext cx="2912745" cy="763143"/>
            </a:xfrm>
            <a:custGeom>
              <a:avLst/>
              <a:gdLst/>
              <a:ahLst/>
              <a:cxnLst/>
              <a:rect r="r" b="b" t="t" l="l"/>
              <a:pathLst>
                <a:path h="763143" w="2912745">
                  <a:moveTo>
                    <a:pt x="0" y="0"/>
                  </a:moveTo>
                  <a:lnTo>
                    <a:pt x="2912745" y="0"/>
                  </a:lnTo>
                  <a:lnTo>
                    <a:pt x="2912745" y="763143"/>
                  </a:lnTo>
                  <a:lnTo>
                    <a:pt x="0" y="7631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-7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928812" y="4554490"/>
            <a:ext cx="12301041" cy="960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90"/>
              </a:lnSpc>
            </a:pPr>
            <a:r>
              <a:rPr lang="en-US" sz="675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Hasil Penelitian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960169" y="3098445"/>
            <a:ext cx="1669160" cy="1100138"/>
            <a:chOff x="0" y="0"/>
            <a:chExt cx="2225546" cy="14668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25548" cy="1466850"/>
            </a:xfrm>
            <a:custGeom>
              <a:avLst/>
              <a:gdLst/>
              <a:ahLst/>
              <a:cxnLst/>
              <a:rect r="r" b="b" t="t" l="l"/>
              <a:pathLst>
                <a:path h="1466850" w="2225548">
                  <a:moveTo>
                    <a:pt x="0" y="0"/>
                  </a:moveTo>
                  <a:lnTo>
                    <a:pt x="2225548" y="0"/>
                  </a:lnTo>
                  <a:lnTo>
                    <a:pt x="2225548" y="1466850"/>
                  </a:lnTo>
                  <a:lnTo>
                    <a:pt x="0" y="1466850"/>
                  </a:lnTo>
                  <a:close/>
                </a:path>
              </a:pathLst>
            </a:custGeom>
            <a:solidFill>
              <a:srgbClr val="FED80B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2818863" y="3193695"/>
            <a:ext cx="478497" cy="1270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720"/>
              </a:lnSpc>
            </a:pPr>
            <a:r>
              <a:rPr lang="en-US" sz="9000" b="true">
                <a:solidFill>
                  <a:srgbClr val="263C92"/>
                </a:solidFill>
                <a:latin typeface="Inter Bold"/>
                <a:ea typeface="Inter Bold"/>
                <a:cs typeface="Inter Bold"/>
                <a:sym typeface="Inter Bold"/>
              </a:rPr>
              <a:t>3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360949" y="3098445"/>
            <a:ext cx="1198440" cy="1100137"/>
          </a:xfrm>
          <a:custGeom>
            <a:avLst/>
            <a:gdLst/>
            <a:ahLst/>
            <a:cxnLst/>
            <a:rect r="r" b="b" t="t" l="l"/>
            <a:pathLst>
              <a:path h="1100137" w="1198440">
                <a:moveTo>
                  <a:pt x="0" y="0"/>
                </a:moveTo>
                <a:lnTo>
                  <a:pt x="1198440" y="0"/>
                </a:lnTo>
                <a:lnTo>
                  <a:pt x="1198440" y="1100137"/>
                </a:lnTo>
                <a:lnTo>
                  <a:pt x="0" y="11001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15712649" y="492926"/>
            <a:ext cx="1939734" cy="572400"/>
            <a:chOff x="0" y="0"/>
            <a:chExt cx="2586312" cy="763200"/>
          </a:xfrm>
        </p:grpSpPr>
        <p:sp>
          <p:nvSpPr>
            <p:cNvPr name="Freeform 12" id="12" descr="A black background with white text  AI-generated content may be incorrect."/>
            <p:cNvSpPr/>
            <p:nvPr/>
          </p:nvSpPr>
          <p:spPr>
            <a:xfrm flipH="false" flipV="false" rot="0">
              <a:off x="0" y="0"/>
              <a:ext cx="2586355" cy="763143"/>
            </a:xfrm>
            <a:custGeom>
              <a:avLst/>
              <a:gdLst/>
              <a:ahLst/>
              <a:cxnLst/>
              <a:rect r="r" b="b" t="t" l="l"/>
              <a:pathLst>
                <a:path h="763143" w="2586355">
                  <a:moveTo>
                    <a:pt x="0" y="0"/>
                  </a:moveTo>
                  <a:lnTo>
                    <a:pt x="2586355" y="0"/>
                  </a:lnTo>
                  <a:lnTo>
                    <a:pt x="2586355" y="763143"/>
                  </a:lnTo>
                  <a:lnTo>
                    <a:pt x="0" y="7631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-7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9779760"/>
            <a:ext cx="18288000" cy="507238"/>
            <a:chOff x="0" y="0"/>
            <a:chExt cx="24384000" cy="6763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676275"/>
            </a:xfrm>
            <a:custGeom>
              <a:avLst/>
              <a:gdLst/>
              <a:ahLst/>
              <a:cxnLst/>
              <a:rect r="r" b="b" t="t" l="l"/>
              <a:pathLst>
                <a:path h="6762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76275"/>
                  </a:lnTo>
                  <a:lnTo>
                    <a:pt x="0" y="676275"/>
                  </a:lnTo>
                  <a:close/>
                </a:path>
              </a:pathLst>
            </a:custGeom>
            <a:solidFill>
              <a:srgbClr val="263C92"/>
            </a:solid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2" y="9730762"/>
            <a:ext cx="18288000" cy="507238"/>
            <a:chOff x="0" y="0"/>
            <a:chExt cx="24384000" cy="6763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676275"/>
            </a:xfrm>
            <a:custGeom>
              <a:avLst/>
              <a:gdLst/>
              <a:ahLst/>
              <a:cxnLst/>
              <a:rect r="r" b="b" t="t" l="l"/>
              <a:pathLst>
                <a:path h="6762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76275"/>
                  </a:lnTo>
                  <a:lnTo>
                    <a:pt x="0" y="6762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9681099"/>
            <a:ext cx="18288000" cy="99327"/>
            <a:chOff x="0" y="0"/>
            <a:chExt cx="24384000" cy="13243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132461"/>
            </a:xfrm>
            <a:custGeom>
              <a:avLst/>
              <a:gdLst/>
              <a:ahLst/>
              <a:cxnLst/>
              <a:rect r="r" b="b" t="t" l="l"/>
              <a:pathLst>
                <a:path h="13246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2461"/>
                  </a:lnTo>
                  <a:lnTo>
                    <a:pt x="0" y="132461"/>
                  </a:lnTo>
                  <a:close/>
                </a:path>
              </a:pathLst>
            </a:custGeom>
            <a:solidFill>
              <a:srgbClr val="FED80B"/>
            </a:solid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635619" y="493260"/>
            <a:ext cx="2183244" cy="572066"/>
            <a:chOff x="0" y="0"/>
            <a:chExt cx="2910992" cy="762754"/>
          </a:xfrm>
        </p:grpSpPr>
        <p:sp>
          <p:nvSpPr>
            <p:cNvPr name="Freeform 9" id="9" descr="A blue and black logo  AI-generated content may be incorrect."/>
            <p:cNvSpPr/>
            <p:nvPr/>
          </p:nvSpPr>
          <p:spPr>
            <a:xfrm flipH="false" flipV="false" rot="0">
              <a:off x="0" y="0"/>
              <a:ext cx="2910967" cy="762762"/>
            </a:xfrm>
            <a:custGeom>
              <a:avLst/>
              <a:gdLst/>
              <a:ahLst/>
              <a:cxnLst/>
              <a:rect r="r" b="b" t="t" l="l"/>
              <a:pathLst>
                <a:path h="762762" w="2910967">
                  <a:moveTo>
                    <a:pt x="0" y="0"/>
                  </a:moveTo>
                  <a:lnTo>
                    <a:pt x="2910967" y="0"/>
                  </a:lnTo>
                  <a:lnTo>
                    <a:pt x="2910967" y="762762"/>
                  </a:lnTo>
                  <a:lnTo>
                    <a:pt x="0" y="762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5712649" y="492926"/>
            <a:ext cx="1939733" cy="572400"/>
            <a:chOff x="0" y="0"/>
            <a:chExt cx="2586310" cy="763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86355" cy="763143"/>
            </a:xfrm>
            <a:custGeom>
              <a:avLst/>
              <a:gdLst/>
              <a:ahLst/>
              <a:cxnLst/>
              <a:rect r="r" b="b" t="t" l="l"/>
              <a:pathLst>
                <a:path h="763143" w="2586355">
                  <a:moveTo>
                    <a:pt x="0" y="0"/>
                  </a:moveTo>
                  <a:lnTo>
                    <a:pt x="2586355" y="0"/>
                  </a:lnTo>
                  <a:lnTo>
                    <a:pt x="2586355" y="763143"/>
                  </a:lnTo>
                  <a:lnTo>
                    <a:pt x="0" y="7631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-7"/>
              </a:stretch>
            </a:blipFill>
          </p:spPr>
        </p:sp>
      </p:grp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635619" y="3129806"/>
          <a:ext cx="8046311" cy="3248025"/>
        </p:xfrm>
        <a:graphic>
          <a:graphicData uri="http://schemas.openxmlformats.org/drawingml/2006/table">
            <a:tbl>
              <a:tblPr/>
              <a:tblGrid>
                <a:gridCol w="2442761"/>
                <a:gridCol w="1461352"/>
                <a:gridCol w="1426314"/>
                <a:gridCol w="2715885"/>
              </a:tblGrid>
              <a:tr h="58618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b="true" sz="1500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Kondisi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C9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b="true" sz="1500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Moran’s I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C9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b="true" sz="1500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p-value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C9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b="true" sz="1500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Interpretasi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C92"/>
                    </a:solidFill>
                  </a:tcPr>
                </a:tc>
              </a:tr>
              <a:tr h="118197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Data Mentah PM2.5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-0.1799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0.7530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Tidak signifikan (kuasa statistik sangat rendah pada N=5).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</a:tr>
              <a:tr h="147986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Residual LOSO (Hybrid SPDE)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-0.2828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0.4170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i="true">
                          <a:solidFill>
                            <a:srgbClr val="000000"/>
                          </a:solidFill>
                          <a:latin typeface="Inter Italics"/>
                          <a:ea typeface="Inter Italics"/>
                          <a:cs typeface="Inter Italics"/>
                          <a:sym typeface="Inter Italics"/>
                        </a:rPr>
                        <a:t>Spatial White Noise </a:t>
                      </a:r>
                      <a:r>
                        <a:rPr lang="en-US" sz="15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- model berhasil menyerap seluruh autokorelasi spasial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F8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13" id="13"/>
          <p:cNvGraphicFramePr>
            <a:graphicFrameLocks noGrp="true"/>
          </p:cNvGraphicFramePr>
          <p:nvPr/>
        </p:nvGraphicFramePr>
        <p:xfrm>
          <a:off x="8947433" y="3129806"/>
          <a:ext cx="8896967" cy="4933950"/>
        </p:xfrm>
        <a:graphic>
          <a:graphicData uri="http://schemas.openxmlformats.org/drawingml/2006/table">
            <a:tbl>
              <a:tblPr/>
              <a:tblGrid>
                <a:gridCol w="1965065"/>
                <a:gridCol w="1198706"/>
                <a:gridCol w="1457516"/>
                <a:gridCol w="1560925"/>
                <a:gridCol w="2714755"/>
              </a:tblGrid>
              <a:tr h="110175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40"/>
                        </a:lnSpc>
                        <a:defRPr/>
                      </a:pPr>
                      <a:r>
                        <a:rPr lang="en-US" b="true" sz="1700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Parameter 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C9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40"/>
                        </a:lnSpc>
                        <a:defRPr/>
                      </a:pPr>
                      <a:r>
                        <a:rPr lang="en-US" b="true" sz="1700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Symbol 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C9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40"/>
                        </a:lnSpc>
                        <a:defRPr/>
                      </a:pPr>
                      <a:r>
                        <a:rPr lang="en-US" b="true" sz="1700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Posterior Mean 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C9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40"/>
                        </a:lnSpc>
                        <a:defRPr/>
                      </a:pPr>
                      <a:r>
                        <a:rPr lang="en-US" b="true" sz="1700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95% Credible Interval 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C9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40"/>
                        </a:lnSpc>
                        <a:defRPr/>
                      </a:pPr>
                      <a:r>
                        <a:rPr lang="en-US" b="true" sz="1700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Interpretasi Fisik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C92"/>
                    </a:solidFill>
                  </a:tcPr>
                </a:tc>
              </a:tr>
              <a:tr h="88140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Effective Spatial Range 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ρ 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17.6 km 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16.1 – 19.1 km 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Korelasi PM2.5 Meluruh efektif setelah 17.6 km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</a:tr>
              <a:tr h="14753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Spatial Standard Deviation 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σu 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13.91 μg/m³ 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13.46 – 14.40 μg/m³ 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Heterogenitas Spasial subtstansial tidak dapat dijelaskan oleh meteorologi saja.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F8"/>
                    </a:solidFill>
                  </a:tcPr>
                </a:tc>
              </a:tr>
              <a:tr h="14753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Gaussian Precision 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1/σ²e 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22,102.44 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515.19 – 150,137.30  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CI sangat lebar sehingga ketidakpastian noise observasi tinggi pada N=5.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F8"/>
                    </a:solidFill>
                  </a:tcPr>
                </a:tc>
              </a:tr>
            </a:tbl>
          </a:graphicData>
        </a:graphic>
      </p:graphicFrame>
      <p:grpSp>
        <p:nvGrpSpPr>
          <p:cNvPr name="Group 14" id="14"/>
          <p:cNvGrpSpPr/>
          <p:nvPr/>
        </p:nvGrpSpPr>
        <p:grpSpPr>
          <a:xfrm rot="0">
            <a:off x="394143" y="6720731"/>
            <a:ext cx="8287787" cy="2800966"/>
            <a:chOff x="0" y="0"/>
            <a:chExt cx="2182792" cy="73770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82792" cy="737703"/>
            </a:xfrm>
            <a:custGeom>
              <a:avLst/>
              <a:gdLst/>
              <a:ahLst/>
              <a:cxnLst/>
              <a:rect r="r" b="b" t="t" l="l"/>
              <a:pathLst>
                <a:path h="737703" w="2182792">
                  <a:moveTo>
                    <a:pt x="17749" y="0"/>
                  </a:moveTo>
                  <a:lnTo>
                    <a:pt x="2165043" y="0"/>
                  </a:lnTo>
                  <a:cubicBezTo>
                    <a:pt x="2169751" y="0"/>
                    <a:pt x="2174265" y="1870"/>
                    <a:pt x="2177593" y="5198"/>
                  </a:cubicBezTo>
                  <a:cubicBezTo>
                    <a:pt x="2180922" y="8527"/>
                    <a:pt x="2182792" y="13041"/>
                    <a:pt x="2182792" y="17749"/>
                  </a:cubicBezTo>
                  <a:lnTo>
                    <a:pt x="2182792" y="719954"/>
                  </a:lnTo>
                  <a:cubicBezTo>
                    <a:pt x="2182792" y="729757"/>
                    <a:pt x="2174846" y="737703"/>
                    <a:pt x="2165043" y="737703"/>
                  </a:cubicBezTo>
                  <a:lnTo>
                    <a:pt x="17749" y="737703"/>
                  </a:lnTo>
                  <a:cubicBezTo>
                    <a:pt x="13041" y="737703"/>
                    <a:pt x="8527" y="735833"/>
                    <a:pt x="5198" y="732505"/>
                  </a:cubicBezTo>
                  <a:cubicBezTo>
                    <a:pt x="1870" y="729176"/>
                    <a:pt x="0" y="724662"/>
                    <a:pt x="0" y="719954"/>
                  </a:cubicBezTo>
                  <a:lnTo>
                    <a:pt x="0" y="17749"/>
                  </a:lnTo>
                  <a:cubicBezTo>
                    <a:pt x="0" y="13041"/>
                    <a:pt x="1870" y="8527"/>
                    <a:pt x="5198" y="5198"/>
                  </a:cubicBezTo>
                  <a:cubicBezTo>
                    <a:pt x="8527" y="1870"/>
                    <a:pt x="13041" y="0"/>
                    <a:pt x="17749" y="0"/>
                  </a:cubicBezTo>
                  <a:close/>
                </a:path>
              </a:pathLst>
            </a:custGeom>
            <a:solidFill>
              <a:srgbClr val="FCDF21"/>
            </a:solidFill>
            <a:ln w="28575" cap="sq">
              <a:solidFill>
                <a:srgbClr val="000000"/>
              </a:solidFill>
              <a:prstDash val="dash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0"/>
              <a:ext cx="2182792" cy="8329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3401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0767" y="6957265"/>
            <a:ext cx="470752" cy="216856"/>
            <a:chOff x="0" y="0"/>
            <a:chExt cx="123984" cy="5711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3984" cy="57114"/>
            </a:xfrm>
            <a:custGeom>
              <a:avLst/>
              <a:gdLst/>
              <a:ahLst/>
              <a:cxnLst/>
              <a:rect r="r" b="b" t="t" l="l"/>
              <a:pathLst>
                <a:path h="57114" w="123984">
                  <a:moveTo>
                    <a:pt x="0" y="0"/>
                  </a:moveTo>
                  <a:lnTo>
                    <a:pt x="123984" y="0"/>
                  </a:lnTo>
                  <a:lnTo>
                    <a:pt x="123984" y="57114"/>
                  </a:lnTo>
                  <a:lnTo>
                    <a:pt x="0" y="57114"/>
                  </a:lnTo>
                  <a:close/>
                </a:path>
              </a:pathLst>
            </a:custGeom>
            <a:solidFill>
              <a:srgbClr val="768ADB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0"/>
              <a:ext cx="123984" cy="152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3401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0767" y="7574171"/>
            <a:ext cx="470752" cy="216856"/>
            <a:chOff x="0" y="0"/>
            <a:chExt cx="123984" cy="5711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3984" cy="57114"/>
            </a:xfrm>
            <a:custGeom>
              <a:avLst/>
              <a:gdLst/>
              <a:ahLst/>
              <a:cxnLst/>
              <a:rect r="r" b="b" t="t" l="l"/>
              <a:pathLst>
                <a:path h="57114" w="123984">
                  <a:moveTo>
                    <a:pt x="0" y="0"/>
                  </a:moveTo>
                  <a:lnTo>
                    <a:pt x="123984" y="0"/>
                  </a:lnTo>
                  <a:lnTo>
                    <a:pt x="123984" y="57114"/>
                  </a:lnTo>
                  <a:lnTo>
                    <a:pt x="0" y="57114"/>
                  </a:lnTo>
                  <a:close/>
                </a:path>
              </a:pathLst>
            </a:custGeom>
            <a:solidFill>
              <a:srgbClr val="768ADB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0"/>
              <a:ext cx="123984" cy="152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3401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0767" y="8189486"/>
            <a:ext cx="470752" cy="216856"/>
            <a:chOff x="0" y="0"/>
            <a:chExt cx="123984" cy="5711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3984" cy="57114"/>
            </a:xfrm>
            <a:custGeom>
              <a:avLst/>
              <a:gdLst/>
              <a:ahLst/>
              <a:cxnLst/>
              <a:rect r="r" b="b" t="t" l="l"/>
              <a:pathLst>
                <a:path h="57114" w="123984">
                  <a:moveTo>
                    <a:pt x="0" y="0"/>
                  </a:moveTo>
                  <a:lnTo>
                    <a:pt x="123984" y="0"/>
                  </a:lnTo>
                  <a:lnTo>
                    <a:pt x="123984" y="57114"/>
                  </a:lnTo>
                  <a:lnTo>
                    <a:pt x="0" y="57114"/>
                  </a:lnTo>
                  <a:close/>
                </a:path>
              </a:pathLst>
            </a:custGeom>
            <a:solidFill>
              <a:srgbClr val="768ADB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0"/>
              <a:ext cx="123984" cy="152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3401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0767" y="8804801"/>
            <a:ext cx="470752" cy="216856"/>
            <a:chOff x="0" y="0"/>
            <a:chExt cx="123984" cy="5711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3984" cy="57114"/>
            </a:xfrm>
            <a:custGeom>
              <a:avLst/>
              <a:gdLst/>
              <a:ahLst/>
              <a:cxnLst/>
              <a:rect r="r" b="b" t="t" l="l"/>
              <a:pathLst>
                <a:path h="57114" w="123984">
                  <a:moveTo>
                    <a:pt x="0" y="0"/>
                  </a:moveTo>
                  <a:lnTo>
                    <a:pt x="123984" y="0"/>
                  </a:lnTo>
                  <a:lnTo>
                    <a:pt x="123984" y="57114"/>
                  </a:lnTo>
                  <a:lnTo>
                    <a:pt x="0" y="57114"/>
                  </a:lnTo>
                  <a:close/>
                </a:path>
              </a:pathLst>
            </a:custGeom>
            <a:solidFill>
              <a:srgbClr val="768ADB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0"/>
              <a:ext cx="123984" cy="152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3401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947433" y="8297913"/>
            <a:ext cx="9098674" cy="848645"/>
            <a:chOff x="0" y="0"/>
            <a:chExt cx="2396359" cy="22351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396359" cy="223511"/>
            </a:xfrm>
            <a:custGeom>
              <a:avLst/>
              <a:gdLst/>
              <a:ahLst/>
              <a:cxnLst/>
              <a:rect r="r" b="b" t="t" l="l"/>
              <a:pathLst>
                <a:path h="223511" w="2396359">
                  <a:moveTo>
                    <a:pt x="16167" y="0"/>
                  </a:moveTo>
                  <a:lnTo>
                    <a:pt x="2380192" y="0"/>
                  </a:lnTo>
                  <a:cubicBezTo>
                    <a:pt x="2389120" y="0"/>
                    <a:pt x="2396359" y="7238"/>
                    <a:pt x="2396359" y="16167"/>
                  </a:cubicBezTo>
                  <a:lnTo>
                    <a:pt x="2396359" y="207345"/>
                  </a:lnTo>
                  <a:cubicBezTo>
                    <a:pt x="2396359" y="211632"/>
                    <a:pt x="2394655" y="215744"/>
                    <a:pt x="2391623" y="218776"/>
                  </a:cubicBezTo>
                  <a:cubicBezTo>
                    <a:pt x="2388592" y="221808"/>
                    <a:pt x="2384479" y="223511"/>
                    <a:pt x="2380192" y="223511"/>
                  </a:cubicBezTo>
                  <a:lnTo>
                    <a:pt x="16167" y="223511"/>
                  </a:lnTo>
                  <a:cubicBezTo>
                    <a:pt x="7238" y="223511"/>
                    <a:pt x="0" y="216273"/>
                    <a:pt x="0" y="207345"/>
                  </a:cubicBezTo>
                  <a:lnTo>
                    <a:pt x="0" y="16167"/>
                  </a:lnTo>
                  <a:cubicBezTo>
                    <a:pt x="0" y="7238"/>
                    <a:pt x="7238" y="0"/>
                    <a:pt x="16167" y="0"/>
                  </a:cubicBezTo>
                  <a:close/>
                </a:path>
              </a:pathLst>
            </a:custGeom>
            <a:solidFill>
              <a:srgbClr val="FCDF21"/>
            </a:solidFill>
            <a:ln w="19050" cap="sq">
              <a:solidFill>
                <a:srgbClr val="000000"/>
              </a:solidFill>
              <a:prstDash val="dash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19050"/>
              <a:ext cx="2396359" cy="2044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4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635619" y="1440399"/>
            <a:ext cx="15773401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5250" b="true">
                <a:solidFill>
                  <a:srgbClr val="263C92"/>
                </a:solidFill>
                <a:latin typeface="Inter Bold"/>
                <a:ea typeface="Inter Bold"/>
                <a:cs typeface="Inter Bold"/>
                <a:sym typeface="Inter Bold"/>
              </a:rPr>
              <a:t>Autokorelasi Spasial PM2.5 &amp; Diagnostik Model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35619" y="2248789"/>
            <a:ext cx="11289078" cy="33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8"/>
              </a:lnSpc>
            </a:pPr>
            <a:r>
              <a:rPr lang="en-US" sz="2340" b="true">
                <a:solidFill>
                  <a:srgbClr val="263C92"/>
                </a:solidFill>
                <a:latin typeface="Inter Bold"/>
                <a:ea typeface="Inter Bold"/>
                <a:cs typeface="Inter Bold"/>
                <a:sym typeface="Inter Bold"/>
              </a:rPr>
              <a:t>PM2.5 Secara Inheren Berstruktur Spasial dan Model Berhasil Menangkapnya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35619" y="2728735"/>
            <a:ext cx="7343775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00"/>
              </a:lnSpc>
            </a:pPr>
            <a:r>
              <a:rPr lang="en-US" sz="20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Diagnostik Moran’s I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947435" y="2728735"/>
            <a:ext cx="7343775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00"/>
              </a:lnSpc>
            </a:pPr>
            <a:r>
              <a:rPr lang="en-US" sz="20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Estimasi Posterior Hyperparameter Spasial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048287" y="8364560"/>
            <a:ext cx="8896967" cy="679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4"/>
              </a:lnSpc>
              <a:spcBef>
                <a:spcPct val="0"/>
              </a:spcBef>
            </a:pPr>
            <a:r>
              <a:rPr lang="en-US" b="true" sz="171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Range spasial 17,6 km menunjukkan bahwa lokasi yang berjarak kurang dari sekitar 17,6 km masih memiliki konsentrasi PM2.5 yang relatif berkorelasi.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35619" y="6892181"/>
            <a:ext cx="7812366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30"/>
              </a:lnSpc>
            </a:pPr>
            <a:r>
              <a:rPr lang="en-US" sz="15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PM2.5 di Jakarta menunjukkan pola spasial dengan jangkauan korelasi efektif sekitar 17,6 km.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35619" y="7507496"/>
            <a:ext cx="7812366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3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Nilai Moran's I pada data mentah tidak signifikan karena jumlah stasiun yang sangat terbatas (N = 5), bukan karena tidak adanya struktur spasial.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35619" y="8122811"/>
            <a:ext cx="7812366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3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Sete</a:t>
            </a:r>
            <a:r>
              <a:rPr lang="en-US" sz="15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lah pemodelan, residual tidak lagi menunjukkan autokorelasi spasial (</a:t>
            </a:r>
            <a:r>
              <a:rPr lang="en-US" sz="1500" i="true">
                <a:solidFill>
                  <a:srgbClr val="000000"/>
                </a:solidFill>
                <a:latin typeface="Inter Italics"/>
                <a:ea typeface="Inter Italics"/>
                <a:cs typeface="Inter Italics"/>
                <a:sym typeface="Inter Italics"/>
              </a:rPr>
              <a:t>spatial white noise</a:t>
            </a:r>
            <a:r>
              <a:rPr lang="en-US" sz="15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), menandakan model berhasil menangkap pola spasial utama PM2.5.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35619" y="8738126"/>
            <a:ext cx="7812366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3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Variabi</a:t>
            </a:r>
            <a:r>
              <a:rPr lang="en-US" sz="15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litas spasial yang masih tinggi menunjukkan faktor selain meteorologi juga berperan dalam membentuk konsentrasi PM2.5.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635619" y="493260"/>
            <a:ext cx="2183244" cy="572066"/>
            <a:chOff x="0" y="0"/>
            <a:chExt cx="2910992" cy="762754"/>
          </a:xfrm>
        </p:grpSpPr>
        <p:sp>
          <p:nvSpPr>
            <p:cNvPr name="Freeform 3" id="3" descr="A blue and black logo  AI-generated content may be incorrect."/>
            <p:cNvSpPr/>
            <p:nvPr/>
          </p:nvSpPr>
          <p:spPr>
            <a:xfrm flipH="false" flipV="false" rot="0">
              <a:off x="0" y="0"/>
              <a:ext cx="2910967" cy="762762"/>
            </a:xfrm>
            <a:custGeom>
              <a:avLst/>
              <a:gdLst/>
              <a:ahLst/>
              <a:cxnLst/>
              <a:rect r="r" b="b" t="t" l="l"/>
              <a:pathLst>
                <a:path h="762762" w="2910967">
                  <a:moveTo>
                    <a:pt x="0" y="0"/>
                  </a:moveTo>
                  <a:lnTo>
                    <a:pt x="2910967" y="0"/>
                  </a:lnTo>
                  <a:lnTo>
                    <a:pt x="2910967" y="762762"/>
                  </a:lnTo>
                  <a:lnTo>
                    <a:pt x="0" y="762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1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184992" y="1021558"/>
            <a:ext cx="13918020" cy="566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8"/>
              </a:lnSpc>
            </a:pPr>
            <a:r>
              <a:rPr lang="en-US" sz="4026" b="true">
                <a:solidFill>
                  <a:srgbClr val="263C92"/>
                </a:solidFill>
                <a:latin typeface="Inter Bold"/>
                <a:ea typeface="Inter Bold"/>
                <a:cs typeface="Inter Bold"/>
                <a:sym typeface="Inter Bold"/>
              </a:rPr>
              <a:t>PERBANDINGAN PERFORMA MODEL</a:t>
            </a:r>
          </a:p>
        </p:txBody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5712649" y="492926"/>
            <a:ext cx="1939733" cy="572400"/>
            <a:chOff x="0" y="0"/>
            <a:chExt cx="2586310" cy="763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86355" cy="763143"/>
            </a:xfrm>
            <a:custGeom>
              <a:avLst/>
              <a:gdLst/>
              <a:ahLst/>
              <a:cxnLst/>
              <a:rect r="r" b="b" t="t" l="l"/>
              <a:pathLst>
                <a:path h="763143" w="2586355">
                  <a:moveTo>
                    <a:pt x="0" y="0"/>
                  </a:moveTo>
                  <a:lnTo>
                    <a:pt x="2586355" y="0"/>
                  </a:lnTo>
                  <a:lnTo>
                    <a:pt x="2586355" y="763143"/>
                  </a:lnTo>
                  <a:lnTo>
                    <a:pt x="0" y="7631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-7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22622" y="8233781"/>
            <a:ext cx="16442755" cy="929940"/>
            <a:chOff x="0" y="0"/>
            <a:chExt cx="4330602" cy="24492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30602" cy="244923"/>
            </a:xfrm>
            <a:custGeom>
              <a:avLst/>
              <a:gdLst/>
              <a:ahLst/>
              <a:cxnLst/>
              <a:rect r="r" b="b" t="t" l="l"/>
              <a:pathLst>
                <a:path h="244923" w="4330602">
                  <a:moveTo>
                    <a:pt x="8475" y="0"/>
                  </a:moveTo>
                  <a:lnTo>
                    <a:pt x="4322127" y="0"/>
                  </a:lnTo>
                  <a:cubicBezTo>
                    <a:pt x="4326808" y="0"/>
                    <a:pt x="4330602" y="3794"/>
                    <a:pt x="4330602" y="8475"/>
                  </a:cubicBezTo>
                  <a:lnTo>
                    <a:pt x="4330602" y="236447"/>
                  </a:lnTo>
                  <a:cubicBezTo>
                    <a:pt x="4330602" y="241128"/>
                    <a:pt x="4326808" y="244923"/>
                    <a:pt x="4322127" y="244923"/>
                  </a:cubicBezTo>
                  <a:lnTo>
                    <a:pt x="8475" y="244923"/>
                  </a:lnTo>
                  <a:cubicBezTo>
                    <a:pt x="3794" y="244923"/>
                    <a:pt x="0" y="241128"/>
                    <a:pt x="0" y="236447"/>
                  </a:cubicBezTo>
                  <a:lnTo>
                    <a:pt x="0" y="8475"/>
                  </a:lnTo>
                  <a:cubicBezTo>
                    <a:pt x="0" y="3794"/>
                    <a:pt x="3794" y="0"/>
                    <a:pt x="8475" y="0"/>
                  </a:cubicBezTo>
                  <a:close/>
                </a:path>
              </a:pathLst>
            </a:custGeom>
            <a:solidFill>
              <a:srgbClr val="E4E8F8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330602" cy="2830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635619" y="2240671"/>
          <a:ext cx="10796698" cy="5552229"/>
        </p:xfrm>
        <a:graphic>
          <a:graphicData uri="http://schemas.openxmlformats.org/drawingml/2006/table">
            <a:tbl>
              <a:tblPr/>
              <a:tblGrid>
                <a:gridCol w="2832309"/>
                <a:gridCol w="1006472"/>
                <a:gridCol w="1126441"/>
                <a:gridCol w="1334886"/>
                <a:gridCol w="1763263"/>
                <a:gridCol w="2733328"/>
              </a:tblGrid>
              <a:tr h="121769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b="true" sz="2000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Model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B8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RMSE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B8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MAE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B8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R²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B8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95% CI Coverage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B8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Keterangan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B8A"/>
                    </a:solidFill>
                  </a:tcPr>
                </a:tc>
              </a:tr>
              <a:tr h="107246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XGBoost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4CB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17.68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13.27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0.44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-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strike="noStrike" u="none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Baseline machine learning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F8"/>
                    </a:solidFill>
                  </a:tcPr>
                </a:tc>
              </a:tr>
              <a:tr h="121769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INLA SPDE-AR1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4CB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17.36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12.24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0.46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-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Akurasi titik terbaik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F8"/>
                    </a:solidFill>
                  </a:tcPr>
                </a:tc>
              </a:tr>
              <a:tr h="204438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Hybrid XGBoost + SPDE-AR1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4CB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18.64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13.52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0.38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-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Hybrid, tetapi tidak mengungguli INLA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F8"/>
                    </a:solidFill>
                  </a:tcPr>
                </a:tc>
              </a:tr>
            </a:tbl>
          </a:graphicData>
        </a:graphic>
      </p:graphicFrame>
      <p:grpSp>
        <p:nvGrpSpPr>
          <p:cNvPr name="Group 11" id="11"/>
          <p:cNvGrpSpPr/>
          <p:nvPr/>
        </p:nvGrpSpPr>
        <p:grpSpPr>
          <a:xfrm rot="0">
            <a:off x="2" y="9779760"/>
            <a:ext cx="18288000" cy="507238"/>
            <a:chOff x="0" y="0"/>
            <a:chExt cx="24384000" cy="67631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384000" cy="676275"/>
            </a:xfrm>
            <a:custGeom>
              <a:avLst/>
              <a:gdLst/>
              <a:ahLst/>
              <a:cxnLst/>
              <a:rect r="r" b="b" t="t" l="l"/>
              <a:pathLst>
                <a:path h="6762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76275"/>
                  </a:lnTo>
                  <a:lnTo>
                    <a:pt x="0" y="676275"/>
                  </a:lnTo>
                  <a:close/>
                </a:path>
              </a:pathLst>
            </a:custGeom>
            <a:solidFill>
              <a:srgbClr val="263C92"/>
            </a:solidFill>
          </p:spPr>
        </p:sp>
      </p:grp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0" y="9779762"/>
            <a:ext cx="18288000" cy="507238"/>
            <a:chOff x="0" y="0"/>
            <a:chExt cx="24384000" cy="67631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384000" cy="676275"/>
            </a:xfrm>
            <a:custGeom>
              <a:avLst/>
              <a:gdLst/>
              <a:ahLst/>
              <a:cxnLst/>
              <a:rect r="r" b="b" t="t" l="l"/>
              <a:pathLst>
                <a:path h="6762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76275"/>
                  </a:lnTo>
                  <a:lnTo>
                    <a:pt x="0" y="6762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6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0" y="9681099"/>
            <a:ext cx="18288000" cy="99327"/>
            <a:chOff x="0" y="0"/>
            <a:chExt cx="24384000" cy="1324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4384000" cy="132461"/>
            </a:xfrm>
            <a:custGeom>
              <a:avLst/>
              <a:gdLst/>
              <a:ahLst/>
              <a:cxnLst/>
              <a:rect r="r" b="b" t="t" l="l"/>
              <a:pathLst>
                <a:path h="13246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2461"/>
                  </a:lnTo>
                  <a:lnTo>
                    <a:pt x="0" y="132461"/>
                  </a:lnTo>
                  <a:close/>
                </a:path>
              </a:pathLst>
            </a:custGeom>
            <a:solidFill>
              <a:srgbClr val="FED80B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735177" y="2240671"/>
            <a:ext cx="5917204" cy="5612110"/>
            <a:chOff x="0" y="0"/>
            <a:chExt cx="1558441" cy="147808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58441" cy="1478087"/>
            </a:xfrm>
            <a:custGeom>
              <a:avLst/>
              <a:gdLst/>
              <a:ahLst/>
              <a:cxnLst/>
              <a:rect r="r" b="b" t="t" l="l"/>
              <a:pathLst>
                <a:path h="1478087" w="1558441">
                  <a:moveTo>
                    <a:pt x="23551" y="0"/>
                  </a:moveTo>
                  <a:lnTo>
                    <a:pt x="1534890" y="0"/>
                  </a:lnTo>
                  <a:cubicBezTo>
                    <a:pt x="1541136" y="0"/>
                    <a:pt x="1547126" y="2481"/>
                    <a:pt x="1551543" y="6898"/>
                  </a:cubicBezTo>
                  <a:cubicBezTo>
                    <a:pt x="1555959" y="11314"/>
                    <a:pt x="1558441" y="17305"/>
                    <a:pt x="1558441" y="23551"/>
                  </a:cubicBezTo>
                  <a:lnTo>
                    <a:pt x="1558441" y="1454536"/>
                  </a:lnTo>
                  <a:cubicBezTo>
                    <a:pt x="1558441" y="1460782"/>
                    <a:pt x="1555959" y="1466772"/>
                    <a:pt x="1551543" y="1471189"/>
                  </a:cubicBezTo>
                  <a:cubicBezTo>
                    <a:pt x="1547126" y="1475605"/>
                    <a:pt x="1541136" y="1478087"/>
                    <a:pt x="1534890" y="1478087"/>
                  </a:cubicBezTo>
                  <a:lnTo>
                    <a:pt x="23551" y="1478087"/>
                  </a:lnTo>
                  <a:cubicBezTo>
                    <a:pt x="17305" y="1478087"/>
                    <a:pt x="11314" y="1475605"/>
                    <a:pt x="6898" y="1471189"/>
                  </a:cubicBezTo>
                  <a:cubicBezTo>
                    <a:pt x="2481" y="1466772"/>
                    <a:pt x="0" y="1460782"/>
                    <a:pt x="0" y="1454536"/>
                  </a:cubicBezTo>
                  <a:lnTo>
                    <a:pt x="0" y="23551"/>
                  </a:lnTo>
                  <a:cubicBezTo>
                    <a:pt x="0" y="17305"/>
                    <a:pt x="2481" y="11314"/>
                    <a:pt x="6898" y="6898"/>
                  </a:cubicBezTo>
                  <a:cubicBezTo>
                    <a:pt x="11314" y="2481"/>
                    <a:pt x="17305" y="0"/>
                    <a:pt x="23551" y="0"/>
                  </a:cubicBezTo>
                  <a:close/>
                </a:path>
              </a:pathLst>
            </a:custGeom>
            <a:solidFill>
              <a:srgbClr val="FED80B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558441" cy="15161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735177" y="2499551"/>
            <a:ext cx="502084" cy="274148"/>
            <a:chOff x="0" y="0"/>
            <a:chExt cx="132236" cy="7220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2236" cy="72203"/>
            </a:xfrm>
            <a:custGeom>
              <a:avLst/>
              <a:gdLst/>
              <a:ahLst/>
              <a:cxnLst/>
              <a:rect r="r" b="b" t="t" l="l"/>
              <a:pathLst>
                <a:path h="72203" w="132236">
                  <a:moveTo>
                    <a:pt x="0" y="0"/>
                  </a:moveTo>
                  <a:lnTo>
                    <a:pt x="132236" y="0"/>
                  </a:lnTo>
                  <a:lnTo>
                    <a:pt x="132236" y="72203"/>
                  </a:lnTo>
                  <a:lnTo>
                    <a:pt x="0" y="72203"/>
                  </a:lnTo>
                  <a:close/>
                </a:path>
              </a:pathLst>
            </a:custGeom>
            <a:solidFill>
              <a:srgbClr val="0D0B8A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32236" cy="110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735177" y="4197198"/>
            <a:ext cx="502084" cy="274148"/>
            <a:chOff x="0" y="0"/>
            <a:chExt cx="132236" cy="7220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2236" cy="72203"/>
            </a:xfrm>
            <a:custGeom>
              <a:avLst/>
              <a:gdLst/>
              <a:ahLst/>
              <a:cxnLst/>
              <a:rect r="r" b="b" t="t" l="l"/>
              <a:pathLst>
                <a:path h="72203" w="132236">
                  <a:moveTo>
                    <a:pt x="0" y="0"/>
                  </a:moveTo>
                  <a:lnTo>
                    <a:pt x="132236" y="0"/>
                  </a:lnTo>
                  <a:lnTo>
                    <a:pt x="132236" y="72203"/>
                  </a:lnTo>
                  <a:lnTo>
                    <a:pt x="0" y="72203"/>
                  </a:lnTo>
                  <a:close/>
                </a:path>
              </a:pathLst>
            </a:custGeom>
            <a:solidFill>
              <a:srgbClr val="0D0B8A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32236" cy="110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735177" y="5768185"/>
            <a:ext cx="502084" cy="274148"/>
            <a:chOff x="0" y="0"/>
            <a:chExt cx="132236" cy="7220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2236" cy="72203"/>
            </a:xfrm>
            <a:custGeom>
              <a:avLst/>
              <a:gdLst/>
              <a:ahLst/>
              <a:cxnLst/>
              <a:rect r="r" b="b" t="t" l="l"/>
              <a:pathLst>
                <a:path h="72203" w="132236">
                  <a:moveTo>
                    <a:pt x="0" y="0"/>
                  </a:moveTo>
                  <a:lnTo>
                    <a:pt x="132236" y="0"/>
                  </a:lnTo>
                  <a:lnTo>
                    <a:pt x="132236" y="72203"/>
                  </a:lnTo>
                  <a:lnTo>
                    <a:pt x="0" y="72203"/>
                  </a:lnTo>
                  <a:close/>
                </a:path>
              </a:pathLst>
            </a:custGeom>
            <a:solidFill>
              <a:srgbClr val="0D0B8A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32236" cy="110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1334753" y="8049935"/>
            <a:ext cx="1161562" cy="1217890"/>
          </a:xfrm>
          <a:custGeom>
            <a:avLst/>
            <a:gdLst/>
            <a:ahLst/>
            <a:cxnLst/>
            <a:rect r="r" b="b" t="t" l="l"/>
            <a:pathLst>
              <a:path h="1217890" w="1161562">
                <a:moveTo>
                  <a:pt x="0" y="0"/>
                </a:moveTo>
                <a:lnTo>
                  <a:pt x="1161563" y="0"/>
                </a:lnTo>
                <a:lnTo>
                  <a:pt x="1161563" y="1217890"/>
                </a:lnTo>
                <a:lnTo>
                  <a:pt x="0" y="12178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2660068" y="8424812"/>
            <a:ext cx="15011363" cy="595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2199" b="true">
                <a:solidFill>
                  <a:srgbClr val="263C92"/>
                </a:solidFill>
                <a:latin typeface="Inter Bold"/>
                <a:ea typeface="Inter Bold"/>
                <a:cs typeface="Inter Bold"/>
                <a:sym typeface="Inter Bold"/>
              </a:rPr>
              <a:t>Takeaway</a:t>
            </a:r>
            <a:r>
              <a:rPr lang="en-US" sz="2199">
                <a:solidFill>
                  <a:srgbClr val="263C92"/>
                </a:solidFill>
                <a:latin typeface="Inter"/>
                <a:ea typeface="Inter"/>
                <a:cs typeface="Inter"/>
                <a:sym typeface="Inter"/>
              </a:rPr>
              <a:t>: Pada jaringan pemantau terbatas, </a:t>
            </a:r>
            <a:r>
              <a:rPr lang="en-US" sz="2199" b="true">
                <a:solidFill>
                  <a:srgbClr val="263C92"/>
                </a:solidFill>
                <a:latin typeface="Inter Bold"/>
                <a:ea typeface="Inter Bold"/>
                <a:cs typeface="Inter Bold"/>
                <a:sym typeface="Inter Bold"/>
              </a:rPr>
              <a:t>INLA SPDE</a:t>
            </a:r>
            <a:r>
              <a:rPr lang="en-US" sz="2199">
                <a:solidFill>
                  <a:srgbClr val="263C92"/>
                </a:solidFill>
                <a:latin typeface="Inter"/>
                <a:ea typeface="Inter"/>
                <a:cs typeface="Inter"/>
                <a:sym typeface="Inter"/>
              </a:rPr>
              <a:t> menjadi model paling stabil untuk akurasi titik, sedangkan model hybrid lebih relevan untuk membaca ketidakpastian prediksi.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342036" y="2490025"/>
            <a:ext cx="5066595" cy="5506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3"/>
              </a:lnSpc>
            </a:pPr>
            <a:r>
              <a:rPr lang="en-US" sz="2100">
                <a:solidFill>
                  <a:srgbClr val="263C92"/>
                </a:solidFill>
                <a:latin typeface="Inter"/>
                <a:ea typeface="Inter"/>
                <a:cs typeface="Inter"/>
                <a:sym typeface="Inter"/>
              </a:rPr>
              <a:t>INLA SPDE-AR1 menghasilkan akurasi prediksi titik terbaik</a:t>
            </a:r>
          </a:p>
          <a:p>
            <a:pPr algn="l">
              <a:lnSpc>
                <a:spcPts val="2583"/>
              </a:lnSpc>
            </a:pPr>
            <a:r>
              <a:rPr lang="en-US" sz="2100" b="true">
                <a:solidFill>
                  <a:srgbClr val="263C92"/>
                </a:solidFill>
                <a:latin typeface="Inter Bold"/>
                <a:ea typeface="Inter Bold"/>
                <a:cs typeface="Inter Bold"/>
                <a:sym typeface="Inter Bold"/>
              </a:rPr>
              <a:t>RMSE = 17.36, MAE = 12.24, dan R² = 0.46.</a:t>
            </a:r>
          </a:p>
          <a:p>
            <a:pPr algn="l">
              <a:lnSpc>
                <a:spcPts val="2583"/>
              </a:lnSpc>
            </a:pPr>
          </a:p>
          <a:p>
            <a:pPr algn="l">
              <a:lnSpc>
                <a:spcPts val="2583"/>
              </a:lnSpc>
            </a:pPr>
            <a:r>
              <a:rPr lang="en-US" sz="2100">
                <a:solidFill>
                  <a:srgbClr val="263C92"/>
                </a:solidFill>
                <a:latin typeface="Inter"/>
                <a:ea typeface="Inter"/>
                <a:cs typeface="Inter"/>
                <a:sym typeface="Inter"/>
              </a:rPr>
              <a:t>M</a:t>
            </a:r>
            <a:r>
              <a:rPr lang="en-US" sz="2100">
                <a:solidFill>
                  <a:srgbClr val="263C92"/>
                </a:solidFill>
                <a:latin typeface="Inter"/>
                <a:ea typeface="Inter"/>
                <a:cs typeface="Inter"/>
                <a:sym typeface="Inter"/>
              </a:rPr>
              <a:t>odel hybrid tidak mengungguli model Bayesian spasial tunggal</a:t>
            </a:r>
          </a:p>
          <a:p>
            <a:pPr algn="l">
              <a:lnSpc>
                <a:spcPts val="2583"/>
              </a:lnSpc>
            </a:pPr>
            <a:r>
              <a:rPr lang="en-US" sz="2100" b="true">
                <a:solidFill>
                  <a:srgbClr val="263C92"/>
                </a:solidFill>
                <a:latin typeface="Inter Bold"/>
                <a:ea typeface="Inter Bold"/>
                <a:cs typeface="Inter Bold"/>
                <a:sym typeface="Inter Bold"/>
              </a:rPr>
              <a:t>Pen</a:t>
            </a:r>
            <a:r>
              <a:rPr lang="en-US" sz="2100" b="true">
                <a:solidFill>
                  <a:srgbClr val="263C92"/>
                </a:solidFill>
                <a:latin typeface="Inter Bold"/>
                <a:ea typeface="Inter Bold"/>
                <a:cs typeface="Inter Bold"/>
                <a:sym typeface="Inter Bold"/>
              </a:rPr>
              <a:t>ambahan XGBoost tidak otomatis meningkatkan akurasi prediksi.</a:t>
            </a:r>
          </a:p>
          <a:p>
            <a:pPr algn="l">
              <a:lnSpc>
                <a:spcPts val="2583"/>
              </a:lnSpc>
            </a:pPr>
          </a:p>
          <a:p>
            <a:pPr algn="l">
              <a:lnSpc>
                <a:spcPts val="2583"/>
              </a:lnSpc>
            </a:pPr>
            <a:r>
              <a:rPr lang="en-US" sz="2100">
                <a:solidFill>
                  <a:srgbClr val="263C92"/>
                </a:solidFill>
                <a:latin typeface="Inter"/>
                <a:ea typeface="Inter"/>
                <a:cs typeface="Inter"/>
                <a:sym typeface="Inter"/>
              </a:rPr>
              <a:t>Hybrid XGBoost + SPDE tetap memberi informasi ketidakpastian</a:t>
            </a:r>
          </a:p>
          <a:p>
            <a:pPr algn="l">
              <a:lnSpc>
                <a:spcPts val="2583"/>
              </a:lnSpc>
            </a:pPr>
            <a:r>
              <a:rPr lang="en-US" sz="2100" b="true">
                <a:solidFill>
                  <a:srgbClr val="263C92"/>
                </a:solidFill>
                <a:latin typeface="Inter Bold"/>
                <a:ea typeface="Inter Bold"/>
                <a:cs typeface="Inter Bold"/>
                <a:sym typeface="Inter Bold"/>
              </a:rPr>
              <a:t>Nilai c</a:t>
            </a:r>
            <a:r>
              <a:rPr lang="en-US" sz="2100" b="true">
                <a:solidFill>
                  <a:srgbClr val="263C92"/>
                </a:solidFill>
                <a:latin typeface="Inter Bold"/>
                <a:ea typeface="Inter Bold"/>
                <a:cs typeface="Inter Bold"/>
                <a:sym typeface="Inter Bold"/>
              </a:rPr>
              <a:t>overage sebesar 89.04% menunjukkan bahwa model ini masih berguna untuk membaca rentang ketidakpastian prediksi.</a:t>
            </a:r>
          </a:p>
          <a:p>
            <a:pPr algn="l">
              <a:lnSpc>
                <a:spcPts val="2583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9779760"/>
            <a:ext cx="18288000" cy="507238"/>
            <a:chOff x="0" y="0"/>
            <a:chExt cx="24384000" cy="6763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676275"/>
            </a:xfrm>
            <a:custGeom>
              <a:avLst/>
              <a:gdLst/>
              <a:ahLst/>
              <a:cxnLst/>
              <a:rect r="r" b="b" t="t" l="l"/>
              <a:pathLst>
                <a:path h="6762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76275"/>
                  </a:lnTo>
                  <a:lnTo>
                    <a:pt x="0" y="676275"/>
                  </a:lnTo>
                  <a:close/>
                </a:path>
              </a:pathLst>
            </a:custGeom>
            <a:solidFill>
              <a:srgbClr val="263C92"/>
            </a:solid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0" y="9779762"/>
            <a:ext cx="18288000" cy="507238"/>
            <a:chOff x="0" y="0"/>
            <a:chExt cx="24384000" cy="6763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676275"/>
            </a:xfrm>
            <a:custGeom>
              <a:avLst/>
              <a:gdLst/>
              <a:ahLst/>
              <a:cxnLst/>
              <a:rect r="r" b="b" t="t" l="l"/>
              <a:pathLst>
                <a:path h="6762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76275"/>
                  </a:lnTo>
                  <a:lnTo>
                    <a:pt x="0" y="6762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9681099"/>
            <a:ext cx="18288000" cy="99327"/>
            <a:chOff x="0" y="0"/>
            <a:chExt cx="24384000" cy="13243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132461"/>
            </a:xfrm>
            <a:custGeom>
              <a:avLst/>
              <a:gdLst/>
              <a:ahLst/>
              <a:cxnLst/>
              <a:rect r="r" b="b" t="t" l="l"/>
              <a:pathLst>
                <a:path h="13246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2461"/>
                  </a:lnTo>
                  <a:lnTo>
                    <a:pt x="0" y="132461"/>
                  </a:lnTo>
                  <a:close/>
                </a:path>
              </a:pathLst>
            </a:custGeom>
            <a:solidFill>
              <a:srgbClr val="FED80B"/>
            </a:solid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635619" y="493260"/>
            <a:ext cx="2183244" cy="572066"/>
            <a:chOff x="0" y="0"/>
            <a:chExt cx="2910992" cy="762754"/>
          </a:xfrm>
        </p:grpSpPr>
        <p:sp>
          <p:nvSpPr>
            <p:cNvPr name="Freeform 9" id="9" descr="A blue and black logo  AI-generated content may be incorrect."/>
            <p:cNvSpPr/>
            <p:nvPr/>
          </p:nvSpPr>
          <p:spPr>
            <a:xfrm flipH="false" flipV="false" rot="0">
              <a:off x="0" y="0"/>
              <a:ext cx="2910967" cy="762762"/>
            </a:xfrm>
            <a:custGeom>
              <a:avLst/>
              <a:gdLst/>
              <a:ahLst/>
              <a:cxnLst/>
              <a:rect r="r" b="b" t="t" l="l"/>
              <a:pathLst>
                <a:path h="762762" w="2910967">
                  <a:moveTo>
                    <a:pt x="0" y="0"/>
                  </a:moveTo>
                  <a:lnTo>
                    <a:pt x="2910967" y="0"/>
                  </a:lnTo>
                  <a:lnTo>
                    <a:pt x="2910967" y="762762"/>
                  </a:lnTo>
                  <a:lnTo>
                    <a:pt x="0" y="762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5712649" y="492926"/>
            <a:ext cx="1939733" cy="572400"/>
            <a:chOff x="0" y="0"/>
            <a:chExt cx="2586310" cy="763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86355" cy="763143"/>
            </a:xfrm>
            <a:custGeom>
              <a:avLst/>
              <a:gdLst/>
              <a:ahLst/>
              <a:cxnLst/>
              <a:rect r="r" b="b" t="t" l="l"/>
              <a:pathLst>
                <a:path h="763143" w="2586355">
                  <a:moveTo>
                    <a:pt x="0" y="0"/>
                  </a:moveTo>
                  <a:lnTo>
                    <a:pt x="2586355" y="0"/>
                  </a:lnTo>
                  <a:lnTo>
                    <a:pt x="2586355" y="763143"/>
                  </a:lnTo>
                  <a:lnTo>
                    <a:pt x="0" y="7631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-7"/>
              </a:stretch>
            </a:blipFill>
          </p:spPr>
        </p:sp>
      </p:grpSp>
      <p:sp>
        <p:nvSpPr>
          <p:cNvPr name="AutoShape 12" id="12"/>
          <p:cNvSpPr/>
          <p:nvPr/>
        </p:nvSpPr>
        <p:spPr>
          <a:xfrm flipV="true">
            <a:off x="616569" y="2057988"/>
            <a:ext cx="16950331" cy="0"/>
          </a:xfrm>
          <a:prstGeom prst="line">
            <a:avLst/>
          </a:prstGeom>
          <a:ln cap="flat" w="19050">
            <a:solidFill>
              <a:srgbClr val="0D0B8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12925567" y="4137931"/>
            <a:ext cx="1048096" cy="464640"/>
            <a:chOff x="0" y="0"/>
            <a:chExt cx="4303488" cy="190781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303522" cy="1907921"/>
            </a:xfrm>
            <a:custGeom>
              <a:avLst/>
              <a:gdLst/>
              <a:ahLst/>
              <a:cxnLst/>
              <a:rect r="r" b="b" t="t" l="l"/>
              <a:pathLst>
                <a:path h="1907921" w="4303522">
                  <a:moveTo>
                    <a:pt x="4303522" y="953897"/>
                  </a:moveTo>
                  <a:lnTo>
                    <a:pt x="3297428" y="0"/>
                  </a:lnTo>
                  <a:lnTo>
                    <a:pt x="3297428" y="254635"/>
                  </a:lnTo>
                  <a:lnTo>
                    <a:pt x="3209417" y="254635"/>
                  </a:lnTo>
                  <a:lnTo>
                    <a:pt x="2180971" y="254635"/>
                  </a:lnTo>
                  <a:lnTo>
                    <a:pt x="2122551" y="254635"/>
                  </a:lnTo>
                  <a:lnTo>
                    <a:pt x="0" y="254635"/>
                  </a:lnTo>
                  <a:lnTo>
                    <a:pt x="689229" y="953897"/>
                  </a:lnTo>
                  <a:lnTo>
                    <a:pt x="0" y="1653286"/>
                  </a:lnTo>
                  <a:lnTo>
                    <a:pt x="3297428" y="1653286"/>
                  </a:lnTo>
                  <a:lnTo>
                    <a:pt x="3297428" y="1907921"/>
                  </a:lnTo>
                  <a:close/>
                </a:path>
              </a:pathLst>
            </a:custGeom>
            <a:solidFill>
              <a:srgbClr val="FED80B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3016058" y="3793508"/>
            <a:ext cx="1048096" cy="464640"/>
            <a:chOff x="0" y="0"/>
            <a:chExt cx="4303488" cy="190781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303522" cy="1907921"/>
            </a:xfrm>
            <a:custGeom>
              <a:avLst/>
              <a:gdLst/>
              <a:ahLst/>
              <a:cxnLst/>
              <a:rect r="r" b="b" t="t" l="l"/>
              <a:pathLst>
                <a:path h="1907921" w="4303522">
                  <a:moveTo>
                    <a:pt x="4303522" y="953897"/>
                  </a:moveTo>
                  <a:lnTo>
                    <a:pt x="3297428" y="0"/>
                  </a:lnTo>
                  <a:lnTo>
                    <a:pt x="3297428" y="254635"/>
                  </a:lnTo>
                  <a:lnTo>
                    <a:pt x="3209417" y="254635"/>
                  </a:lnTo>
                  <a:lnTo>
                    <a:pt x="2180971" y="254635"/>
                  </a:lnTo>
                  <a:lnTo>
                    <a:pt x="2122551" y="254635"/>
                  </a:lnTo>
                  <a:lnTo>
                    <a:pt x="0" y="254635"/>
                  </a:lnTo>
                  <a:lnTo>
                    <a:pt x="689229" y="953897"/>
                  </a:lnTo>
                  <a:lnTo>
                    <a:pt x="0" y="1653286"/>
                  </a:lnTo>
                  <a:lnTo>
                    <a:pt x="3297428" y="1653286"/>
                  </a:lnTo>
                  <a:lnTo>
                    <a:pt x="3297428" y="1907921"/>
                  </a:lnTo>
                  <a:close/>
                </a:path>
              </a:pathLst>
            </a:custGeom>
            <a:solidFill>
              <a:srgbClr val="FED80B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35619" y="2755789"/>
            <a:ext cx="2649282" cy="2540077"/>
            <a:chOff x="0" y="0"/>
            <a:chExt cx="697753" cy="66899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97753" cy="668992"/>
            </a:xfrm>
            <a:custGeom>
              <a:avLst/>
              <a:gdLst/>
              <a:ahLst/>
              <a:cxnLst/>
              <a:rect r="r" b="b" t="t" l="l"/>
              <a:pathLst>
                <a:path h="668992" w="697753">
                  <a:moveTo>
                    <a:pt x="99357" y="0"/>
                  </a:moveTo>
                  <a:lnTo>
                    <a:pt x="598396" y="0"/>
                  </a:lnTo>
                  <a:cubicBezTo>
                    <a:pt x="653270" y="0"/>
                    <a:pt x="697753" y="44484"/>
                    <a:pt x="697753" y="99357"/>
                  </a:cubicBezTo>
                  <a:lnTo>
                    <a:pt x="697753" y="569634"/>
                  </a:lnTo>
                  <a:cubicBezTo>
                    <a:pt x="697753" y="624508"/>
                    <a:pt x="653270" y="668992"/>
                    <a:pt x="598396" y="668992"/>
                  </a:cubicBezTo>
                  <a:lnTo>
                    <a:pt x="99357" y="668992"/>
                  </a:lnTo>
                  <a:cubicBezTo>
                    <a:pt x="73006" y="668992"/>
                    <a:pt x="47734" y="658524"/>
                    <a:pt x="29101" y="639891"/>
                  </a:cubicBezTo>
                  <a:cubicBezTo>
                    <a:pt x="10468" y="621257"/>
                    <a:pt x="0" y="595986"/>
                    <a:pt x="0" y="569634"/>
                  </a:cubicBezTo>
                  <a:lnTo>
                    <a:pt x="0" y="99357"/>
                  </a:lnTo>
                  <a:cubicBezTo>
                    <a:pt x="0" y="44484"/>
                    <a:pt x="44484" y="0"/>
                    <a:pt x="99357" y="0"/>
                  </a:cubicBezTo>
                  <a:close/>
                </a:path>
              </a:pathLst>
            </a:custGeom>
            <a:solidFill>
              <a:srgbClr val="263C92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0"/>
              <a:ext cx="697753" cy="7642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01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444593" y="3793508"/>
            <a:ext cx="1048096" cy="464640"/>
            <a:chOff x="0" y="0"/>
            <a:chExt cx="4303488" cy="190781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303522" cy="1907921"/>
            </a:xfrm>
            <a:custGeom>
              <a:avLst/>
              <a:gdLst/>
              <a:ahLst/>
              <a:cxnLst/>
              <a:rect r="r" b="b" t="t" l="l"/>
              <a:pathLst>
                <a:path h="1907921" w="4303522">
                  <a:moveTo>
                    <a:pt x="4303522" y="953897"/>
                  </a:moveTo>
                  <a:lnTo>
                    <a:pt x="3297428" y="0"/>
                  </a:lnTo>
                  <a:lnTo>
                    <a:pt x="3297428" y="254635"/>
                  </a:lnTo>
                  <a:lnTo>
                    <a:pt x="3209417" y="254635"/>
                  </a:lnTo>
                  <a:lnTo>
                    <a:pt x="2180971" y="254635"/>
                  </a:lnTo>
                  <a:lnTo>
                    <a:pt x="2122551" y="254635"/>
                  </a:lnTo>
                  <a:lnTo>
                    <a:pt x="0" y="254635"/>
                  </a:lnTo>
                  <a:lnTo>
                    <a:pt x="689229" y="953897"/>
                  </a:lnTo>
                  <a:lnTo>
                    <a:pt x="0" y="1653286"/>
                  </a:lnTo>
                  <a:lnTo>
                    <a:pt x="3297428" y="1653286"/>
                  </a:lnTo>
                  <a:lnTo>
                    <a:pt x="3297428" y="1907921"/>
                  </a:lnTo>
                  <a:close/>
                </a:path>
              </a:pathLst>
            </a:custGeom>
            <a:solidFill>
              <a:srgbClr val="FED80B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4064154" y="2755789"/>
            <a:ext cx="2649282" cy="2540077"/>
            <a:chOff x="0" y="0"/>
            <a:chExt cx="697753" cy="66899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97753" cy="668992"/>
            </a:xfrm>
            <a:custGeom>
              <a:avLst/>
              <a:gdLst/>
              <a:ahLst/>
              <a:cxnLst/>
              <a:rect r="r" b="b" t="t" l="l"/>
              <a:pathLst>
                <a:path h="668992" w="697753">
                  <a:moveTo>
                    <a:pt x="99357" y="0"/>
                  </a:moveTo>
                  <a:lnTo>
                    <a:pt x="598396" y="0"/>
                  </a:lnTo>
                  <a:cubicBezTo>
                    <a:pt x="653270" y="0"/>
                    <a:pt x="697753" y="44484"/>
                    <a:pt x="697753" y="99357"/>
                  </a:cubicBezTo>
                  <a:lnTo>
                    <a:pt x="697753" y="569634"/>
                  </a:lnTo>
                  <a:cubicBezTo>
                    <a:pt x="697753" y="624508"/>
                    <a:pt x="653270" y="668992"/>
                    <a:pt x="598396" y="668992"/>
                  </a:cubicBezTo>
                  <a:lnTo>
                    <a:pt x="99357" y="668992"/>
                  </a:lnTo>
                  <a:cubicBezTo>
                    <a:pt x="73006" y="668992"/>
                    <a:pt x="47734" y="658524"/>
                    <a:pt x="29101" y="639891"/>
                  </a:cubicBezTo>
                  <a:cubicBezTo>
                    <a:pt x="10468" y="621257"/>
                    <a:pt x="0" y="595986"/>
                    <a:pt x="0" y="569634"/>
                  </a:cubicBezTo>
                  <a:lnTo>
                    <a:pt x="0" y="99357"/>
                  </a:lnTo>
                  <a:cubicBezTo>
                    <a:pt x="0" y="44484"/>
                    <a:pt x="44484" y="0"/>
                    <a:pt x="99357" y="0"/>
                  </a:cubicBezTo>
                  <a:close/>
                </a:path>
              </a:pathLst>
            </a:custGeom>
            <a:solidFill>
              <a:srgbClr val="C7E8FB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0"/>
              <a:ext cx="697753" cy="7642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01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492689" y="2755789"/>
            <a:ext cx="2649282" cy="2540077"/>
            <a:chOff x="0" y="0"/>
            <a:chExt cx="697753" cy="66899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97753" cy="668992"/>
            </a:xfrm>
            <a:custGeom>
              <a:avLst/>
              <a:gdLst/>
              <a:ahLst/>
              <a:cxnLst/>
              <a:rect r="r" b="b" t="t" l="l"/>
              <a:pathLst>
                <a:path h="668992" w="697753">
                  <a:moveTo>
                    <a:pt x="99357" y="0"/>
                  </a:moveTo>
                  <a:lnTo>
                    <a:pt x="598396" y="0"/>
                  </a:lnTo>
                  <a:cubicBezTo>
                    <a:pt x="653270" y="0"/>
                    <a:pt x="697753" y="44484"/>
                    <a:pt x="697753" y="99357"/>
                  </a:cubicBezTo>
                  <a:lnTo>
                    <a:pt x="697753" y="569634"/>
                  </a:lnTo>
                  <a:cubicBezTo>
                    <a:pt x="697753" y="624508"/>
                    <a:pt x="653270" y="668992"/>
                    <a:pt x="598396" y="668992"/>
                  </a:cubicBezTo>
                  <a:lnTo>
                    <a:pt x="99357" y="668992"/>
                  </a:lnTo>
                  <a:cubicBezTo>
                    <a:pt x="73006" y="668992"/>
                    <a:pt x="47734" y="658524"/>
                    <a:pt x="29101" y="639891"/>
                  </a:cubicBezTo>
                  <a:cubicBezTo>
                    <a:pt x="10468" y="621257"/>
                    <a:pt x="0" y="595986"/>
                    <a:pt x="0" y="569634"/>
                  </a:cubicBezTo>
                  <a:lnTo>
                    <a:pt x="0" y="99357"/>
                  </a:lnTo>
                  <a:cubicBezTo>
                    <a:pt x="0" y="44484"/>
                    <a:pt x="44484" y="0"/>
                    <a:pt x="99357" y="0"/>
                  </a:cubicBezTo>
                  <a:close/>
                </a:path>
              </a:pathLst>
            </a:custGeom>
            <a:solidFill>
              <a:srgbClr val="263C92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0"/>
              <a:ext cx="697753" cy="7642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01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3016058" y="6572217"/>
            <a:ext cx="1048096" cy="464640"/>
            <a:chOff x="0" y="0"/>
            <a:chExt cx="4303488" cy="190781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303522" cy="1907921"/>
            </a:xfrm>
            <a:custGeom>
              <a:avLst/>
              <a:gdLst/>
              <a:ahLst/>
              <a:cxnLst/>
              <a:rect r="r" b="b" t="t" l="l"/>
              <a:pathLst>
                <a:path h="1907921" w="4303522">
                  <a:moveTo>
                    <a:pt x="4303522" y="953897"/>
                  </a:moveTo>
                  <a:lnTo>
                    <a:pt x="3297428" y="0"/>
                  </a:lnTo>
                  <a:lnTo>
                    <a:pt x="3297428" y="254635"/>
                  </a:lnTo>
                  <a:lnTo>
                    <a:pt x="3209417" y="254635"/>
                  </a:lnTo>
                  <a:lnTo>
                    <a:pt x="2180971" y="254635"/>
                  </a:lnTo>
                  <a:lnTo>
                    <a:pt x="2122551" y="254635"/>
                  </a:lnTo>
                  <a:lnTo>
                    <a:pt x="0" y="254635"/>
                  </a:lnTo>
                  <a:lnTo>
                    <a:pt x="689229" y="953897"/>
                  </a:lnTo>
                  <a:lnTo>
                    <a:pt x="0" y="1653286"/>
                  </a:lnTo>
                  <a:lnTo>
                    <a:pt x="3297428" y="1653286"/>
                  </a:lnTo>
                  <a:lnTo>
                    <a:pt x="3297428" y="1907921"/>
                  </a:lnTo>
                  <a:close/>
                </a:path>
              </a:pathLst>
            </a:custGeom>
            <a:solidFill>
              <a:srgbClr val="FED80B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6444593" y="6572217"/>
            <a:ext cx="1048096" cy="464640"/>
            <a:chOff x="0" y="0"/>
            <a:chExt cx="4303488" cy="190781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303522" cy="1907921"/>
            </a:xfrm>
            <a:custGeom>
              <a:avLst/>
              <a:gdLst/>
              <a:ahLst/>
              <a:cxnLst/>
              <a:rect r="r" b="b" t="t" l="l"/>
              <a:pathLst>
                <a:path h="1907921" w="4303522">
                  <a:moveTo>
                    <a:pt x="4303522" y="953897"/>
                  </a:moveTo>
                  <a:lnTo>
                    <a:pt x="3297428" y="0"/>
                  </a:lnTo>
                  <a:lnTo>
                    <a:pt x="3297428" y="254635"/>
                  </a:lnTo>
                  <a:lnTo>
                    <a:pt x="3209417" y="254635"/>
                  </a:lnTo>
                  <a:lnTo>
                    <a:pt x="2180971" y="254635"/>
                  </a:lnTo>
                  <a:lnTo>
                    <a:pt x="2122551" y="254635"/>
                  </a:lnTo>
                  <a:lnTo>
                    <a:pt x="0" y="254635"/>
                  </a:lnTo>
                  <a:lnTo>
                    <a:pt x="689229" y="953897"/>
                  </a:lnTo>
                  <a:lnTo>
                    <a:pt x="0" y="1653286"/>
                  </a:lnTo>
                  <a:lnTo>
                    <a:pt x="3297428" y="1653286"/>
                  </a:lnTo>
                  <a:lnTo>
                    <a:pt x="3297428" y="1907921"/>
                  </a:lnTo>
                  <a:close/>
                </a:path>
              </a:pathLst>
            </a:custGeom>
            <a:solidFill>
              <a:srgbClr val="FED80B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635619" y="5533992"/>
            <a:ext cx="2649282" cy="2540077"/>
            <a:chOff x="0" y="0"/>
            <a:chExt cx="697753" cy="66899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97753" cy="668992"/>
            </a:xfrm>
            <a:custGeom>
              <a:avLst/>
              <a:gdLst/>
              <a:ahLst/>
              <a:cxnLst/>
              <a:rect r="r" b="b" t="t" l="l"/>
              <a:pathLst>
                <a:path h="668992" w="697753">
                  <a:moveTo>
                    <a:pt x="99357" y="0"/>
                  </a:moveTo>
                  <a:lnTo>
                    <a:pt x="598396" y="0"/>
                  </a:lnTo>
                  <a:cubicBezTo>
                    <a:pt x="653270" y="0"/>
                    <a:pt x="697753" y="44484"/>
                    <a:pt x="697753" y="99357"/>
                  </a:cubicBezTo>
                  <a:lnTo>
                    <a:pt x="697753" y="569634"/>
                  </a:lnTo>
                  <a:cubicBezTo>
                    <a:pt x="697753" y="624508"/>
                    <a:pt x="653270" y="668992"/>
                    <a:pt x="598396" y="668992"/>
                  </a:cubicBezTo>
                  <a:lnTo>
                    <a:pt x="99357" y="668992"/>
                  </a:lnTo>
                  <a:cubicBezTo>
                    <a:pt x="73006" y="668992"/>
                    <a:pt x="47734" y="658524"/>
                    <a:pt x="29101" y="639891"/>
                  </a:cubicBezTo>
                  <a:cubicBezTo>
                    <a:pt x="10468" y="621257"/>
                    <a:pt x="0" y="595986"/>
                    <a:pt x="0" y="569634"/>
                  </a:cubicBezTo>
                  <a:lnTo>
                    <a:pt x="0" y="99357"/>
                  </a:lnTo>
                  <a:cubicBezTo>
                    <a:pt x="0" y="44484"/>
                    <a:pt x="44484" y="0"/>
                    <a:pt x="99357" y="0"/>
                  </a:cubicBezTo>
                  <a:close/>
                </a:path>
              </a:pathLst>
            </a:custGeom>
            <a:solidFill>
              <a:srgbClr val="263C92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0"/>
              <a:ext cx="697753" cy="7642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01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4064154" y="5533992"/>
            <a:ext cx="2649282" cy="2540077"/>
            <a:chOff x="0" y="0"/>
            <a:chExt cx="697753" cy="66899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97753" cy="668992"/>
            </a:xfrm>
            <a:custGeom>
              <a:avLst/>
              <a:gdLst/>
              <a:ahLst/>
              <a:cxnLst/>
              <a:rect r="r" b="b" t="t" l="l"/>
              <a:pathLst>
                <a:path h="668992" w="697753">
                  <a:moveTo>
                    <a:pt x="99357" y="0"/>
                  </a:moveTo>
                  <a:lnTo>
                    <a:pt x="598396" y="0"/>
                  </a:lnTo>
                  <a:cubicBezTo>
                    <a:pt x="653270" y="0"/>
                    <a:pt x="697753" y="44484"/>
                    <a:pt x="697753" y="99357"/>
                  </a:cubicBezTo>
                  <a:lnTo>
                    <a:pt x="697753" y="569634"/>
                  </a:lnTo>
                  <a:cubicBezTo>
                    <a:pt x="697753" y="624508"/>
                    <a:pt x="653270" y="668992"/>
                    <a:pt x="598396" y="668992"/>
                  </a:cubicBezTo>
                  <a:lnTo>
                    <a:pt x="99357" y="668992"/>
                  </a:lnTo>
                  <a:cubicBezTo>
                    <a:pt x="73006" y="668992"/>
                    <a:pt x="47734" y="658524"/>
                    <a:pt x="29101" y="639891"/>
                  </a:cubicBezTo>
                  <a:cubicBezTo>
                    <a:pt x="10468" y="621257"/>
                    <a:pt x="0" y="595986"/>
                    <a:pt x="0" y="569634"/>
                  </a:cubicBezTo>
                  <a:lnTo>
                    <a:pt x="0" y="99357"/>
                  </a:lnTo>
                  <a:cubicBezTo>
                    <a:pt x="0" y="44484"/>
                    <a:pt x="44484" y="0"/>
                    <a:pt x="99357" y="0"/>
                  </a:cubicBezTo>
                  <a:close/>
                </a:path>
              </a:pathLst>
            </a:custGeom>
            <a:solidFill>
              <a:srgbClr val="C7E8FB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0"/>
              <a:ext cx="697753" cy="7642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01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492689" y="5533992"/>
            <a:ext cx="2649282" cy="2540077"/>
            <a:chOff x="0" y="0"/>
            <a:chExt cx="697753" cy="66899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97753" cy="668992"/>
            </a:xfrm>
            <a:custGeom>
              <a:avLst/>
              <a:gdLst/>
              <a:ahLst/>
              <a:cxnLst/>
              <a:rect r="r" b="b" t="t" l="l"/>
              <a:pathLst>
                <a:path h="668992" w="697753">
                  <a:moveTo>
                    <a:pt x="99357" y="0"/>
                  </a:moveTo>
                  <a:lnTo>
                    <a:pt x="598396" y="0"/>
                  </a:lnTo>
                  <a:cubicBezTo>
                    <a:pt x="653270" y="0"/>
                    <a:pt x="697753" y="44484"/>
                    <a:pt x="697753" y="99357"/>
                  </a:cubicBezTo>
                  <a:lnTo>
                    <a:pt x="697753" y="569634"/>
                  </a:lnTo>
                  <a:cubicBezTo>
                    <a:pt x="697753" y="624508"/>
                    <a:pt x="653270" y="668992"/>
                    <a:pt x="598396" y="668992"/>
                  </a:cubicBezTo>
                  <a:lnTo>
                    <a:pt x="99357" y="668992"/>
                  </a:lnTo>
                  <a:cubicBezTo>
                    <a:pt x="73006" y="668992"/>
                    <a:pt x="47734" y="658524"/>
                    <a:pt x="29101" y="639891"/>
                  </a:cubicBezTo>
                  <a:cubicBezTo>
                    <a:pt x="10468" y="621257"/>
                    <a:pt x="0" y="595986"/>
                    <a:pt x="0" y="569634"/>
                  </a:cubicBezTo>
                  <a:lnTo>
                    <a:pt x="0" y="99357"/>
                  </a:lnTo>
                  <a:cubicBezTo>
                    <a:pt x="0" y="44484"/>
                    <a:pt x="44484" y="0"/>
                    <a:pt x="99357" y="0"/>
                  </a:cubicBezTo>
                  <a:close/>
                </a:path>
              </a:pathLst>
            </a:custGeom>
            <a:solidFill>
              <a:srgbClr val="263C92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0"/>
              <a:ext cx="697753" cy="7642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01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35619" y="8283619"/>
            <a:ext cx="17016762" cy="1238250"/>
            <a:chOff x="0" y="0"/>
            <a:chExt cx="4481781" cy="326123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481781" cy="326123"/>
            </a:xfrm>
            <a:custGeom>
              <a:avLst/>
              <a:gdLst/>
              <a:ahLst/>
              <a:cxnLst/>
              <a:rect r="r" b="b" t="t" l="l"/>
              <a:pathLst>
                <a:path h="326123" w="4481781">
                  <a:moveTo>
                    <a:pt x="15469" y="0"/>
                  </a:moveTo>
                  <a:lnTo>
                    <a:pt x="4466313" y="0"/>
                  </a:lnTo>
                  <a:cubicBezTo>
                    <a:pt x="4470415" y="0"/>
                    <a:pt x="4474349" y="1630"/>
                    <a:pt x="4477250" y="4531"/>
                  </a:cubicBezTo>
                  <a:cubicBezTo>
                    <a:pt x="4480151" y="7432"/>
                    <a:pt x="4481781" y="11366"/>
                    <a:pt x="4481781" y="15469"/>
                  </a:cubicBezTo>
                  <a:lnTo>
                    <a:pt x="4481781" y="310655"/>
                  </a:lnTo>
                  <a:cubicBezTo>
                    <a:pt x="4481781" y="314757"/>
                    <a:pt x="4480151" y="318692"/>
                    <a:pt x="4477250" y="321593"/>
                  </a:cubicBezTo>
                  <a:cubicBezTo>
                    <a:pt x="4474349" y="324494"/>
                    <a:pt x="4470415" y="326123"/>
                    <a:pt x="4466313" y="326123"/>
                  </a:cubicBezTo>
                  <a:lnTo>
                    <a:pt x="15469" y="326123"/>
                  </a:lnTo>
                  <a:cubicBezTo>
                    <a:pt x="11366" y="326123"/>
                    <a:pt x="7432" y="324494"/>
                    <a:pt x="4531" y="321593"/>
                  </a:cubicBezTo>
                  <a:cubicBezTo>
                    <a:pt x="1630" y="318692"/>
                    <a:pt x="0" y="314757"/>
                    <a:pt x="0" y="310655"/>
                  </a:cubicBezTo>
                  <a:lnTo>
                    <a:pt x="0" y="15469"/>
                  </a:lnTo>
                  <a:cubicBezTo>
                    <a:pt x="0" y="11366"/>
                    <a:pt x="1630" y="7432"/>
                    <a:pt x="4531" y="4531"/>
                  </a:cubicBezTo>
                  <a:cubicBezTo>
                    <a:pt x="7432" y="1630"/>
                    <a:pt x="11366" y="0"/>
                    <a:pt x="15469" y="0"/>
                  </a:cubicBezTo>
                  <a:close/>
                </a:path>
              </a:pathLst>
            </a:custGeom>
            <a:solidFill>
              <a:srgbClr val="C7E8FB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0"/>
              <a:ext cx="4481781" cy="4213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01"/>
                </a:lnSpc>
              </a:pPr>
            </a:p>
          </p:txBody>
        </p:sp>
      </p:grpSp>
      <p:sp>
        <p:nvSpPr>
          <p:cNvPr name="Freeform 44" id="44"/>
          <p:cNvSpPr/>
          <p:nvPr/>
        </p:nvSpPr>
        <p:spPr>
          <a:xfrm flipH="false" flipV="false" rot="0">
            <a:off x="1384267" y="3021421"/>
            <a:ext cx="1151987" cy="1236727"/>
          </a:xfrm>
          <a:custGeom>
            <a:avLst/>
            <a:gdLst/>
            <a:ahLst/>
            <a:cxnLst/>
            <a:rect r="r" b="b" t="t" l="l"/>
            <a:pathLst>
              <a:path h="1236727" w="1151987">
                <a:moveTo>
                  <a:pt x="0" y="0"/>
                </a:moveTo>
                <a:lnTo>
                  <a:pt x="1151986" y="0"/>
                </a:lnTo>
                <a:lnTo>
                  <a:pt x="1151986" y="1236727"/>
                </a:lnTo>
                <a:lnTo>
                  <a:pt x="0" y="123672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4663247" y="2963849"/>
            <a:ext cx="1451096" cy="1273337"/>
          </a:xfrm>
          <a:custGeom>
            <a:avLst/>
            <a:gdLst/>
            <a:ahLst/>
            <a:cxnLst/>
            <a:rect r="r" b="b" t="t" l="l"/>
            <a:pathLst>
              <a:path h="1273337" w="1451096">
                <a:moveTo>
                  <a:pt x="0" y="0"/>
                </a:moveTo>
                <a:lnTo>
                  <a:pt x="1451096" y="0"/>
                </a:lnTo>
                <a:lnTo>
                  <a:pt x="1451096" y="1273337"/>
                </a:lnTo>
                <a:lnTo>
                  <a:pt x="0" y="127333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8225293" y="2932682"/>
            <a:ext cx="1203125" cy="1200117"/>
          </a:xfrm>
          <a:custGeom>
            <a:avLst/>
            <a:gdLst/>
            <a:ahLst/>
            <a:cxnLst/>
            <a:rect r="r" b="b" t="t" l="l"/>
            <a:pathLst>
              <a:path h="1200117" w="1203125">
                <a:moveTo>
                  <a:pt x="0" y="0"/>
                </a:moveTo>
                <a:lnTo>
                  <a:pt x="1203124" y="0"/>
                </a:lnTo>
                <a:lnTo>
                  <a:pt x="1203124" y="1200117"/>
                </a:lnTo>
                <a:lnTo>
                  <a:pt x="0" y="120011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1289235" y="5669339"/>
            <a:ext cx="1465533" cy="1163267"/>
          </a:xfrm>
          <a:custGeom>
            <a:avLst/>
            <a:gdLst/>
            <a:ahLst/>
            <a:cxnLst/>
            <a:rect r="r" b="b" t="t" l="l"/>
            <a:pathLst>
              <a:path h="1163267" w="1465533">
                <a:moveTo>
                  <a:pt x="0" y="0"/>
                </a:moveTo>
                <a:lnTo>
                  <a:pt x="1465533" y="0"/>
                </a:lnTo>
                <a:lnTo>
                  <a:pt x="1465533" y="1163267"/>
                </a:lnTo>
                <a:lnTo>
                  <a:pt x="0" y="116326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4850195" y="5837243"/>
            <a:ext cx="1077201" cy="966787"/>
          </a:xfrm>
          <a:custGeom>
            <a:avLst/>
            <a:gdLst/>
            <a:ahLst/>
            <a:cxnLst/>
            <a:rect r="r" b="b" t="t" l="l"/>
            <a:pathLst>
              <a:path h="966787" w="1077201">
                <a:moveTo>
                  <a:pt x="0" y="0"/>
                </a:moveTo>
                <a:lnTo>
                  <a:pt x="1077200" y="0"/>
                </a:lnTo>
                <a:lnTo>
                  <a:pt x="1077200" y="966788"/>
                </a:lnTo>
                <a:lnTo>
                  <a:pt x="0" y="96678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8063724" y="5727739"/>
            <a:ext cx="1507211" cy="1200117"/>
          </a:xfrm>
          <a:custGeom>
            <a:avLst/>
            <a:gdLst/>
            <a:ahLst/>
            <a:cxnLst/>
            <a:rect r="r" b="b" t="t" l="l"/>
            <a:pathLst>
              <a:path h="1200117" w="1507211">
                <a:moveTo>
                  <a:pt x="0" y="0"/>
                </a:moveTo>
                <a:lnTo>
                  <a:pt x="1507212" y="0"/>
                </a:lnTo>
                <a:lnTo>
                  <a:pt x="1507212" y="1200117"/>
                </a:lnTo>
                <a:lnTo>
                  <a:pt x="0" y="120011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0" id="50"/>
          <p:cNvGrpSpPr/>
          <p:nvPr/>
        </p:nvGrpSpPr>
        <p:grpSpPr>
          <a:xfrm rot="0">
            <a:off x="10361046" y="2755789"/>
            <a:ext cx="7140721" cy="5270655"/>
            <a:chOff x="0" y="0"/>
            <a:chExt cx="1880684" cy="138815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880684" cy="1388156"/>
            </a:xfrm>
            <a:custGeom>
              <a:avLst/>
              <a:gdLst/>
              <a:ahLst/>
              <a:cxnLst/>
              <a:rect r="r" b="b" t="t" l="l"/>
              <a:pathLst>
                <a:path h="1388156" w="1880684">
                  <a:moveTo>
                    <a:pt x="36863" y="0"/>
                  </a:moveTo>
                  <a:lnTo>
                    <a:pt x="1843821" y="0"/>
                  </a:lnTo>
                  <a:cubicBezTo>
                    <a:pt x="1853598" y="0"/>
                    <a:pt x="1862974" y="3884"/>
                    <a:pt x="1869887" y="10797"/>
                  </a:cubicBezTo>
                  <a:cubicBezTo>
                    <a:pt x="1876800" y="17710"/>
                    <a:pt x="1880684" y="27086"/>
                    <a:pt x="1880684" y="36863"/>
                  </a:cubicBezTo>
                  <a:lnTo>
                    <a:pt x="1880684" y="1351293"/>
                  </a:lnTo>
                  <a:cubicBezTo>
                    <a:pt x="1880684" y="1371652"/>
                    <a:pt x="1864180" y="1388156"/>
                    <a:pt x="1843821" y="1388156"/>
                  </a:cubicBezTo>
                  <a:lnTo>
                    <a:pt x="36863" y="1388156"/>
                  </a:lnTo>
                  <a:cubicBezTo>
                    <a:pt x="27086" y="1388156"/>
                    <a:pt x="17710" y="1384272"/>
                    <a:pt x="10797" y="1377359"/>
                  </a:cubicBezTo>
                  <a:cubicBezTo>
                    <a:pt x="3884" y="1370446"/>
                    <a:pt x="0" y="1361070"/>
                    <a:pt x="0" y="1351293"/>
                  </a:cubicBezTo>
                  <a:lnTo>
                    <a:pt x="0" y="36863"/>
                  </a:lnTo>
                  <a:cubicBezTo>
                    <a:pt x="0" y="27086"/>
                    <a:pt x="3884" y="17710"/>
                    <a:pt x="10797" y="10797"/>
                  </a:cubicBezTo>
                  <a:cubicBezTo>
                    <a:pt x="17710" y="3884"/>
                    <a:pt x="27086" y="0"/>
                    <a:pt x="36863" y="0"/>
                  </a:cubicBezTo>
                  <a:close/>
                </a:path>
              </a:pathLst>
            </a:custGeom>
            <a:solidFill>
              <a:srgbClr val="FCDF21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0"/>
              <a:ext cx="1880684" cy="1483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01"/>
                </a:lnSpc>
              </a:pPr>
            </a:p>
          </p:txBody>
        </p:sp>
      </p:grpSp>
      <p:sp>
        <p:nvSpPr>
          <p:cNvPr name="Freeform 53" id="53"/>
          <p:cNvSpPr/>
          <p:nvPr/>
        </p:nvSpPr>
        <p:spPr>
          <a:xfrm flipH="false" flipV="false" rot="0">
            <a:off x="878269" y="8396747"/>
            <a:ext cx="1011995" cy="1011995"/>
          </a:xfrm>
          <a:custGeom>
            <a:avLst/>
            <a:gdLst/>
            <a:ahLst/>
            <a:cxnLst/>
            <a:rect r="r" b="b" t="t" l="l"/>
            <a:pathLst>
              <a:path h="1011995" w="1011995">
                <a:moveTo>
                  <a:pt x="0" y="0"/>
                </a:moveTo>
                <a:lnTo>
                  <a:pt x="1011995" y="0"/>
                </a:lnTo>
                <a:lnTo>
                  <a:pt x="1011995" y="1011995"/>
                </a:lnTo>
                <a:lnTo>
                  <a:pt x="0" y="101199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10618221" y="3153163"/>
            <a:ext cx="1151086" cy="1151086"/>
          </a:xfrm>
          <a:custGeom>
            <a:avLst/>
            <a:gdLst/>
            <a:ahLst/>
            <a:cxnLst/>
            <a:rect r="r" b="b" t="t" l="l"/>
            <a:pathLst>
              <a:path h="1151086" w="1151086">
                <a:moveTo>
                  <a:pt x="0" y="0"/>
                </a:moveTo>
                <a:lnTo>
                  <a:pt x="1151086" y="0"/>
                </a:lnTo>
                <a:lnTo>
                  <a:pt x="1151086" y="1151086"/>
                </a:lnTo>
                <a:lnTo>
                  <a:pt x="0" y="1151086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5" id="55"/>
          <p:cNvSpPr/>
          <p:nvPr/>
        </p:nvSpPr>
        <p:spPr>
          <a:xfrm>
            <a:off x="12102682" y="3966481"/>
            <a:ext cx="4972534" cy="0"/>
          </a:xfrm>
          <a:prstGeom prst="line">
            <a:avLst/>
          </a:prstGeom>
          <a:ln cap="flat" w="19050">
            <a:solidFill>
              <a:srgbClr val="0D0B8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6" id="56"/>
          <p:cNvSpPr/>
          <p:nvPr/>
        </p:nvSpPr>
        <p:spPr>
          <a:xfrm flipH="false" flipV="false" rot="0">
            <a:off x="10645041" y="4631816"/>
            <a:ext cx="548723" cy="511684"/>
          </a:xfrm>
          <a:custGeom>
            <a:avLst/>
            <a:gdLst/>
            <a:ahLst/>
            <a:cxnLst/>
            <a:rect r="r" b="b" t="t" l="l"/>
            <a:pathLst>
              <a:path h="511684" w="548723">
                <a:moveTo>
                  <a:pt x="0" y="0"/>
                </a:moveTo>
                <a:lnTo>
                  <a:pt x="548723" y="0"/>
                </a:lnTo>
                <a:lnTo>
                  <a:pt x="548723" y="511684"/>
                </a:lnTo>
                <a:lnTo>
                  <a:pt x="0" y="511684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7" id="57"/>
          <p:cNvSpPr txBox="true"/>
          <p:nvPr/>
        </p:nvSpPr>
        <p:spPr>
          <a:xfrm rot="0">
            <a:off x="7712835" y="4323299"/>
            <a:ext cx="2228039" cy="781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2"/>
              </a:lnSpc>
            </a:pPr>
            <a:r>
              <a:rPr lang="en-US" sz="1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INLA-SPDE AR1 menghasilkan akurasi titik terbaik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635619" y="1478296"/>
            <a:ext cx="17016762" cy="480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1"/>
              </a:lnSpc>
            </a:pPr>
            <a:r>
              <a:rPr lang="en-US" sz="3399" b="true">
                <a:solidFill>
                  <a:srgbClr val="263C92"/>
                </a:solidFill>
                <a:latin typeface="Inter Bold"/>
                <a:ea typeface="Inter Bold"/>
                <a:cs typeface="Inter Bold"/>
                <a:sym typeface="Inter Bold"/>
              </a:rPr>
              <a:t>Model Bayesian Spasial Tunggal Lebih Stabil pada Jaringan Pemantau Terbatas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635619" y="2214388"/>
            <a:ext cx="16623681" cy="331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2400">
                <a:solidFill>
                  <a:srgbClr val="263C92"/>
                </a:solidFill>
                <a:latin typeface="Inter"/>
                <a:ea typeface="Inter"/>
                <a:cs typeface="Inter"/>
                <a:sym typeface="Inter"/>
              </a:rPr>
              <a:t>Kompleksitas tambahan tidak selalu meningkatkan akurasi prediksi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846240" y="4505798"/>
            <a:ext cx="2228039" cy="544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Data PM2.5 relatif lengkap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4274775" y="4391498"/>
            <a:ext cx="2228039" cy="722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4"/>
              </a:lnSpc>
            </a:pPr>
            <a:r>
              <a:rPr lang="en-US" sz="1800">
                <a:solidFill>
                  <a:srgbClr val="0D0B8A"/>
                </a:solidFill>
                <a:latin typeface="Inter"/>
                <a:ea typeface="Inter"/>
                <a:cs typeface="Inter"/>
                <a:sym typeface="Inter"/>
              </a:rPr>
              <a:t>Struktur spasial dapat ditangkap langsung oleh SPDE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740930" y="6965956"/>
            <a:ext cx="2438661" cy="960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4"/>
              </a:lnSpc>
            </a:pPr>
            <a:r>
              <a:rPr lang="en-US" sz="18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XGBoost</a:t>
            </a:r>
            <a:r>
              <a:rPr lang="en-US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menghasilkan prediksi meteorologi non-linear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4169465" y="7093598"/>
            <a:ext cx="2438661" cy="705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57"/>
              </a:lnSpc>
            </a:pPr>
            <a:r>
              <a:rPr lang="en-US" sz="1720">
                <a:solidFill>
                  <a:srgbClr val="0D0B8A"/>
                </a:solidFill>
                <a:latin typeface="Inter"/>
                <a:ea typeface="Inter"/>
                <a:cs typeface="Inter"/>
                <a:sym typeface="Inter"/>
              </a:rPr>
              <a:t>Error prediksi XGBoost ikut terbawa ke tahap INLA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7712835" y="6981081"/>
            <a:ext cx="2237564" cy="945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3"/>
              </a:lnSpc>
            </a:pPr>
            <a:r>
              <a:rPr lang="en-US" sz="170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Hybrid tidak otomatis mengungguli model Bayesian spasial tunggal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2107726" y="8559844"/>
            <a:ext cx="15394041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500" b="true">
                <a:solidFill>
                  <a:srgbClr val="263C92"/>
                </a:solidFill>
                <a:latin typeface="Inter Bold"/>
                <a:ea typeface="Inter Bold"/>
                <a:cs typeface="Inter Bold"/>
                <a:sym typeface="Inter Bold"/>
              </a:rPr>
              <a:t>Insight:</a:t>
            </a:r>
            <a:r>
              <a:rPr lang="en-US" sz="2500">
                <a:solidFill>
                  <a:srgbClr val="263C92"/>
                </a:solidFill>
                <a:latin typeface="Inter"/>
                <a:ea typeface="Inter"/>
                <a:cs typeface="Inter"/>
                <a:sym typeface="Inter"/>
              </a:rPr>
              <a:t> Dalam jaringan pemantau yang sangat terbatas, model Bayesian spasial tunggal dapat lebih stabil dibandingkan model hybrid yang lebih kompleks.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2102682" y="3355739"/>
            <a:ext cx="4196154" cy="437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7"/>
              </a:lnSpc>
            </a:pPr>
            <a:r>
              <a:rPr lang="en-US" sz="3099" b="true">
                <a:solidFill>
                  <a:srgbClr val="263C92"/>
                </a:solidFill>
                <a:latin typeface="Inter Bold"/>
                <a:ea typeface="Inter Bold"/>
                <a:cs typeface="Inter Bold"/>
                <a:sym typeface="Inter Bold"/>
              </a:rPr>
              <a:t>Interpretasi Utama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1401188" y="4631146"/>
            <a:ext cx="5858112" cy="2835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4"/>
              </a:lnSpc>
            </a:pPr>
            <a:r>
              <a:rPr lang="en-US" sz="2300">
                <a:solidFill>
                  <a:srgbClr val="263C92"/>
                </a:solidFill>
                <a:latin typeface="Inter"/>
                <a:ea typeface="Inter"/>
                <a:cs typeface="Inter"/>
                <a:sym typeface="Inter"/>
              </a:rPr>
              <a:t>Missing value hanya 1,22%, sehingga model spasial murni dapat bekerja stabil</a:t>
            </a:r>
          </a:p>
          <a:p>
            <a:pPr algn="l">
              <a:lnSpc>
                <a:spcPts val="2484"/>
              </a:lnSpc>
            </a:pPr>
          </a:p>
          <a:p>
            <a:pPr algn="l">
              <a:lnSpc>
                <a:spcPts val="2484"/>
              </a:lnSpc>
            </a:pPr>
            <a:r>
              <a:rPr lang="en-US" sz="2300">
                <a:solidFill>
                  <a:srgbClr val="263C92"/>
                </a:solidFill>
                <a:latin typeface="Inter"/>
                <a:ea typeface="Inter"/>
                <a:cs typeface="Inter"/>
                <a:sym typeface="Inter"/>
              </a:rPr>
              <a:t>SPDE mampu menangkap struktur spasial laten pada jaringan 5 stasiun</a:t>
            </a:r>
          </a:p>
          <a:p>
            <a:pPr algn="l">
              <a:lnSpc>
                <a:spcPts val="2484"/>
              </a:lnSpc>
            </a:pPr>
          </a:p>
          <a:p>
            <a:pPr algn="l">
              <a:lnSpc>
                <a:spcPts val="2484"/>
              </a:lnSpc>
            </a:pPr>
            <a:r>
              <a:rPr lang="en-US" sz="2300">
                <a:solidFill>
                  <a:srgbClr val="263C92"/>
                </a:solidFill>
                <a:latin typeface="Inter"/>
                <a:ea typeface="Inter"/>
                <a:cs typeface="Inter"/>
                <a:sym typeface="Inter"/>
              </a:rPr>
              <a:t>Penambahan XGBoost meningkatkan kompleksitas, tetapi tidak selalu meningkatkan akurasi</a:t>
            </a:r>
          </a:p>
        </p:txBody>
      </p:sp>
      <p:sp>
        <p:nvSpPr>
          <p:cNvPr name="Freeform 68" id="68"/>
          <p:cNvSpPr/>
          <p:nvPr/>
        </p:nvSpPr>
        <p:spPr>
          <a:xfrm flipH="false" flipV="false" rot="0">
            <a:off x="10645041" y="5581401"/>
            <a:ext cx="548723" cy="511684"/>
          </a:xfrm>
          <a:custGeom>
            <a:avLst/>
            <a:gdLst/>
            <a:ahLst/>
            <a:cxnLst/>
            <a:rect r="r" b="b" t="t" l="l"/>
            <a:pathLst>
              <a:path h="511684" w="548723">
                <a:moveTo>
                  <a:pt x="0" y="0"/>
                </a:moveTo>
                <a:lnTo>
                  <a:pt x="548723" y="0"/>
                </a:lnTo>
                <a:lnTo>
                  <a:pt x="548723" y="511684"/>
                </a:lnTo>
                <a:lnTo>
                  <a:pt x="0" y="511684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9" id="69"/>
          <p:cNvSpPr/>
          <p:nvPr/>
        </p:nvSpPr>
        <p:spPr>
          <a:xfrm flipH="false" flipV="false" rot="0">
            <a:off x="10645041" y="6530986"/>
            <a:ext cx="548723" cy="511684"/>
          </a:xfrm>
          <a:custGeom>
            <a:avLst/>
            <a:gdLst/>
            <a:ahLst/>
            <a:cxnLst/>
            <a:rect r="r" b="b" t="t" l="l"/>
            <a:pathLst>
              <a:path h="511684" w="548723">
                <a:moveTo>
                  <a:pt x="0" y="0"/>
                </a:moveTo>
                <a:lnTo>
                  <a:pt x="548723" y="0"/>
                </a:lnTo>
                <a:lnTo>
                  <a:pt x="548723" y="511684"/>
                </a:lnTo>
                <a:lnTo>
                  <a:pt x="0" y="511684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63C9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1286"/>
            <a:ext cx="18288000" cy="10284429"/>
            <a:chOff x="0" y="0"/>
            <a:chExt cx="24384000" cy="13712572"/>
          </a:xfrm>
        </p:grpSpPr>
        <p:sp>
          <p:nvSpPr>
            <p:cNvPr name="Freeform 3" id="3" descr="A black background with blue and black border  AI-generated content may be incorrect.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634340" y="492926"/>
            <a:ext cx="2184524" cy="572400"/>
            <a:chOff x="0" y="0"/>
            <a:chExt cx="2912698" cy="763200"/>
          </a:xfrm>
        </p:grpSpPr>
        <p:sp>
          <p:nvSpPr>
            <p:cNvPr name="Freeform 5" id="5" descr="A black and white logo  AI-generated content may be incorrect."/>
            <p:cNvSpPr/>
            <p:nvPr/>
          </p:nvSpPr>
          <p:spPr>
            <a:xfrm flipH="false" flipV="false" rot="0">
              <a:off x="0" y="0"/>
              <a:ext cx="2912745" cy="763143"/>
            </a:xfrm>
            <a:custGeom>
              <a:avLst/>
              <a:gdLst/>
              <a:ahLst/>
              <a:cxnLst/>
              <a:rect r="r" b="b" t="t" l="l"/>
              <a:pathLst>
                <a:path h="763143" w="2912745">
                  <a:moveTo>
                    <a:pt x="0" y="0"/>
                  </a:moveTo>
                  <a:lnTo>
                    <a:pt x="2912745" y="0"/>
                  </a:lnTo>
                  <a:lnTo>
                    <a:pt x="2912745" y="763143"/>
                  </a:lnTo>
                  <a:lnTo>
                    <a:pt x="0" y="7631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-7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928812" y="4554490"/>
            <a:ext cx="12301041" cy="960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90"/>
              </a:lnSpc>
            </a:pPr>
            <a:r>
              <a:rPr lang="en-US" sz="675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Simpulan dan Saran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960169" y="3098445"/>
            <a:ext cx="1669160" cy="1100138"/>
            <a:chOff x="0" y="0"/>
            <a:chExt cx="2225546" cy="14668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25548" cy="1466850"/>
            </a:xfrm>
            <a:custGeom>
              <a:avLst/>
              <a:gdLst/>
              <a:ahLst/>
              <a:cxnLst/>
              <a:rect r="r" b="b" t="t" l="l"/>
              <a:pathLst>
                <a:path h="1466850" w="2225548">
                  <a:moveTo>
                    <a:pt x="0" y="0"/>
                  </a:moveTo>
                  <a:lnTo>
                    <a:pt x="2225548" y="0"/>
                  </a:lnTo>
                  <a:lnTo>
                    <a:pt x="2225548" y="1466850"/>
                  </a:lnTo>
                  <a:lnTo>
                    <a:pt x="0" y="1466850"/>
                  </a:lnTo>
                  <a:close/>
                </a:path>
              </a:pathLst>
            </a:custGeom>
            <a:solidFill>
              <a:srgbClr val="FED80B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2818863" y="3193695"/>
            <a:ext cx="478497" cy="1270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720"/>
              </a:lnSpc>
            </a:pPr>
            <a:r>
              <a:rPr lang="en-US" sz="9000" b="true">
                <a:solidFill>
                  <a:srgbClr val="263C92"/>
                </a:solidFill>
                <a:latin typeface="Inter Bold"/>
                <a:ea typeface="Inter Bold"/>
                <a:cs typeface="Inter Bold"/>
                <a:sym typeface="Inter Bold"/>
              </a:rPr>
              <a:t>4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360949" y="3098445"/>
            <a:ext cx="1198440" cy="1100137"/>
          </a:xfrm>
          <a:custGeom>
            <a:avLst/>
            <a:gdLst/>
            <a:ahLst/>
            <a:cxnLst/>
            <a:rect r="r" b="b" t="t" l="l"/>
            <a:pathLst>
              <a:path h="1100137" w="1198440">
                <a:moveTo>
                  <a:pt x="0" y="0"/>
                </a:moveTo>
                <a:lnTo>
                  <a:pt x="1198440" y="0"/>
                </a:lnTo>
                <a:lnTo>
                  <a:pt x="1198440" y="1100137"/>
                </a:lnTo>
                <a:lnTo>
                  <a:pt x="0" y="11001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15712649" y="492926"/>
            <a:ext cx="1939734" cy="572400"/>
            <a:chOff x="0" y="0"/>
            <a:chExt cx="2586312" cy="763200"/>
          </a:xfrm>
        </p:grpSpPr>
        <p:sp>
          <p:nvSpPr>
            <p:cNvPr name="Freeform 12" id="12" descr="A black background with white text  AI-generated content may be incorrect."/>
            <p:cNvSpPr/>
            <p:nvPr/>
          </p:nvSpPr>
          <p:spPr>
            <a:xfrm flipH="false" flipV="false" rot="0">
              <a:off x="0" y="0"/>
              <a:ext cx="2586355" cy="763143"/>
            </a:xfrm>
            <a:custGeom>
              <a:avLst/>
              <a:gdLst/>
              <a:ahLst/>
              <a:cxnLst/>
              <a:rect r="r" b="b" t="t" l="l"/>
              <a:pathLst>
                <a:path h="763143" w="2586355">
                  <a:moveTo>
                    <a:pt x="0" y="0"/>
                  </a:moveTo>
                  <a:lnTo>
                    <a:pt x="2586355" y="0"/>
                  </a:lnTo>
                  <a:lnTo>
                    <a:pt x="2586355" y="763143"/>
                  </a:lnTo>
                  <a:lnTo>
                    <a:pt x="0" y="7631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-7"/>
              </a:stretch>
            </a:blipFill>
          </p:spPr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9779760"/>
            <a:ext cx="18288000" cy="507238"/>
            <a:chOff x="0" y="0"/>
            <a:chExt cx="24384000" cy="6763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676275"/>
            </a:xfrm>
            <a:custGeom>
              <a:avLst/>
              <a:gdLst/>
              <a:ahLst/>
              <a:cxnLst/>
              <a:rect r="r" b="b" t="t" l="l"/>
              <a:pathLst>
                <a:path h="6762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76275"/>
                  </a:lnTo>
                  <a:lnTo>
                    <a:pt x="0" y="676275"/>
                  </a:lnTo>
                  <a:close/>
                </a:path>
              </a:pathLst>
            </a:custGeom>
            <a:solidFill>
              <a:srgbClr val="263C92"/>
            </a:solid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0" y="9779762"/>
            <a:ext cx="18288000" cy="507238"/>
            <a:chOff x="0" y="0"/>
            <a:chExt cx="24384000" cy="6763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676275"/>
            </a:xfrm>
            <a:custGeom>
              <a:avLst/>
              <a:gdLst/>
              <a:ahLst/>
              <a:cxnLst/>
              <a:rect r="r" b="b" t="t" l="l"/>
              <a:pathLst>
                <a:path h="6762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76275"/>
                  </a:lnTo>
                  <a:lnTo>
                    <a:pt x="0" y="6762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9681099"/>
            <a:ext cx="18288000" cy="99327"/>
            <a:chOff x="0" y="0"/>
            <a:chExt cx="24384000" cy="13243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132461"/>
            </a:xfrm>
            <a:custGeom>
              <a:avLst/>
              <a:gdLst/>
              <a:ahLst/>
              <a:cxnLst/>
              <a:rect r="r" b="b" t="t" l="l"/>
              <a:pathLst>
                <a:path h="13246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2461"/>
                  </a:lnTo>
                  <a:lnTo>
                    <a:pt x="0" y="132461"/>
                  </a:lnTo>
                  <a:close/>
                </a:path>
              </a:pathLst>
            </a:custGeom>
            <a:solidFill>
              <a:srgbClr val="FED80B"/>
            </a:solid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635619" y="493260"/>
            <a:ext cx="2183244" cy="572066"/>
            <a:chOff x="0" y="0"/>
            <a:chExt cx="2910992" cy="762754"/>
          </a:xfrm>
        </p:grpSpPr>
        <p:sp>
          <p:nvSpPr>
            <p:cNvPr name="Freeform 9" id="9" descr="A blue and black logo  AI-generated content may be incorrect."/>
            <p:cNvSpPr/>
            <p:nvPr/>
          </p:nvSpPr>
          <p:spPr>
            <a:xfrm flipH="false" flipV="false" rot="0">
              <a:off x="0" y="0"/>
              <a:ext cx="2910967" cy="762762"/>
            </a:xfrm>
            <a:custGeom>
              <a:avLst/>
              <a:gdLst/>
              <a:ahLst/>
              <a:cxnLst/>
              <a:rect r="r" b="b" t="t" l="l"/>
              <a:pathLst>
                <a:path h="762762" w="2910967">
                  <a:moveTo>
                    <a:pt x="0" y="0"/>
                  </a:moveTo>
                  <a:lnTo>
                    <a:pt x="2910967" y="0"/>
                  </a:lnTo>
                  <a:lnTo>
                    <a:pt x="2910967" y="762762"/>
                  </a:lnTo>
                  <a:lnTo>
                    <a:pt x="0" y="762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218725" y="1052232"/>
            <a:ext cx="3307663" cy="673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b="true">
                <a:solidFill>
                  <a:srgbClr val="263C92"/>
                </a:solidFill>
                <a:latin typeface="Inter Bold"/>
                <a:ea typeface="Inter Bold"/>
                <a:cs typeface="Inter Bold"/>
                <a:sym typeface="Inter Bold"/>
              </a:rPr>
              <a:t>Simpulan</a:t>
            </a:r>
          </a:p>
        </p:txBody>
      </p: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15712649" y="492926"/>
            <a:ext cx="1939733" cy="572400"/>
            <a:chOff x="0" y="0"/>
            <a:chExt cx="2586310" cy="763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86355" cy="763143"/>
            </a:xfrm>
            <a:custGeom>
              <a:avLst/>
              <a:gdLst/>
              <a:ahLst/>
              <a:cxnLst/>
              <a:rect r="r" b="b" t="t" l="l"/>
              <a:pathLst>
                <a:path h="763143" w="2586355">
                  <a:moveTo>
                    <a:pt x="0" y="0"/>
                  </a:moveTo>
                  <a:lnTo>
                    <a:pt x="2586355" y="0"/>
                  </a:lnTo>
                  <a:lnTo>
                    <a:pt x="2586355" y="763143"/>
                  </a:lnTo>
                  <a:lnTo>
                    <a:pt x="0" y="7631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-7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35619" y="1725459"/>
            <a:ext cx="16983546" cy="4702327"/>
            <a:chOff x="0" y="0"/>
            <a:chExt cx="4473033" cy="123847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73033" cy="1238473"/>
            </a:xfrm>
            <a:custGeom>
              <a:avLst/>
              <a:gdLst/>
              <a:ahLst/>
              <a:cxnLst/>
              <a:rect r="r" b="b" t="t" l="l"/>
              <a:pathLst>
                <a:path h="1238473" w="4473033">
                  <a:moveTo>
                    <a:pt x="15499" y="0"/>
                  </a:moveTo>
                  <a:lnTo>
                    <a:pt x="4457534" y="0"/>
                  </a:lnTo>
                  <a:cubicBezTo>
                    <a:pt x="4461644" y="0"/>
                    <a:pt x="4465587" y="1633"/>
                    <a:pt x="4468493" y="4540"/>
                  </a:cubicBezTo>
                  <a:cubicBezTo>
                    <a:pt x="4471400" y="7446"/>
                    <a:pt x="4473033" y="11388"/>
                    <a:pt x="4473033" y="15499"/>
                  </a:cubicBezTo>
                  <a:lnTo>
                    <a:pt x="4473033" y="1222974"/>
                  </a:lnTo>
                  <a:cubicBezTo>
                    <a:pt x="4473033" y="1227085"/>
                    <a:pt x="4471400" y="1231027"/>
                    <a:pt x="4468493" y="1233933"/>
                  </a:cubicBezTo>
                  <a:cubicBezTo>
                    <a:pt x="4465587" y="1236840"/>
                    <a:pt x="4461644" y="1238473"/>
                    <a:pt x="4457534" y="1238473"/>
                  </a:cubicBezTo>
                  <a:lnTo>
                    <a:pt x="15499" y="1238473"/>
                  </a:lnTo>
                  <a:cubicBezTo>
                    <a:pt x="6939" y="1238473"/>
                    <a:pt x="0" y="1231534"/>
                    <a:pt x="0" y="1222974"/>
                  </a:cubicBezTo>
                  <a:lnTo>
                    <a:pt x="0" y="15499"/>
                  </a:lnTo>
                  <a:cubicBezTo>
                    <a:pt x="0" y="11388"/>
                    <a:pt x="1633" y="7446"/>
                    <a:pt x="4540" y="4540"/>
                  </a:cubicBezTo>
                  <a:cubicBezTo>
                    <a:pt x="7446" y="1633"/>
                    <a:pt x="11388" y="0"/>
                    <a:pt x="15499" y="0"/>
                  </a:cubicBezTo>
                  <a:close/>
                </a:path>
              </a:pathLst>
            </a:custGeom>
            <a:ln w="19050" cap="rnd">
              <a:solidFill>
                <a:srgbClr val="0D0B8A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0"/>
              <a:ext cx="4473033" cy="13337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01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759622" y="1811196"/>
            <a:ext cx="16499678" cy="4355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519"/>
              </a:lnSpc>
              <a:buAutoNum type="arabicPeriod" startAt="1"/>
            </a:pPr>
            <a:r>
              <a:rPr lang="en-US" b="true" sz="2199">
                <a:solidFill>
                  <a:srgbClr val="263C92"/>
                </a:solidFill>
                <a:latin typeface="Inter Bold"/>
                <a:ea typeface="Inter Bold"/>
                <a:cs typeface="Inter Bold"/>
                <a:sym typeface="Inter Bold"/>
              </a:rPr>
              <a:t>LOSO-CV </a:t>
            </a:r>
            <a:r>
              <a:rPr lang="en-US" sz="2199">
                <a:solidFill>
                  <a:srgbClr val="263C92"/>
                </a:solidFill>
                <a:latin typeface="Inter"/>
                <a:ea typeface="Inter"/>
                <a:cs typeface="Inter"/>
                <a:sym typeface="Inter"/>
              </a:rPr>
              <a:t>terbukti sebagai protokol validasi spasial yang ketat dan bebas spatial data leakage — baku emas untuk evaluasi generalisasi ke lokasi unmonitored</a:t>
            </a:r>
          </a:p>
          <a:p>
            <a:pPr algn="l" marL="474979" indent="-237490" lvl="1">
              <a:lnSpc>
                <a:spcPts val="3519"/>
              </a:lnSpc>
              <a:buAutoNum type="arabicPeriod" startAt="1"/>
            </a:pPr>
            <a:r>
              <a:rPr lang="en-US" b="true" sz="2199">
                <a:solidFill>
                  <a:srgbClr val="263C92"/>
                </a:solidFill>
                <a:latin typeface="Inter Bold"/>
                <a:ea typeface="Inter Bold"/>
                <a:cs typeface="Inter Bold"/>
                <a:sym typeface="Inter Bold"/>
              </a:rPr>
              <a:t>SPDE-AR1</a:t>
            </a:r>
            <a:r>
              <a:rPr lang="en-US" sz="2199">
                <a:solidFill>
                  <a:srgbClr val="263C92"/>
                </a:solidFill>
                <a:latin typeface="Inter"/>
                <a:ea typeface="Inter"/>
                <a:cs typeface="Inter"/>
                <a:sym typeface="Inter"/>
              </a:rPr>
              <a:t> saja menghasilkan akurasi titik terbaik (R² = 0,46, RMSE = 17,36 µg/m³), Bayesian Kriging spasio-temporal murni sangat efektif pada data yang cukup lengkap</a:t>
            </a:r>
          </a:p>
          <a:p>
            <a:pPr algn="l" marL="474979" indent="-237490" lvl="1">
              <a:lnSpc>
                <a:spcPts val="3519"/>
              </a:lnSpc>
              <a:buAutoNum type="arabicPeriod" startAt="1"/>
            </a:pPr>
            <a:r>
              <a:rPr lang="en-US" b="true" sz="2199">
                <a:solidFill>
                  <a:srgbClr val="263C92"/>
                </a:solidFill>
                <a:latin typeface="Inter Bold"/>
                <a:ea typeface="Inter Bold"/>
                <a:cs typeface="Inter Bold"/>
                <a:sym typeface="Inter Bold"/>
              </a:rPr>
              <a:t>Hybrid XGBoost + SPDE</a:t>
            </a:r>
            <a:r>
              <a:rPr lang="en-US" sz="2199">
                <a:solidFill>
                  <a:srgbClr val="263C92"/>
                </a:solidFill>
                <a:latin typeface="Inter"/>
                <a:ea typeface="Inter"/>
                <a:cs typeface="Inter"/>
                <a:sym typeface="Inter"/>
              </a:rPr>
              <a:t> unggul dalam uncertainty-aware inference: Coverage 89,04%, CI Width ≈ 63,4 µg/m³, model yang tidak memalsukan kepastian</a:t>
            </a:r>
          </a:p>
          <a:p>
            <a:pPr algn="l" marL="474979" indent="-237490" lvl="1">
              <a:lnSpc>
                <a:spcPts val="3519"/>
              </a:lnSpc>
              <a:buAutoNum type="arabicPeriod" startAt="1"/>
            </a:pPr>
            <a:r>
              <a:rPr lang="en-US" b="true" sz="2199">
                <a:solidFill>
                  <a:srgbClr val="263C92"/>
                </a:solidFill>
                <a:latin typeface="Inter Bold"/>
                <a:ea typeface="Inter Bold"/>
                <a:cs typeface="Inter Bold"/>
                <a:sym typeface="Inter Bold"/>
              </a:rPr>
              <a:t>Keterbatasan N=5</a:t>
            </a:r>
            <a:r>
              <a:rPr lang="en-US" sz="2199">
                <a:solidFill>
                  <a:srgbClr val="263C92"/>
                </a:solidFill>
                <a:latin typeface="Inter"/>
                <a:ea typeface="Inter"/>
                <a:cs typeface="Inter"/>
                <a:sym typeface="Inter"/>
              </a:rPr>
              <a:t>: Under-coverage moderat (89,04% vs. 95% nominal) dan CI hyperparameter yang sangat lebar → urgensi memperluas aksesibilitas data sensor resmi</a:t>
            </a:r>
          </a:p>
          <a:p>
            <a:pPr algn="l" marL="474979" indent="-237490" lvl="1">
              <a:lnSpc>
                <a:spcPts val="3519"/>
              </a:lnSpc>
              <a:buAutoNum type="arabicPeriod" startAt="1"/>
            </a:pPr>
            <a:r>
              <a:rPr lang="en-US" b="true" sz="2199">
                <a:solidFill>
                  <a:srgbClr val="263C92"/>
                </a:solidFill>
                <a:latin typeface="Inter Bold"/>
                <a:ea typeface="Inter Bold"/>
                <a:cs typeface="Inter Bold"/>
                <a:sym typeface="Inter Bold"/>
              </a:rPr>
              <a:t>Range spasial </a:t>
            </a:r>
            <a:r>
              <a:rPr lang="en-US" sz="2199">
                <a:solidFill>
                  <a:srgbClr val="263C92"/>
                </a:solidFill>
                <a:latin typeface="Inter"/>
                <a:ea typeface="Inter"/>
                <a:cs typeface="Inter"/>
                <a:sym typeface="Inter"/>
              </a:rPr>
              <a:t>ρ ≈ 17,6 km mengindikasikan PM2.5 Jakarta beroperasi pada skala semi-regional, melampaui batas administrasi kota, konsisten dengan mekanisme dispersi polutan perkotaan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35619" y="7399335"/>
            <a:ext cx="16983546" cy="1966888"/>
            <a:chOff x="0" y="0"/>
            <a:chExt cx="4473033" cy="51802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473033" cy="518028"/>
            </a:xfrm>
            <a:custGeom>
              <a:avLst/>
              <a:gdLst/>
              <a:ahLst/>
              <a:cxnLst/>
              <a:rect r="r" b="b" t="t" l="l"/>
              <a:pathLst>
                <a:path h="518028" w="4473033">
                  <a:moveTo>
                    <a:pt x="15499" y="0"/>
                  </a:moveTo>
                  <a:lnTo>
                    <a:pt x="4457534" y="0"/>
                  </a:lnTo>
                  <a:cubicBezTo>
                    <a:pt x="4461644" y="0"/>
                    <a:pt x="4465587" y="1633"/>
                    <a:pt x="4468493" y="4540"/>
                  </a:cubicBezTo>
                  <a:cubicBezTo>
                    <a:pt x="4471400" y="7446"/>
                    <a:pt x="4473033" y="11388"/>
                    <a:pt x="4473033" y="15499"/>
                  </a:cubicBezTo>
                  <a:lnTo>
                    <a:pt x="4473033" y="502529"/>
                  </a:lnTo>
                  <a:cubicBezTo>
                    <a:pt x="4473033" y="506640"/>
                    <a:pt x="4471400" y="510582"/>
                    <a:pt x="4468493" y="513489"/>
                  </a:cubicBezTo>
                  <a:cubicBezTo>
                    <a:pt x="4465587" y="516395"/>
                    <a:pt x="4461644" y="518028"/>
                    <a:pt x="4457534" y="518028"/>
                  </a:cubicBezTo>
                  <a:lnTo>
                    <a:pt x="15499" y="518028"/>
                  </a:lnTo>
                  <a:cubicBezTo>
                    <a:pt x="6939" y="518028"/>
                    <a:pt x="0" y="511089"/>
                    <a:pt x="0" y="502529"/>
                  </a:cubicBezTo>
                  <a:lnTo>
                    <a:pt x="0" y="15499"/>
                  </a:lnTo>
                  <a:cubicBezTo>
                    <a:pt x="0" y="11388"/>
                    <a:pt x="1633" y="7446"/>
                    <a:pt x="4540" y="4540"/>
                  </a:cubicBezTo>
                  <a:cubicBezTo>
                    <a:pt x="7446" y="1633"/>
                    <a:pt x="11388" y="0"/>
                    <a:pt x="15499" y="0"/>
                  </a:cubicBezTo>
                  <a:close/>
                </a:path>
              </a:pathLst>
            </a:custGeom>
            <a:ln w="19050" cap="rnd">
              <a:solidFill>
                <a:srgbClr val="0D0B8A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0"/>
              <a:ext cx="4473033" cy="6132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01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975016" y="792981"/>
            <a:ext cx="4311529" cy="932477"/>
            <a:chOff x="0" y="0"/>
            <a:chExt cx="1135547" cy="24559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35547" cy="245591"/>
            </a:xfrm>
            <a:custGeom>
              <a:avLst/>
              <a:gdLst/>
              <a:ahLst/>
              <a:cxnLst/>
              <a:rect r="r" b="b" t="t" l="l"/>
              <a:pathLst>
                <a:path h="245591" w="1135547">
                  <a:moveTo>
                    <a:pt x="122795" y="0"/>
                  </a:moveTo>
                  <a:lnTo>
                    <a:pt x="1012751" y="0"/>
                  </a:lnTo>
                  <a:cubicBezTo>
                    <a:pt x="1080570" y="0"/>
                    <a:pt x="1135547" y="54977"/>
                    <a:pt x="1135547" y="122795"/>
                  </a:cubicBezTo>
                  <a:lnTo>
                    <a:pt x="1135547" y="122795"/>
                  </a:lnTo>
                  <a:cubicBezTo>
                    <a:pt x="1135547" y="155363"/>
                    <a:pt x="1122610" y="186596"/>
                    <a:pt x="1099581" y="209625"/>
                  </a:cubicBezTo>
                  <a:cubicBezTo>
                    <a:pt x="1076552" y="232653"/>
                    <a:pt x="1045319" y="245591"/>
                    <a:pt x="1012751" y="245591"/>
                  </a:cubicBezTo>
                  <a:lnTo>
                    <a:pt x="122795" y="245591"/>
                  </a:lnTo>
                  <a:cubicBezTo>
                    <a:pt x="90228" y="245591"/>
                    <a:pt x="58995" y="232653"/>
                    <a:pt x="35966" y="209625"/>
                  </a:cubicBezTo>
                  <a:cubicBezTo>
                    <a:pt x="12937" y="186596"/>
                    <a:pt x="0" y="155363"/>
                    <a:pt x="0" y="122795"/>
                  </a:cubicBezTo>
                  <a:lnTo>
                    <a:pt x="0" y="122795"/>
                  </a:lnTo>
                  <a:cubicBezTo>
                    <a:pt x="0" y="90228"/>
                    <a:pt x="12937" y="58995"/>
                    <a:pt x="35966" y="35966"/>
                  </a:cubicBezTo>
                  <a:cubicBezTo>
                    <a:pt x="58995" y="12937"/>
                    <a:pt x="90228" y="0"/>
                    <a:pt x="122795" y="0"/>
                  </a:cubicBezTo>
                  <a:close/>
                </a:path>
              </a:pathLst>
            </a:custGeom>
            <a:solidFill>
              <a:srgbClr val="263C92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0"/>
              <a:ext cx="1135547" cy="3408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01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4214139" y="218093"/>
            <a:ext cx="1157714" cy="1553978"/>
          </a:xfrm>
          <a:custGeom>
            <a:avLst/>
            <a:gdLst/>
            <a:ahLst/>
            <a:cxnLst/>
            <a:rect r="r" b="b" t="t" l="l"/>
            <a:pathLst>
              <a:path h="1553978" w="1157714">
                <a:moveTo>
                  <a:pt x="0" y="0"/>
                </a:moveTo>
                <a:lnTo>
                  <a:pt x="1157714" y="0"/>
                </a:lnTo>
                <a:lnTo>
                  <a:pt x="1157714" y="1553978"/>
                </a:lnTo>
                <a:lnTo>
                  <a:pt x="0" y="15539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883667" y="7466010"/>
            <a:ext cx="16375633" cy="1759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4976" indent="-237488" lvl="1">
              <a:lnSpc>
                <a:spcPts val="3563"/>
              </a:lnSpc>
              <a:buFont typeface="Arial"/>
              <a:buChar char="•"/>
            </a:pPr>
            <a:r>
              <a:rPr lang="en-US" b="true" sz="2199">
                <a:solidFill>
                  <a:srgbClr val="263C92"/>
                </a:solidFill>
                <a:latin typeface="Inter Bold"/>
                <a:ea typeface="Inter Bold"/>
                <a:cs typeface="Inter Bold"/>
                <a:sym typeface="Inter Bold"/>
              </a:rPr>
              <a:t>Perluasan data:</a:t>
            </a:r>
            <a:r>
              <a:rPr lang="en-US" sz="2199">
                <a:solidFill>
                  <a:srgbClr val="263C92"/>
                </a:solidFill>
                <a:latin typeface="Inter"/>
                <a:ea typeface="Inter"/>
                <a:cs typeface="Inter"/>
                <a:sym typeface="Inter"/>
              </a:rPr>
              <a:t> meningkatkan N secara signifikan, memperkuat kuasa statistik spasial dan mempersempit CI posterior.</a:t>
            </a:r>
          </a:p>
          <a:p>
            <a:pPr algn="just" marL="474976" indent="-237488" lvl="1">
              <a:lnSpc>
                <a:spcPts val="3563"/>
              </a:lnSpc>
              <a:buFont typeface="Arial"/>
              <a:buChar char="•"/>
            </a:pPr>
            <a:r>
              <a:rPr lang="en-US" b="true" sz="2199">
                <a:solidFill>
                  <a:srgbClr val="263C92"/>
                </a:solidFill>
                <a:latin typeface="Inter Bold"/>
                <a:ea typeface="Inter Bold"/>
                <a:cs typeface="Inter Bold"/>
                <a:sym typeface="Inter Bold"/>
              </a:rPr>
              <a:t>Kovariat tambahan:</a:t>
            </a:r>
            <a:r>
              <a:rPr lang="en-US" sz="2199">
                <a:solidFill>
                  <a:srgbClr val="263C92"/>
                </a:solidFill>
                <a:latin typeface="Inter"/>
                <a:ea typeface="Inter"/>
                <a:cs typeface="Inter"/>
                <a:sym typeface="Inter"/>
              </a:rPr>
              <a:t> Integrasikan data satelit (MODIS AOD, MERRA-2) sebagai </a:t>
            </a:r>
            <a:r>
              <a:rPr lang="en-US" sz="2199" i="true">
                <a:solidFill>
                  <a:srgbClr val="263C92"/>
                </a:solidFill>
                <a:latin typeface="Inter Italics"/>
                <a:ea typeface="Inter Italics"/>
                <a:cs typeface="Inter Italics"/>
                <a:sym typeface="Inter Italics"/>
              </a:rPr>
              <a:t>fixed effect.</a:t>
            </a:r>
            <a:r>
              <a:rPr lang="en-US" sz="2199">
                <a:solidFill>
                  <a:srgbClr val="263C92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  <a:p>
            <a:pPr algn="just" marL="474976" indent="-237488" lvl="1">
              <a:lnSpc>
                <a:spcPts val="3563"/>
              </a:lnSpc>
              <a:buFont typeface="Arial"/>
              <a:buChar char="•"/>
            </a:pPr>
            <a:r>
              <a:rPr lang="en-US" b="true" sz="2199">
                <a:solidFill>
                  <a:srgbClr val="263C92"/>
                </a:solidFill>
                <a:latin typeface="Inter Bold"/>
                <a:ea typeface="Inter Bold"/>
                <a:cs typeface="Inter Bold"/>
                <a:sym typeface="Inter Bold"/>
              </a:rPr>
              <a:t>Pengembangan sistem:</a:t>
            </a:r>
            <a:r>
              <a:rPr lang="en-US" sz="2199">
                <a:solidFill>
                  <a:srgbClr val="263C92"/>
                </a:solidFill>
                <a:latin typeface="Inter"/>
                <a:ea typeface="Inter"/>
                <a:cs typeface="Inter"/>
                <a:sym typeface="Inter"/>
              </a:rPr>
              <a:t> Kembangkan penelitian ini menjadi sistem monitoring spasial </a:t>
            </a:r>
            <a:r>
              <a:rPr lang="en-US" sz="2199" i="true">
                <a:solidFill>
                  <a:srgbClr val="263C92"/>
                </a:solidFill>
                <a:latin typeface="Inter Italics"/>
                <a:ea typeface="Inter Italics"/>
                <a:cs typeface="Inter Italics"/>
                <a:sym typeface="Inter Italics"/>
              </a:rPr>
              <a:t>real-time</a:t>
            </a:r>
            <a:r>
              <a:rPr lang="en-US" sz="2199">
                <a:solidFill>
                  <a:srgbClr val="263C92"/>
                </a:solidFill>
                <a:latin typeface="Inter"/>
                <a:ea typeface="Inter"/>
                <a:cs typeface="Inter"/>
                <a:sym typeface="Inter"/>
              </a:rPr>
              <a:t> berbasis peta posterior prediksi konsentrasi PM2.5 dengan interval ketidakpastian di seluruh grid Jakarta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468565" y="979566"/>
            <a:ext cx="3324431" cy="597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42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Simpulan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759622" y="6603782"/>
            <a:ext cx="3164875" cy="812023"/>
            <a:chOff x="0" y="0"/>
            <a:chExt cx="957195" cy="24559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57195" cy="245591"/>
            </a:xfrm>
            <a:custGeom>
              <a:avLst/>
              <a:gdLst/>
              <a:ahLst/>
              <a:cxnLst/>
              <a:rect r="r" b="b" t="t" l="l"/>
              <a:pathLst>
                <a:path h="245591" w="957195">
                  <a:moveTo>
                    <a:pt x="122795" y="0"/>
                  </a:moveTo>
                  <a:lnTo>
                    <a:pt x="834399" y="0"/>
                  </a:lnTo>
                  <a:cubicBezTo>
                    <a:pt x="902217" y="0"/>
                    <a:pt x="957195" y="54977"/>
                    <a:pt x="957195" y="122795"/>
                  </a:cubicBezTo>
                  <a:lnTo>
                    <a:pt x="957195" y="122795"/>
                  </a:lnTo>
                  <a:cubicBezTo>
                    <a:pt x="957195" y="155363"/>
                    <a:pt x="944257" y="186596"/>
                    <a:pt x="921229" y="209625"/>
                  </a:cubicBezTo>
                  <a:cubicBezTo>
                    <a:pt x="898200" y="232653"/>
                    <a:pt x="866967" y="245591"/>
                    <a:pt x="834399" y="245591"/>
                  </a:cubicBezTo>
                  <a:lnTo>
                    <a:pt x="122795" y="245591"/>
                  </a:lnTo>
                  <a:cubicBezTo>
                    <a:pt x="90228" y="245591"/>
                    <a:pt x="58995" y="232653"/>
                    <a:pt x="35966" y="209625"/>
                  </a:cubicBezTo>
                  <a:cubicBezTo>
                    <a:pt x="12937" y="186596"/>
                    <a:pt x="0" y="155363"/>
                    <a:pt x="0" y="122795"/>
                  </a:cubicBezTo>
                  <a:lnTo>
                    <a:pt x="0" y="122795"/>
                  </a:lnTo>
                  <a:cubicBezTo>
                    <a:pt x="0" y="90228"/>
                    <a:pt x="12937" y="58995"/>
                    <a:pt x="35966" y="35966"/>
                  </a:cubicBezTo>
                  <a:cubicBezTo>
                    <a:pt x="58995" y="12937"/>
                    <a:pt x="90228" y="0"/>
                    <a:pt x="122795" y="0"/>
                  </a:cubicBezTo>
                  <a:close/>
                </a:path>
              </a:pathLst>
            </a:custGeom>
            <a:solidFill>
              <a:srgbClr val="263C92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0"/>
              <a:ext cx="957195" cy="3408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01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189416" y="6771186"/>
            <a:ext cx="2894992" cy="51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0"/>
              </a:lnSpc>
            </a:pPr>
            <a:r>
              <a:rPr lang="en-US" sz="3657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Saran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2813941" y="6302592"/>
            <a:ext cx="937853" cy="993752"/>
          </a:xfrm>
          <a:custGeom>
            <a:avLst/>
            <a:gdLst/>
            <a:ahLst/>
            <a:cxnLst/>
            <a:rect r="r" b="b" t="t" l="l"/>
            <a:pathLst>
              <a:path h="993752" w="937853">
                <a:moveTo>
                  <a:pt x="0" y="0"/>
                </a:moveTo>
                <a:lnTo>
                  <a:pt x="937853" y="0"/>
                </a:lnTo>
                <a:lnTo>
                  <a:pt x="937853" y="993751"/>
                </a:lnTo>
                <a:lnTo>
                  <a:pt x="0" y="99375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2" cy="10287000"/>
            <a:chOff x="0" y="0"/>
            <a:chExt cx="24384002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63C92"/>
            </a:solid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0" y="6493188"/>
            <a:ext cx="18288000" cy="3793812"/>
            <a:chOff x="0" y="0"/>
            <a:chExt cx="24384000" cy="5058416"/>
          </a:xfrm>
        </p:grpSpPr>
        <p:sp>
          <p:nvSpPr>
            <p:cNvPr name="Freeform 5" id="5" descr="A blue and black pattern  AI-generated content may be incorrect."/>
            <p:cNvSpPr/>
            <p:nvPr/>
          </p:nvSpPr>
          <p:spPr>
            <a:xfrm flipH="false" flipV="false" rot="0">
              <a:off x="0" y="0"/>
              <a:ext cx="24384000" cy="5058410"/>
            </a:xfrm>
            <a:custGeom>
              <a:avLst/>
              <a:gdLst/>
              <a:ahLst/>
              <a:cxnLst/>
              <a:rect r="r" b="b" t="t" l="l"/>
              <a:pathLst>
                <a:path h="505841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5058410"/>
                  </a:lnTo>
                  <a:lnTo>
                    <a:pt x="0" y="50584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0" y="9779762"/>
            <a:ext cx="18288000" cy="507238"/>
            <a:chOff x="0" y="0"/>
            <a:chExt cx="24384000" cy="67631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676275"/>
            </a:xfrm>
            <a:custGeom>
              <a:avLst/>
              <a:gdLst/>
              <a:ahLst/>
              <a:cxnLst/>
              <a:rect r="r" b="b" t="t" l="l"/>
              <a:pathLst>
                <a:path h="6762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76275"/>
                  </a:lnTo>
                  <a:lnTo>
                    <a:pt x="0" y="6762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6"/>
              </a:stretch>
            </a:blip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6199401" y="2957512"/>
            <a:ext cx="5889198" cy="3829050"/>
            <a:chOff x="0" y="0"/>
            <a:chExt cx="7852264" cy="5105400"/>
          </a:xfrm>
        </p:grpSpPr>
        <p:sp>
          <p:nvSpPr>
            <p:cNvPr name="Freeform 9" id="9" descr="A logo on a black background  AI-generated content may be incorrect."/>
            <p:cNvSpPr/>
            <p:nvPr/>
          </p:nvSpPr>
          <p:spPr>
            <a:xfrm flipH="false" flipV="false" rot="0">
              <a:off x="0" y="0"/>
              <a:ext cx="7852283" cy="5105400"/>
            </a:xfrm>
            <a:custGeom>
              <a:avLst/>
              <a:gdLst/>
              <a:ahLst/>
              <a:cxnLst/>
              <a:rect r="r" b="b" t="t" l="l"/>
              <a:pathLst>
                <a:path h="5105400" w="7852283">
                  <a:moveTo>
                    <a:pt x="0" y="0"/>
                  </a:moveTo>
                  <a:lnTo>
                    <a:pt x="7852283" y="0"/>
                  </a:lnTo>
                  <a:lnTo>
                    <a:pt x="7852283" y="5105400"/>
                  </a:lnTo>
                  <a:lnTo>
                    <a:pt x="0" y="5105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" r="0" b="-2"/>
              </a:stretch>
            </a:blipFill>
          </p:spPr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9779760"/>
            <a:ext cx="18288000" cy="507238"/>
            <a:chOff x="0" y="0"/>
            <a:chExt cx="24384000" cy="6763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676275"/>
            </a:xfrm>
            <a:custGeom>
              <a:avLst/>
              <a:gdLst/>
              <a:ahLst/>
              <a:cxnLst/>
              <a:rect r="r" b="b" t="t" l="l"/>
              <a:pathLst>
                <a:path h="6762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76275"/>
                  </a:lnTo>
                  <a:lnTo>
                    <a:pt x="0" y="676275"/>
                  </a:lnTo>
                  <a:close/>
                </a:path>
              </a:pathLst>
            </a:custGeom>
            <a:solidFill>
              <a:srgbClr val="263C92"/>
            </a:solid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0" y="9779762"/>
            <a:ext cx="18288000" cy="507238"/>
            <a:chOff x="0" y="0"/>
            <a:chExt cx="24384000" cy="6763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676275"/>
            </a:xfrm>
            <a:custGeom>
              <a:avLst/>
              <a:gdLst/>
              <a:ahLst/>
              <a:cxnLst/>
              <a:rect r="r" b="b" t="t" l="l"/>
              <a:pathLst>
                <a:path h="6762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76275"/>
                  </a:lnTo>
                  <a:lnTo>
                    <a:pt x="0" y="6762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9681099"/>
            <a:ext cx="18288000" cy="99327"/>
            <a:chOff x="0" y="0"/>
            <a:chExt cx="24384000" cy="13243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132461"/>
            </a:xfrm>
            <a:custGeom>
              <a:avLst/>
              <a:gdLst/>
              <a:ahLst/>
              <a:cxnLst/>
              <a:rect r="r" b="b" t="t" l="l"/>
              <a:pathLst>
                <a:path h="13246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2461"/>
                  </a:lnTo>
                  <a:lnTo>
                    <a:pt x="0" y="132461"/>
                  </a:lnTo>
                  <a:close/>
                </a:path>
              </a:pathLst>
            </a:custGeom>
            <a:solidFill>
              <a:srgbClr val="FED80B"/>
            </a:solid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635619" y="493260"/>
            <a:ext cx="2183244" cy="572066"/>
            <a:chOff x="0" y="0"/>
            <a:chExt cx="2910992" cy="762754"/>
          </a:xfrm>
        </p:grpSpPr>
        <p:sp>
          <p:nvSpPr>
            <p:cNvPr name="Freeform 9" id="9" descr="A blue and black logo  AI-generated content may be incorrect."/>
            <p:cNvSpPr/>
            <p:nvPr/>
          </p:nvSpPr>
          <p:spPr>
            <a:xfrm flipH="false" flipV="false" rot="0">
              <a:off x="0" y="0"/>
              <a:ext cx="2910967" cy="762762"/>
            </a:xfrm>
            <a:custGeom>
              <a:avLst/>
              <a:gdLst/>
              <a:ahLst/>
              <a:cxnLst/>
              <a:rect r="r" b="b" t="t" l="l"/>
              <a:pathLst>
                <a:path h="762762" w="2910967">
                  <a:moveTo>
                    <a:pt x="0" y="0"/>
                  </a:moveTo>
                  <a:lnTo>
                    <a:pt x="2910967" y="0"/>
                  </a:lnTo>
                  <a:lnTo>
                    <a:pt x="2910967" y="762762"/>
                  </a:lnTo>
                  <a:lnTo>
                    <a:pt x="0" y="762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5712649" y="492926"/>
            <a:ext cx="1939733" cy="572400"/>
            <a:chOff x="0" y="0"/>
            <a:chExt cx="2586310" cy="763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86355" cy="763143"/>
            </a:xfrm>
            <a:custGeom>
              <a:avLst/>
              <a:gdLst/>
              <a:ahLst/>
              <a:cxnLst/>
              <a:rect r="r" b="b" t="t" l="l"/>
              <a:pathLst>
                <a:path h="763143" w="2586355">
                  <a:moveTo>
                    <a:pt x="0" y="0"/>
                  </a:moveTo>
                  <a:lnTo>
                    <a:pt x="2586355" y="0"/>
                  </a:lnTo>
                  <a:lnTo>
                    <a:pt x="2586355" y="763143"/>
                  </a:lnTo>
                  <a:lnTo>
                    <a:pt x="0" y="7631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-7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28700" y="3027771"/>
            <a:ext cx="6980849" cy="5401238"/>
            <a:chOff x="0" y="0"/>
            <a:chExt cx="1775388" cy="137365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75388" cy="1373657"/>
            </a:xfrm>
            <a:custGeom>
              <a:avLst/>
              <a:gdLst/>
              <a:ahLst/>
              <a:cxnLst/>
              <a:rect r="r" b="b" t="t" l="l"/>
              <a:pathLst>
                <a:path h="1373657" w="1775388">
                  <a:moveTo>
                    <a:pt x="18853" y="0"/>
                  </a:moveTo>
                  <a:lnTo>
                    <a:pt x="1756534" y="0"/>
                  </a:lnTo>
                  <a:cubicBezTo>
                    <a:pt x="1766947" y="0"/>
                    <a:pt x="1775388" y="8441"/>
                    <a:pt x="1775388" y="18853"/>
                  </a:cubicBezTo>
                  <a:lnTo>
                    <a:pt x="1775388" y="1354804"/>
                  </a:lnTo>
                  <a:cubicBezTo>
                    <a:pt x="1775388" y="1365216"/>
                    <a:pt x="1766947" y="1373657"/>
                    <a:pt x="1756534" y="1373657"/>
                  </a:cubicBezTo>
                  <a:lnTo>
                    <a:pt x="18853" y="1373657"/>
                  </a:lnTo>
                  <a:cubicBezTo>
                    <a:pt x="8441" y="1373657"/>
                    <a:pt x="0" y="1365216"/>
                    <a:pt x="0" y="1354804"/>
                  </a:cubicBezTo>
                  <a:lnTo>
                    <a:pt x="0" y="18853"/>
                  </a:lnTo>
                  <a:cubicBezTo>
                    <a:pt x="0" y="8441"/>
                    <a:pt x="8441" y="0"/>
                    <a:pt x="18853" y="0"/>
                  </a:cubicBez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775388" cy="1430807"/>
            </a:xfrm>
            <a:prstGeom prst="rect">
              <a:avLst/>
            </a:prstGeom>
          </p:spPr>
          <p:txBody>
            <a:bodyPr anchor="ctr" rtlCol="false" tIns="52608" lIns="52608" bIns="52608" rIns="52608"/>
            <a:lstStyle/>
            <a:p>
              <a:pPr algn="l">
                <a:lnSpc>
                  <a:spcPts val="2940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2156199" y="3741056"/>
            <a:ext cx="4617765" cy="851503"/>
          </a:xfrm>
          <a:custGeom>
            <a:avLst/>
            <a:gdLst/>
            <a:ahLst/>
            <a:cxnLst/>
            <a:rect r="r" b="b" t="t" l="l"/>
            <a:pathLst>
              <a:path h="851503" w="4617765">
                <a:moveTo>
                  <a:pt x="0" y="0"/>
                </a:moveTo>
                <a:lnTo>
                  <a:pt x="4617764" y="0"/>
                </a:lnTo>
                <a:lnTo>
                  <a:pt x="4617764" y="851502"/>
                </a:lnTo>
                <a:lnTo>
                  <a:pt x="0" y="85150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711910" y="5533767"/>
            <a:ext cx="5506343" cy="633607"/>
          </a:xfrm>
          <a:custGeom>
            <a:avLst/>
            <a:gdLst/>
            <a:ahLst/>
            <a:cxnLst/>
            <a:rect r="r" b="b" t="t" l="l"/>
            <a:pathLst>
              <a:path h="633607" w="5506343">
                <a:moveTo>
                  <a:pt x="0" y="0"/>
                </a:moveTo>
                <a:lnTo>
                  <a:pt x="5506342" y="0"/>
                </a:lnTo>
                <a:lnTo>
                  <a:pt x="5506342" y="633606"/>
                </a:lnTo>
                <a:lnTo>
                  <a:pt x="0" y="63360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90117" y="7691739"/>
            <a:ext cx="6749927" cy="464995"/>
          </a:xfrm>
          <a:custGeom>
            <a:avLst/>
            <a:gdLst/>
            <a:ahLst/>
            <a:cxnLst/>
            <a:rect r="r" b="b" t="t" l="l"/>
            <a:pathLst>
              <a:path h="464995" w="6749927">
                <a:moveTo>
                  <a:pt x="0" y="0"/>
                </a:moveTo>
                <a:lnTo>
                  <a:pt x="6749927" y="0"/>
                </a:lnTo>
                <a:lnTo>
                  <a:pt x="6749927" y="464995"/>
                </a:lnTo>
                <a:lnTo>
                  <a:pt x="0" y="46499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8273049" y="1898024"/>
            <a:ext cx="4228207" cy="798039"/>
          </a:xfrm>
          <a:custGeom>
            <a:avLst/>
            <a:gdLst/>
            <a:ahLst/>
            <a:cxnLst/>
            <a:rect r="r" b="b" t="t" l="l"/>
            <a:pathLst>
              <a:path h="798039" w="4228207">
                <a:moveTo>
                  <a:pt x="0" y="0"/>
                </a:moveTo>
                <a:lnTo>
                  <a:pt x="4228207" y="0"/>
                </a:lnTo>
                <a:lnTo>
                  <a:pt x="4228207" y="798039"/>
                </a:lnTo>
                <a:lnTo>
                  <a:pt x="0" y="7980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227721" y="3686175"/>
            <a:ext cx="2504553" cy="799072"/>
          </a:xfrm>
          <a:custGeom>
            <a:avLst/>
            <a:gdLst/>
            <a:ahLst/>
            <a:cxnLst/>
            <a:rect r="r" b="b" t="t" l="l"/>
            <a:pathLst>
              <a:path h="799072" w="2504553">
                <a:moveTo>
                  <a:pt x="0" y="0"/>
                </a:moveTo>
                <a:lnTo>
                  <a:pt x="2504553" y="0"/>
                </a:lnTo>
                <a:lnTo>
                  <a:pt x="2504553" y="799071"/>
                </a:lnTo>
                <a:lnTo>
                  <a:pt x="0" y="79907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1653795" y="4637646"/>
            <a:ext cx="1897650" cy="563873"/>
          </a:xfrm>
          <a:custGeom>
            <a:avLst/>
            <a:gdLst/>
            <a:ahLst/>
            <a:cxnLst/>
            <a:rect r="r" b="b" t="t" l="l"/>
            <a:pathLst>
              <a:path h="563873" w="1897650">
                <a:moveTo>
                  <a:pt x="0" y="0"/>
                </a:moveTo>
                <a:lnTo>
                  <a:pt x="1897649" y="0"/>
                </a:lnTo>
                <a:lnTo>
                  <a:pt x="1897649" y="563874"/>
                </a:lnTo>
                <a:lnTo>
                  <a:pt x="0" y="56387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8273049" y="6151213"/>
            <a:ext cx="4329570" cy="726786"/>
          </a:xfrm>
          <a:custGeom>
            <a:avLst/>
            <a:gdLst/>
            <a:ahLst/>
            <a:cxnLst/>
            <a:rect r="r" b="b" t="t" l="l"/>
            <a:pathLst>
              <a:path h="726786" w="4329570">
                <a:moveTo>
                  <a:pt x="0" y="0"/>
                </a:moveTo>
                <a:lnTo>
                  <a:pt x="4329571" y="0"/>
                </a:lnTo>
                <a:lnTo>
                  <a:pt x="4329571" y="726786"/>
                </a:lnTo>
                <a:lnTo>
                  <a:pt x="0" y="72678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8376812" y="6805258"/>
            <a:ext cx="4355463" cy="472686"/>
          </a:xfrm>
          <a:custGeom>
            <a:avLst/>
            <a:gdLst/>
            <a:ahLst/>
            <a:cxnLst/>
            <a:rect r="r" b="b" t="t" l="l"/>
            <a:pathLst>
              <a:path h="472686" w="4355463">
                <a:moveTo>
                  <a:pt x="0" y="0"/>
                </a:moveTo>
                <a:lnTo>
                  <a:pt x="4355462" y="0"/>
                </a:lnTo>
                <a:lnTo>
                  <a:pt x="4355462" y="472685"/>
                </a:lnTo>
                <a:lnTo>
                  <a:pt x="0" y="47268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8376812" y="8275262"/>
            <a:ext cx="5176454" cy="710983"/>
          </a:xfrm>
          <a:custGeom>
            <a:avLst/>
            <a:gdLst/>
            <a:ahLst/>
            <a:cxnLst/>
            <a:rect r="r" b="b" t="t" l="l"/>
            <a:pathLst>
              <a:path h="710983" w="5176454">
                <a:moveTo>
                  <a:pt x="0" y="0"/>
                </a:moveTo>
                <a:lnTo>
                  <a:pt x="5176454" y="0"/>
                </a:lnTo>
                <a:lnTo>
                  <a:pt x="5176454" y="710983"/>
                </a:lnTo>
                <a:lnTo>
                  <a:pt x="0" y="71098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258399" y="1708516"/>
            <a:ext cx="8584080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5250" b="true">
                <a:solidFill>
                  <a:srgbClr val="263C92"/>
                </a:solidFill>
                <a:latin typeface="Inter Bold"/>
                <a:ea typeface="Inter Bold"/>
                <a:cs typeface="Inter Bold"/>
                <a:sym typeface="Inter Bold"/>
              </a:rPr>
              <a:t>Teori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58399" y="2434299"/>
            <a:ext cx="5515564" cy="335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8"/>
              </a:lnSpc>
            </a:pPr>
            <a:r>
              <a:rPr lang="en-US" sz="2340" b="true">
                <a:solidFill>
                  <a:srgbClr val="263C92"/>
                </a:solidFill>
                <a:latin typeface="Inter Bold"/>
                <a:ea typeface="Inter Bold"/>
                <a:cs typeface="Inter Bold"/>
                <a:sym typeface="Inter Bold"/>
              </a:rPr>
              <a:t>Model Hierarki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44217" y="3320987"/>
            <a:ext cx="3475037" cy="416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6"/>
              </a:lnSpc>
            </a:pPr>
            <a:r>
              <a:rPr lang="en-US" sz="2940" b="true">
                <a:solidFill>
                  <a:srgbClr val="263C92"/>
                </a:solidFill>
                <a:latin typeface="Inter Bold"/>
                <a:ea typeface="Inter Bold"/>
                <a:cs typeface="Inter Bold"/>
                <a:sym typeface="Inter Bold"/>
              </a:rPr>
              <a:t>Level 1-Likelihood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273049" y="1329330"/>
            <a:ext cx="4102635" cy="416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6"/>
              </a:lnSpc>
            </a:pPr>
            <a:r>
              <a:rPr lang="en-US" sz="2940" b="true">
                <a:solidFill>
                  <a:srgbClr val="263C92"/>
                </a:solidFill>
                <a:latin typeface="Inter Bold"/>
                <a:ea typeface="Inter Bold"/>
                <a:cs typeface="Inter Bold"/>
                <a:sym typeface="Inter Bold"/>
              </a:rPr>
              <a:t>Operator SPDE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44217" y="5138358"/>
            <a:ext cx="4647053" cy="416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6"/>
              </a:lnSpc>
            </a:pPr>
            <a:r>
              <a:rPr lang="en-US" sz="2940" b="true">
                <a:solidFill>
                  <a:srgbClr val="263C92"/>
                </a:solidFill>
                <a:latin typeface="Inter Bold"/>
                <a:ea typeface="Inter Bold"/>
                <a:cs typeface="Inter Bold"/>
                <a:sym typeface="Inter Bold"/>
              </a:rPr>
              <a:t>Level 2-Latent Predictor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59548" y="7016116"/>
            <a:ext cx="3820857" cy="416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6"/>
              </a:lnSpc>
            </a:pPr>
            <a:r>
              <a:rPr lang="en-US" sz="2940" b="true">
                <a:solidFill>
                  <a:srgbClr val="263C92"/>
                </a:solidFill>
                <a:latin typeface="Inter Bold"/>
                <a:ea typeface="Inter Bold"/>
                <a:cs typeface="Inter Bold"/>
                <a:sym typeface="Inter Bold"/>
              </a:rPr>
              <a:t>Level 3-PC Priors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273049" y="2682649"/>
            <a:ext cx="4730055" cy="375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7"/>
              </a:lnSpc>
              <a:spcBef>
                <a:spcPct val="0"/>
              </a:spcBef>
            </a:pPr>
            <a:r>
              <a:rPr lang="en-US" sz="1881">
                <a:solidFill>
                  <a:srgbClr val="263C92"/>
                </a:solidFill>
                <a:latin typeface="Poppins"/>
                <a:ea typeface="Poppins"/>
                <a:cs typeface="Poppins"/>
                <a:sym typeface="Poppins"/>
              </a:rPr>
              <a:t>dengan α = 2, (smoothness v = 1, d = 2) 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273049" y="3115714"/>
            <a:ext cx="7115770" cy="375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7"/>
              </a:lnSpc>
              <a:spcBef>
                <a:spcPct val="0"/>
              </a:spcBef>
            </a:pPr>
            <a:r>
              <a:rPr lang="en-US" sz="1881">
                <a:solidFill>
                  <a:srgbClr val="263C92"/>
                </a:solidFill>
                <a:latin typeface="Poppins"/>
                <a:ea typeface="Poppins"/>
                <a:cs typeface="Poppins"/>
                <a:sym typeface="Poppins"/>
              </a:rPr>
              <a:t>yang akan menghasilkan kovarians Matérn kontinu dengan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273049" y="4705073"/>
            <a:ext cx="3206948" cy="375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7"/>
              </a:lnSpc>
              <a:spcBef>
                <a:spcPct val="0"/>
              </a:spcBef>
            </a:pPr>
            <a:r>
              <a:rPr lang="en-US" sz="1881">
                <a:solidFill>
                  <a:srgbClr val="263C92"/>
                </a:solidFill>
                <a:latin typeface="Poppins"/>
                <a:ea typeface="Poppins"/>
                <a:cs typeface="Poppins"/>
                <a:sym typeface="Poppins"/>
              </a:rPr>
              <a:t>dengan marginal variance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335835" y="5544420"/>
            <a:ext cx="7176585" cy="416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6"/>
              </a:lnSpc>
            </a:pPr>
            <a:r>
              <a:rPr lang="en-US" sz="2940" b="true">
                <a:solidFill>
                  <a:srgbClr val="263C92"/>
                </a:solidFill>
                <a:latin typeface="Inter Bold"/>
                <a:ea typeface="Inter Bold"/>
                <a:cs typeface="Inter Bold"/>
                <a:sym typeface="Inter Bold"/>
              </a:rPr>
              <a:t>Diskretisasi GMRF via Triangulasi FEM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376812" y="7668468"/>
            <a:ext cx="2783398" cy="416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6"/>
              </a:lnSpc>
            </a:pPr>
            <a:r>
              <a:rPr lang="en-US" sz="2940" b="true">
                <a:solidFill>
                  <a:srgbClr val="263C92"/>
                </a:solidFill>
                <a:latin typeface="Inter Bold"/>
                <a:ea typeface="Inter Bold"/>
                <a:cs typeface="Inter Bold"/>
                <a:sym typeface="Inter Bold"/>
              </a:rPr>
              <a:t>Inferensi INLA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924741" y="7668468"/>
            <a:ext cx="3292451" cy="416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6"/>
              </a:lnSpc>
            </a:pPr>
            <a:r>
              <a:rPr lang="en-US" sz="2940" b="true">
                <a:solidFill>
                  <a:srgbClr val="263C92"/>
                </a:solidFill>
                <a:latin typeface="Inter Bold"/>
                <a:ea typeface="Inter Bold"/>
                <a:cs typeface="Inter Bold"/>
                <a:sym typeface="Inter Bold"/>
              </a:rPr>
              <a:t>Mesh DKI Jakarta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924741" y="8075848"/>
            <a:ext cx="4135546" cy="1137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6116" indent="-203058" lvl="1">
              <a:lnSpc>
                <a:spcPts val="3047"/>
              </a:lnSpc>
              <a:buFont typeface="Arial"/>
              <a:buChar char="•"/>
            </a:pPr>
            <a:r>
              <a:rPr lang="en-US" sz="1881">
                <a:solidFill>
                  <a:srgbClr val="263C92"/>
                </a:solidFill>
                <a:latin typeface="Poppins"/>
                <a:ea typeface="Poppins"/>
                <a:cs typeface="Poppins"/>
                <a:sym typeface="Poppins"/>
              </a:rPr>
              <a:t>Inner mesh: max edge = 0,15°</a:t>
            </a:r>
          </a:p>
          <a:p>
            <a:pPr algn="l" marL="406116" indent="-203058" lvl="1">
              <a:lnSpc>
                <a:spcPts val="3047"/>
              </a:lnSpc>
              <a:buFont typeface="Arial"/>
              <a:buChar char="•"/>
            </a:pPr>
            <a:r>
              <a:rPr lang="en-US" sz="1881">
                <a:solidFill>
                  <a:srgbClr val="263C92"/>
                </a:solidFill>
                <a:latin typeface="Poppins"/>
                <a:ea typeface="Poppins"/>
                <a:cs typeface="Poppins"/>
                <a:sym typeface="Poppins"/>
              </a:rPr>
              <a:t>Outer buffer: 0,5°</a:t>
            </a:r>
          </a:p>
          <a:p>
            <a:pPr algn="l" marL="406116" indent="-203058" lvl="1">
              <a:lnSpc>
                <a:spcPts val="3047"/>
              </a:lnSpc>
              <a:buFont typeface="Arial"/>
              <a:buChar char="•"/>
            </a:pPr>
            <a:r>
              <a:rPr lang="en-US" sz="1881">
                <a:solidFill>
                  <a:srgbClr val="263C92"/>
                </a:solidFill>
                <a:latin typeface="Poppins"/>
                <a:ea typeface="Poppins"/>
                <a:cs typeface="Poppins"/>
                <a:sym typeface="Poppins"/>
              </a:rPr>
              <a:t>Cutoff: 0,03°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8163370" y="1113368"/>
            <a:ext cx="7486982" cy="4211976"/>
            <a:chOff x="0" y="0"/>
            <a:chExt cx="1904109" cy="107120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904109" cy="1071201"/>
            </a:xfrm>
            <a:custGeom>
              <a:avLst/>
              <a:gdLst/>
              <a:ahLst/>
              <a:cxnLst/>
              <a:rect r="r" b="b" t="t" l="l"/>
              <a:pathLst>
                <a:path h="1071201" w="1904109">
                  <a:moveTo>
                    <a:pt x="17579" y="0"/>
                  </a:moveTo>
                  <a:lnTo>
                    <a:pt x="1886530" y="0"/>
                  </a:lnTo>
                  <a:cubicBezTo>
                    <a:pt x="1891192" y="0"/>
                    <a:pt x="1895663" y="1852"/>
                    <a:pt x="1898960" y="5149"/>
                  </a:cubicBezTo>
                  <a:cubicBezTo>
                    <a:pt x="1902257" y="8445"/>
                    <a:pt x="1904109" y="12917"/>
                    <a:pt x="1904109" y="17579"/>
                  </a:cubicBezTo>
                  <a:lnTo>
                    <a:pt x="1904109" y="1053622"/>
                  </a:lnTo>
                  <a:cubicBezTo>
                    <a:pt x="1904109" y="1058284"/>
                    <a:pt x="1902257" y="1062755"/>
                    <a:pt x="1898960" y="1066052"/>
                  </a:cubicBezTo>
                  <a:cubicBezTo>
                    <a:pt x="1895663" y="1069349"/>
                    <a:pt x="1891192" y="1071201"/>
                    <a:pt x="1886530" y="1071201"/>
                  </a:cubicBezTo>
                  <a:lnTo>
                    <a:pt x="17579" y="1071201"/>
                  </a:lnTo>
                  <a:cubicBezTo>
                    <a:pt x="12917" y="1071201"/>
                    <a:pt x="8445" y="1069349"/>
                    <a:pt x="5149" y="1066052"/>
                  </a:cubicBezTo>
                  <a:cubicBezTo>
                    <a:pt x="1852" y="1062755"/>
                    <a:pt x="0" y="1058284"/>
                    <a:pt x="0" y="1053622"/>
                  </a:cubicBezTo>
                  <a:lnTo>
                    <a:pt x="0" y="17579"/>
                  </a:lnTo>
                  <a:cubicBezTo>
                    <a:pt x="0" y="12917"/>
                    <a:pt x="1852" y="8445"/>
                    <a:pt x="5149" y="5149"/>
                  </a:cubicBezTo>
                  <a:cubicBezTo>
                    <a:pt x="8445" y="1852"/>
                    <a:pt x="12917" y="0"/>
                    <a:pt x="17579" y="0"/>
                  </a:cubicBez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1904109" cy="1128351"/>
            </a:xfrm>
            <a:prstGeom prst="rect">
              <a:avLst/>
            </a:prstGeom>
          </p:spPr>
          <p:txBody>
            <a:bodyPr anchor="ctr" rtlCol="false" tIns="52608" lIns="52608" bIns="52608" rIns="52608"/>
            <a:lstStyle/>
            <a:p>
              <a:pPr algn="l">
                <a:lnSpc>
                  <a:spcPts val="2940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DAHM5g6ktA0</dc:identifier>
  <dcterms:modified xsi:type="dcterms:W3CDTF">2011-08-01T06:04:30Z</dcterms:modified>
  <cp:revision>1</cp:revision>
  <dc:title>PPT Bayes Kelompok 2</dc:title>
</cp:coreProperties>
</file>